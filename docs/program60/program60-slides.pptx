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SSION（0〜5分）" id="{022c460c-cafb-0d4d-2fda-5fad2f2d09ab}">
          <p14:sldIdLst>
            <p14:sldId id="256"/>
            <p14:sldId id="257"/>
            <p14:sldId id="258"/>
            <p14:sldId id="259"/>
          </p14:sldIdLst>
        </p14:section>
        <p14:section name="HEARING（5〜15分）" id="{0a25b124-8fad-e983-5b76-ee74c5532619}">
          <p14:sldIdLst>
            <p14:sldId id="260"/>
            <p14:sldId id="261"/>
            <p14:sldId id="262"/>
            <p14:sldId id="263"/>
            <p14:sldId id="264"/>
            <p14:sldId id="265"/>
            <p14:sldId id="266"/>
            <p14:sldId id="267"/>
          </p14:sldIdLst>
        </p14:section>
        <p14:section name="ANALYSIS（15〜30分）" id="{b3ffd86a-c1dc-f359-34fd-d53ff5a82f34}">
          <p14:sldIdLst>
            <p14:sldId id="268"/>
            <p14:sldId id="269"/>
            <p14:sldId id="270"/>
            <p14:sldId id="271"/>
            <p14:sldId id="272"/>
            <p14:sldId id="273"/>
            <p14:sldId id="274"/>
            <p14:sldId id="275"/>
            <p14:sldId id="276"/>
            <p14:sldId id="277"/>
            <p14:sldId id="278"/>
          </p14:sldIdLst>
        </p14:section>
        <p14:section name="DISCOVERY（30〜40分）" id="{4ead7200-5bc8-4113-99b7-425ce7e1a0da}">
          <p14:sldIdLst>
            <p14:sldId id="279"/>
            <p14:sldId id="280"/>
            <p14:sldId id="281"/>
            <p14:sldId id="282"/>
            <p14:sldId id="283"/>
            <p14:sldId id="284"/>
            <p14:sldId id="285"/>
          </p14:sldIdLst>
        </p14:section>
        <p14:section name="PROPOSAL（40〜53分）" id="{07daedcd-60c7-5402-8a49-5f15d09c1255}">
          <p14:sldIdLst>
            <p14:sldId id="286"/>
            <p14:sldId id="287"/>
            <p14:sldId id="288"/>
            <p14:sldId id="289"/>
            <p14:sldId id="290"/>
            <p14:sldId id="291"/>
            <p14:sldId id="292"/>
            <p14:sldId id="293"/>
          </p14:sldIdLst>
        </p14:section>
        <p14:section name="REFLECTION（53〜60分）" id="{2f6ea8e2-3881-adbc-b901-a95415ca49c2}">
          <p14:sldIdLst>
            <p14:sldId id="294"/>
            <p14:sldId id="295"/>
            <p14:sldId id="296"/>
            <p14:sldId id="297"/>
            <p14:sldId id="298"/>
            <p14:sldId id="299"/>
            <p14:sldId id="300"/>
          </p14:sldIdLst>
        </p14:section>
        <p14:section name="補足資料" id="{6ce5a414-5412-76ce-90a4-da1ea61a1a45}">
          <p14:sldIdLst>
            <p14:sldId id="301"/>
            <p14:sldId id="302"/>
            <p14:sldId id="303"/>
            <p14:sldId id="304"/>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通常の週</c:v>
                </c:pt>
              </c:strCache>
            </c:strRef>
          </c:tx>
          <c:spPr>
            <a:solidFill>
              <a:srgbClr val="5A6470"/>
            </a:solidFill>
            <a:effectLst/>
          </c:spPr>
          <c:invertIfNegative val="0"/>
          <c:dLbls>
            <c:numFmt formatCode="+0.0&quot;%&quot;;;"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第1週</c:v>
                  </c:pt>
                  <c:pt idx="1">
                    <c:v>第2週</c:v>
                  </c:pt>
                  <c:pt idx="2">
                    <c:v>第3週</c:v>
                  </c:pt>
                  <c:pt idx="3">
                    <c:v>第4週</c:v>
                  </c:pt>
                </c:lvl>
              </c:multiLvlStrCache>
            </c:multiLvlStrRef>
          </c:cat>
          <c:val>
            <c:numRef>
              <c:f>Sheet1!$B$2:$B$5</c:f>
              <c:numCache>
                <c:formatCode>General</c:formatCode>
                <c:ptCount val="4"/>
                <c:pt idx="0">
                  <c:v>0.6</c:v>
                </c:pt>
                <c:pt idx="1">
                  <c:v>0</c:v>
                </c:pt>
                <c:pt idx="2">
                  <c:v>0.5</c:v>
                </c:pt>
                <c:pt idx="3">
                  <c:v>0.8</c:v>
                </c:pt>
              </c:numCache>
            </c:numRef>
          </c:val>
        </c:ser>
        <c:ser>
          <c:idx val="1"/>
          <c:order val="1"/>
          <c:tx>
            <c:strRef>
              <c:f>Sheet1!$C$1</c:f>
              <c:strCache>
                <c:ptCount val="1"/>
                <c:pt idx="0">
                  <c:v>多い週</c:v>
                </c:pt>
              </c:strCache>
            </c:strRef>
          </c:tx>
          <c:spPr>
            <a:solidFill>
              <a:srgbClr val="E60012"/>
            </a:solidFill>
            <a:effectLst/>
          </c:spPr>
          <c:invertIfNegative val="0"/>
          <c:dLbls>
            <c:numFmt formatCode="+0.0&quot;%&quot;;;"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第1週</c:v>
                  </c:pt>
                  <c:pt idx="1">
                    <c:v>第2週</c:v>
                  </c:pt>
                  <c:pt idx="2">
                    <c:v>第3週</c:v>
                  </c:pt>
                  <c:pt idx="3">
                    <c:v>第4週</c:v>
                  </c:pt>
                </c:lvl>
              </c:multiLvlStrCache>
            </c:multiLvlStrRef>
          </c:cat>
          <c:val>
            <c:numRef>
              <c:f>Sheet1!$C$2:$C$5</c:f>
              <c:numCache>
                <c:formatCode>General</c:formatCode>
                <c:ptCount val="4"/>
                <c:pt idx="0">
                  <c:v>0</c:v>
                </c:pt>
                <c:pt idx="1">
                  <c:v>3</c:v>
                </c:pt>
                <c:pt idx="2">
                  <c:v>0</c:v>
                </c:pt>
                <c:pt idx="3">
                  <c:v>0</c:v>
                </c:pt>
              </c:numCache>
            </c:numRef>
          </c:val>
        </c:ser>
        <c:dLbls>
          <c:numFmt formatCode="+0.0&quot;%&quot;;;"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126"/>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6E8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A64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S01｜MISSION｜0:00〜0:30（0.5分）｜講師
元のスライド：既存1
■ 話すこと
これから60分、皆さんにはOPTEX-FAの営業担当になってもらいます。センサの知識はいりません。必要なのは、お客様の話を聞いて、考えることだけです。
■ 画像・動画
IMAGE_PLACEHOLDER_01（PETボトル搬送ライン）：仮画像あり
■ 次へのつなぎ
始める前に、今の気持ちを教えてください。
■ 時間超過時
省略不可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S02｜MISSION｜0:30〜1:30（1分）｜個人
元のスライド：新規
■ 話すこと
正解はありません。今の正直な気持ちを答えてください。最後にもう一度聞いて、変化を見ます。
■ 問いかけ
営業の仕事に、どれくらい興味がありますか？／営業とはどんな仕事だと思いますか？
■ 想定される回答
「商品を売る仕事」「ノルマがきつそう」「話がうまい人の仕事」
■ フィードバック
答えにはコメントしない。「最後にもう一度聞きます」とだけ伝える。
■ 画像・動画
IMAGE_PLACEHOLDER_09（事前チェックのQRコード）：未提供
■ 次へのつなぎ
では、今日のミッションを説明します。
■ 時間超過時
時間がなければ紙で回収。省略すると前後比較ができなくなるため、原則実施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S03｜MISSION｜1:30〜2:30（1分）｜講師
元のスライド：既存1＋新規
■ 話すこと
今日は6つの段階で進みます。最初は選ぶだけ。だんだん自分で考える場面が増えて、最後は自分の言葉でお客様に提案してもらいます。
■ 次へのつなぎ
さっそく、お客様から相談が届きました。
■ 時間超過時
30秒に短縮可（ルールだけ読む）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S04｜MISSION｜2:30〜5:00（2.5分）｜動画
元のスライド：既存2＋導入動画
■ 話すこと
（映像のあと）飲料工場の設備課、佐藤さんからの相談です。ボトルの本数を数える仕組みが、ときどき実際より多く数えてしまうそうです。
■ 問いかけ
あなたなら、まず何が気になりますか？（近くの人と10秒）
■ 想定される回答
「どれくらい多いの？」「機械が壊れている？」「いつから？」
■ フィードバック
「いい疑問です。その疑問を、お客様への質問に変えていきましょう」と次につなぐ。
■ 答えが出ないときのヒント
「自分が工場の人だったら、何に困るか」を想像してみましょう。
■ 画像・動画
VIDEO_PLACEHOLDER_01（映像①　課題発生）：仮画像あり
■ 次へのつなぎ
ここからHEARING。お客様に質問していきます。
■ 時間超過時
映像を60秒以内に収める。既存の導入動画（3分58秒）をそのまま流すと時間を超える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S05｜HEARING｜5:00〜5:15（0.25分）｜講師
元のスライド：新規
■ 話すこと
最初は「聞く」です。営業の仕事は、話すことより聞くことから始まります。
■ 次へのつなぎ
最初の質問を選んでください。
■ 時間超過時
読み上げずに次へ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S06｜HEARING｜5:15〜7:15（2分）｜個人→投票
元のスライド：既存3・4
■ 話すこと
30秒考えて、1つ選んでください。選んだら、理由をひとことでメモしてください。
■ 問いかけ
なぜ、それを選びましたか？（2〜3人に理由を聞く）
■ 想定される回答
A「どんな機械か分からないと始まらない」／B「どれくらい困っているか知りたい」／C「新しくすれば直りそう」
■ フィードバック
どれを選んでも理由を認める。Cの人には「早く解決したい気持ちは営業として大事」と認めてから、次の解説へ。
■ 答えが出ないときのヒント
森さん「専門知識がなくても大丈夫。お客様の困りごとを、もっと具体的にするには？」
■ 次へのつなぎ
それぞれ聞いてみると、お客様はこう答えました。
■ 時間超過時
理由の聞き取りを1人にすれば1分に短縮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S07｜HEARING｜7:15〜8:45（1.5分）｜講師
元のスライド：既存5・6・7
■ 話すこと
Bを選ぶと、困りごとの大きさと「流れが乱れたとき」という条件が分かりました。Aも必要な情報ですが、まだ困りごとの大きさは分かりません。Cは、お客様が判断できない状態で答えを出してしまっています。
■ 問いかけ
「流れが乱れたとき」という言葉、気になりませんか？
■ 想定される回答
「揺れているときに間違える？」
■ フィードバック
その気づきが原因を探す手がかりになる、と伝える。
■ 次へのつなぎ
品質管理の高橋さんが、記録を見せてくれました。
■ 時間超過時
省略不可（判断理由の解説が学習の中心）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S08｜HEARING｜8:45〜10:15（1.5分）｜講師
元のスライド：既存8
■ 話すこと
1万本通ると、通常は50〜80本多く数えています。多い週だけ、300本ほど多くなりました。毎週ではありません。
■ 問いかけ
毎週同じではない、ということから何が言えそうですか？
■ 想定される回答
「いつもではなく、何かが起きたときに増える」
■ フィードバック
「常に壊れているのではなく、条件で増える」という読み取りを評価する。
■ 答えが出ないときのヒント
「壊れているなら、毎週同じように増えるはず。では…？」
■ 次へのつなぎ
ここで、センサがどうやって数えているかを見ておきましょう。
■ 時間超過時
問いかけを省いて30秒に短縮可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S09｜HEARING｜10:15〜11:15（1分）｜講師
元のスライド：既存14（圧縮）
■ 話すこと
自転車の後ろについている反射板は、車のライトを来た方向へ送り返しますよね。回帰反射型も同じで、センサの光を反射板が送り返します。ボトルが通ると戻る光が変わるので、「1本来た」と分かります。
■ 画像・動画
IMAGE_PLACEHOLDER_02（既設の回帰反射型センサ）：仮画像あり
■ 次へのつなぎ
次の質問を選んでください。
■ 時間超過時
時間がないときは「自転車の反射板」の一言だけにして30秒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S10｜HEARING｜11:15〜12:45（1.5分）｜個人→投票
元のスライド：既存9・10
■ 話すこと
「流れが乱れたときに起こる気がする」という話を思い出して、選んでください。
■ 問いかけ
選んだ理由は？
■ 想定される回答
A「実際に見ないと分からない」／B「予算がないと提案できない」／C「古いから壊れているかも」
■ フィードバック
Bの人には「予算は大事。ただ、今それを聞くとお客様はどう感じるか」を考えてもらう。
■ 答えが出ないときのヒント
森さん「『流れが乱れたとき』に起きるなら、どこを見れば手がかりがありそうですか？」
■ 次へのつなぎ
聞いてみると…
■ 時間超過時
理由の聞き取りを省けば1分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S11｜HEARING｜12:45〜13:45（1分）｜講師
元のスライド：既存11・12・13
■ 話すこと
現場を見せてもらうと、センサがボトルの下のほうを横から見ていることが分かりました。Cの「故障の記録はない」も大事な事実です。壊れているのとは違う理由がありそうです。
■ 次へのつなぎ
ここまでで分かった事実を整理しましょう。
■ 時間超過時
A以外の説明を一言にして30秒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S12｜HEARING｜13:45〜15:00（1.25分）｜講師
元のスライド：新規（既存5〜13のまとめ）
■ 話すこと
事実が5つそろいました。でも、どこで、なぜ数が増えているのかは、まだ分かりません。ここからが「考える」時間です。
■ 画像・動画
IMAGE_PLACEHOLDER_01（PETボトル搬送ライン）：仮画像あり
■ 次へのつなぎ
ANALYSISに進みます。
■ 時間超過時
読み上げずに見せるだけなら30秒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S13｜ANALYSIS｜15:00〜15:15（0.25分）｜講師
元のスライド：新規
■ 話すこと
ここからは選択肢を減らします。自分で原因を考えてみてください。
■ 次へのつなぎ
まず、現場をよく見てみましょう。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S14｜ANALYSIS｜15:15〜16:30（1.25分）｜動画
元のスライド：既存17・18
■ 話すこと
（映像のあと）佐藤さんが、ボトルが揺れたり、間隔が詰まったりする場所を教えてくれました。
■ 問いかけ
映像の中で、気になったことは何ですか？
■ 想定される回答
「ボトルが揺れていた」「くっついていた」「センサが低い位置にある」
■ フィードバック
観察した事実をそのまま褒める。「なぜ数が増えるか」の答えはまだ言わない。
■ 答えが出ないときのヒント
ボトル・センサ・ボトルの間、どこが動いていましたか？
■ 画像・動画
VIDEO_PLACEHOLDER_02（映像②　現場の観察（揺れ・間隔の詰まり））：仮画像あり
■ 次へのつなぎ
その前に、本数を数えるしくみを30秒で。
■ 時間超過時
問いを省いて映像だけなら45秒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S15｜ANALYSIS｜16:30〜17:45（1.25分）｜講師
元のスライド：既存19（圧縮）
■ 話すこと
センサはボトルが来るたびに「来た！」と合図を出します。PLCはその合図の回数を数える装置です。だから、1本のボトルで合図が2回出ると、2本と数えてしまいます。これが「誤カウント」です。
■ 次へのつなぎ
では、1本なのに2本と数えてしまうのは、どんなときでしょう？
■ 時間超過時
省略不可（以降の理解の土台）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S16｜ANALYSIS｜17:45〜20:15（2.5分）｜個人→ペア
元のスライド：既存15・16（3択→自由記述）
■ 話すこと
選択肢はありません。思いついたことを、いくつでも書いてください。間違いはありません。
■ 問いかけ
1本のボトルを、2本と数えてしまうのはどんなとき？
■ 想定される回答
「ボトルが揺れて2回横切った」「2本がくっついた」「透明だから光がうまく当たらない」「センサが汚れている」「数える機械の設定」
■ フィードバック
出た意見を「ボトル」「光とセンサ」「数える装置」の3つに分けて板書する。どれも「まだ仮説」と強調する。
■ 答えが出ないときのヒント
中田さん「数が増える場所は1つとは限りません。ボトル・センサ・数える装置、どこで起きていそう？」
■ 次へのつなぎ
皆さんの仮説を整理すると、こうなります。
■ 時間超過時
共有を2人だけにすれば2分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S17｜ANALYSIS｜20:15〜21:30（1.25分）｜講師
元のスライド：既存17〜20・26
■ 話すこと
皆さんの意見を整理すると、5つの候補になります。大事なのは、どれもまだ「候補」で、原因は決まっていないことです。たとえば「ボトルの接近」は、くっつくと逆に少なく数えることもあるので、本当に増える原因かは確かめないと分かりません。
■ フィードバック
学生の意見と対応するものを指さしながら説明する。
■ 次へのつなぎ
それぞれ、分かっていることと、まだ分からないことを分けてみます。
■ 時間超過時
読み上げを候補名だけにすれば45秒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S18｜ANALYSIS｜21:30〜23:00（1.5分）｜講師
元のスライド：既存17〜20・24・26
■ 話すこと
左が確認できた事実、真ん中が仮説、右が次に確かめることです。「お客様が気がしている」は印象なので、まだ事実ではありません。こうして分けると、何を確かめればいいかが見えてきます。
■ 次へのつなぎ
透明ボトルの仮説を、イメージで見てみましょう。
■ 時間超過時
1行目（揺れ）だけ説明し、残りは見せるだけなら45秒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S19｜ANALYSIS｜23:00〜24:15（1.25分）｜講師
元のスライド：既存20
■ 話すこと
これは研修用のイメージで、実際に測ったものではありません。ボトル1本なのに、合図が途中で一度途切れると、PLCは2本と数えます。透明なボトルは光の減り方が小さいので、こうしたことが起きやすいと言われています。ただし、このお客様のラインで本当に起きているかは、まだ分かりません。
■ 画像・動画
IMAGE_PLACEHOLDER_03（PETボトルの誤検出）：仮画像あり
■ 次へのつなぎ
では、どうやって確かめますか？
■ 時間超過時
省略可（S17の説明で代える）。ただし映像化した場合は残す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S20｜ANALYSIS｜24:15〜25:30（1.25分）｜個人→投票
元のスライド：既存21・22
■ 話すこと
原因の候補は5つ。どこで数が増えているかを知るには、どうすればいいでしょう。
■ 問いかけ
選んだ理由は？
■ 想定される回答
A「早く直したい」／B「どこで増えるか分かる」／C「遅くすれば安定しそう」
■ フィードバック
Cの人には「速度を下げると、お客様にとって何が困る？」と問い返す。
■ 答えが出ないときのヒント
中田さん「『どこで数が増えているか』が分かる方法は、どれでしょう？」
■ 次へのつなぎ
答えを見てみましょう。
■ 時間超過時
理由の聞き取りを省けば45秒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S21｜ANALYSIS｜25:30〜27:15（1.75分）｜講師
元のスライド：既存23・24・25
■ 話すこと
同じ時間に3つを記録します。合図の回数が本数より多ければ、センサ側、つまりボトルや光や設置で増えています。合図の回数は合っているのにカウントが多ければ、PLC側の数え方です。こうして場所を分けると、候補を絞り込めます。
■ 問いかけ
AとCを選ぶと、お客様はどう感じたでしょう？
■ 想定される回答
「直らなかったら困る」「生産が減るのは困る」
■ フィードバック
お客様の反応は、あとで提案を考えるときの大事な条件になる、と伝えておく（S30で使う）。
■ 次へのつなぎ
ここで、今日いちばん大事な問いです。
■ 時間超過時
A・Cの反応を読み上げなければ1分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S22｜ANALYSIS｜27:15〜29:15（2分）｜グループ
元のスライド：新規
■ 話すこと
ここまでの体験を使って考えてください。営業がお客様に信頼されるために、いちばん大事な考え方です。
■ 問いかけ
原因を決めつけずに調べるには、何を確認すればよいでしょうか？
■ 想定される回答
「いろいろな場所を同時に記録する」「条件を変えて試す」「多い日と少ない日を比べる」「お客様にもっと聞く」
■ フィードバック
出た意見を次のスライドの3つに対応づけて認める。「お客様にもっと聞く」はHEARINGの大切さとして評価する。
■ 答えが出ないときのヒント
「揺れのせいだ」と言い切るには、どんな比べ方をすればいい？
■ 次へのつなぎ
皆さんの答えをまとめると…
■ 時間超過時
発表を省き、講師がまとめるなら1分30秒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S23｜ANALYSIS｜29:15〜30:00（0.75分）｜講師
元のスライド：新規（既存26を発展）
■ 話すこと
事実と仮説を分けて、確かめてから判断する。これがコンサルティング営業の考え方の核です。決めつけないから、お客様は納得して判断できます。
■ 次へのつなぎ
ここで少し、お客様の気持ちに目を向けてみましょう。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S24｜DISCOVERY｜30:00〜30:15（0.25分）｜講師
元のスライド：新規
■ 話すこと
ここが今日の中心です。お客様が本当に困っていることを、皆さん自身で見つけてください。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S25｜DISCOVERY｜30:15〜31:45（1.5分）｜個人
元のスライド：既存27・28・29（3択→自由）
■ 話すこと
「何とか対応できている」。この言葉、そのまま受け取っていいでしょうか。
■ 問いかけ
この言葉の裏に、何がありそうですか？次に、何を聞きますか？
■ 想定される回答
「本当は大変なのでは？」「誰かが手で数え直している？」「どれくらい手間がかかっているか聞く」
■ フィードバック
「何とか」という言葉に引っかかった人を評価する。価格や他社事例を聞くという答えには、聞いた場合の反応を次のスライドで見せる。
■ 答えが出ないときのヒント
森さん「『何とか対応できている』の裏に、困りごとが隠れていそうです」
■ 画像・動画
IMAGE_PLACEHOLDER_06（お客様（佐藤さん・高橋さん）の人物）：未提供
■ 次へのつなぎ
聞いてみると…
■ 時間超過時
考える時間を15秒にすれば1分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S26｜DISCOVERY｜31:45〜33:00（1.25分）｜講師
元のスライド：既存30・31・32
■ 話すこと
手間を聞くと、確認のし直しや、ライン停止まで起きていることが分かりました。価格や他社事例を聞くと、お客様は「それより、うちの原因を知りたい」と答えています。
■ 次へのつなぎ
では、今日の中心の問いです。
■ 時間超過時
右側（価格・他社事例）を省けば45秒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S27｜DISCOVERY｜33:00〜36:00（3分）｜個人→グループ
元のスライド：既存33・34（3択→自由記述）
■ 話すこと
誤カウントがなくなったら、お客様は何がうれしいのか。数が合うこと、のさらに先を考えてみてください。
■ 問いかけ
誤カウントがなくなると、お客様は何がうれしいのでしょうか？
■ 想定される回答
「確認作業がなくなる」「ラインを止めなくていい」「品質管理の人が楽になる」「安心して生産できる」「上司に報告しなくていい」
■ フィードバック
「数が合う」で止まったグループには「数が合うと、誰の何が楽になる？」と問い返す。答えを先に言わない。
■ 答えが出ないときのヒント
「確認し直す」「ラインを止める」。それがなくなると、工場はどうなる？
■ 次へのつなぎ
皆さんの答えを、3つの段に整理してみます。
■ 時間超過時
省略不可（プログラムの中心）。発表を1グループにすれば2分30秒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S28｜DISCOVERY｜36:00〜37:15（1.25分）｜講師
元のスライド：既存36〜38
■ 話すこと
1段目は、ボトルを実際より多く数えてしまうこと。2段目は、そのせいで確認し直しやライン停止が起き、品質管理の負担が増えていること。では3段目、お客様が本当に実現したいことは何でしょう？皆さんの答えの中にありました。
■ 問いかけ
3段目に入る言葉は何でしょう？
■ 想定される回答
「安心して生産したい」「止まらないラインにしたい」
■ フィードバック
学生の言葉を使って3段目を言ってもらう。言えたら次のスライドで答え合わせ。
■ 答えが出ないときのヒント
佐藤さんは、価格より何が大事だと言っていましたか？
■ 次へのつなぎ
佐藤さんに聞いてみましょう。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S29｜DISCOVERY｜37:15〜38:45（1.5分）｜講師
元のスライド：既存36・37
■ 話すこと
お客様が本当に実現したいのは、「安定した生産を続けること」でした。目の前の問題と、お客様が本当に実現したいことは違う。ここに気づけるかどうかが、営業の腕の見せどころです。
■ 問いかけ
自分たちの答えと比べて、どうでしたか？
■ 想定される回答
「近かった」「数が合えばいいと思っていた」
■ フィードバック
近い答えを出したグループを名指しで褒める。
■ 次へのつなぎ
これを、提案の判断基準として整理します。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S30｜DISCOVERY｜38:45〜40:00（1.25分）｜講師
元のスライド：既存38・25・44
■ 話すこと
この3つが、これから提案するときの判断基準です。3つ目の「生産を止めずに」は、速度を下げる案や、交換するだけの案を出したときのお客様の反応から分かったことです。断られた選択肢にも、大事な情報が入っています。
■ 次へのつなぎ
いよいよ提案です。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S31｜PROPOSAL｜40:00〜40:15（0.25分）｜講師
元のスライド：新規
■ 話すこと
最後は、皆さん自身の言葉で、お客様に提案してもらいます。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S32｜PROPOSAL｜40:15〜40:45（0.5分）｜講師
元のスライド：既存39
■ 話すこと
1から3は、ここまでで皆さんがやってきたことです。残りは、候補の技術を紹介し、確かめ方を決めて、お客様と合意することです。
■ 次へのつなぎ
提案の候補は、OPTEX-FAのこのセンサです。
■ 時間超過時
見せるだけなら15秒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S33｜PROPOSAL｜40:45〜41:45（1分）｜講師
元のスライド：既存39・45
■ 話すこと
OPTEX-FAには、透明な物の検出に向けたKR-Qシリーズがあります。方式は今のセンサと同じ回帰反射型です。ただし、「これに替えれば必ず直る」とは言いません。お客様のボトルとラインで確かめることが大切です。
■ 画像・動画
IMAGE_PLACEHOLDER_04（OPTEX-FA製品・検出原理）：未提供
VIDEO_PLACEHOLDER_03（映像③　検出原理（既設とKR-Qシリーズ））：未提供
■ 次へのつなぎ
どうやって確かめるかも決めておきましょう。
■ 時間超過時
仕様の説明はしない（公式資料の照合前のため）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S34｜PROPOSAL｜41:45〜42:30（0.75分）｜講師
元のスライド：既存46〜52・65〜68
■ 話すこと
既設のセンサとKR-Qシリーズを、同じ条件で比べます。大事なのは、合格の基準を試す前にお客様と決めておくことです。後から基準を変えると、お客様は結果を信じられません。
■ 問いかけ
デモで確認すべきことは、センサの見た目でしょうか、それとも？
■ 想定される回答
「本数とカウントが合うか」
■ フィードバック
「お客様が困っていたのは何だったか」に戻って考えた人を評価する。
■ 答えが出ないときのヒント
中田さん「お客様が困っていたのは、何でしたか？」
■ 画像・動画
IMAGE_PLACEHOLDER_07（比較検証の設置図）：仮画像あり
■ 次へのつなぎ
材料はそろいました。皆さんの提案をつくりましょう。
■ 時間超過時
問いかけを省けば30秒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S35｜PROPOSAL｜42:30〜47:30（5分）｜個人→グループ
元のスライド：既存40・41（3択→模擬提案）
■ 話すこと
提案の型を使って構いません。製品の説明ではなく、お客様が「それならやってみたい」と思える提案を目指してください。発表は1グループ90秒です。
■ 問いかけ
3つの問いに答えて、提案をまとめてください。
■ 想定される回答
「困っているのは確認とライン停止の負担。KR-Qシリーズを提案。透明なボトル向けだから。まず実際のボトルで比べたい」
■ フィードバック
机間巡視で「次に何を確認するか」が抜けているグループに声をかける。
■ 答えが出ないときのヒント
S30の3つの要求と、S34の検証計画を見返してみましょう。
■ 次へのつなぎ
では、お客様に提案してみましょう。
■ 時間超過時
指示書の推奨は「考える3分＋まとめる4分」。時間に余裕があれば7分に延ばす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S36｜PROPOSAL｜47:30〜51:30（4分）｜グループ発表
元のスライド：新規
■ 話すこと
お客様役は、佐藤さん・高橋さん役の社員です。お客様役は、この3つのポイントで聞いています。
■ 問いかけ
（お客様役）発表を聞いて、お客様として率直に反応する。
■ 想定される回答
「すぐ交換しましょう」型の提案も出る
■ フィードバック
3つのポイントで1つずつ良い点を伝え、足りない点は「お客様としては、ここが知りたい」と質問の形で返す。正解かどうかでは評価しない。「交換しましょう」型には「交換して直らなかったら…」と、お客様の不安を返す。
■ 答えが出ないときのヒント
詰まったら、提案の型の1行目だけ読んでもらう。
■ 次へのつなぎ
皆さんの提案を聞いた佐藤さんの反応です。
■ 時間超過時
標準2グループ（3分＋反応1分）。3グループなら+2分、ほかの省略候補で調整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S37｜PROPOSAL｜51:30〜52:15（0.75分）｜動画
元のスライド：既存43・56（台詞を追加）
■ 話すこと
皆さんの提案に共通していた「まず確かめる」に、佐藤さんはこう答えてくれました。お客様が前向きになったのは、製品の性能を聞いたからではなく、自分たちの困りごとを理解してもらえたからです。
■ フィードバック
「確かめる」が入っていなかったグループがあれば、「この一言があると、お客様はこう変わる」と、そのグループの提案に足して見せる。
■ 画像・動画
VIDEO_PLACEHOLDER_04（映像④　顧客との対話（反応））：未提供
IMAGE_PLACEHOLDER_05（顧客と営業担当者の対話）：未提供
■ 次へのつなぎ
そして、お客様から次の一歩を任されました。
■ 時間超過時
省略不可（達成感の場面）。必ず学生の発表のあとに見せる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S38｜PROPOSAL｜52:15〜53:00（0.75分）｜講師
元のスライド：既存53〜59
■ 話すこと
商品が売れたわけではありません。でも、お客様から信頼されて、次の一歩を任されました。これが今日の成功です。ちなみに、デモでうまくいっても、すぐ採用ではありません。実際のラインの条件で確かめてから判断してもらいます。
■ 問いかけ
デモで正しく数えられたら、すぐ採用してよいでしょうか？
■ 想定される回答
「実際のラインでも確かめるべき」
■ フィードバック
「デモの条件と実際のライン、同じでしょうか？」と返す。
■ 答えが出ないときのヒント
森さん「デモの条件と、実際のラインの条件。同じでしょうか？」
■ 次へのつなぎ
ここで、今日の体験をふりかえりましょう。
■ 時間超過時
問いかけを省けば30秒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S39｜REFLECTION｜53:00〜53:15（0.25分）｜講師
元のスライド：新規
■ 話すこと
最後に、今日の体験を自分の言葉にしてみましょう。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S40｜REFLECTION｜53:15〜54:00（0.75分）｜講師
元のスライド：既存60〜63
■ 話すこと
最初は選ぶだけでした。最後は、自分の言葉でお客様に提案して、次の一歩を任されました。これが、コンサルティング営業の仕事の流れそのものです。
■ 時間超過時
30秒に短縮可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S41｜REFLECTION｜54:00〜55:30（1.5分）｜ペア
元のスライド：新規
■ 話すこと
隣の人と1分、話してみてください。どれか1つで構いません。
■ 問いかけ
今日、営業の仕事に対するイメージは変わりましたか？
■ 想定される回答
「売るだけだと思っていた」「質問が大事だと分かった」「提案が通ったのがうれしかった」
■ フィードバック
学生の言葉を、次のメッセージにつなげる。「今の○○さんの言葉が、まさに営業の仕事です」
■ 答えが出ないときのヒント
最初に答えた「営業とはどんな仕事か」と比べてみましょう。
■ 時間超過時
発表を1人にすれば1分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S42｜REFLECTION｜55:30〜56:00（0.5分）｜講師
元のスライド：既存64
■ 話すこと
営業とは、商品を売る前に、お客様の困りごとを理解し、解決に向けて一緒に考える仕事です。
■ 画像・動画
IMAGE_PLACEHOLDER_05（顧客と営業担当者の対話）：未提供
■ 次へのつなぎ
OPTEX-FAの営業には、こんな面白さがあります。
■ 時間超過時
省略不可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S43｜REFLECTION｜56:00〜57:00（1分）｜講師
元のスライド：新規
■ 話すこと
今日の体験は、OPTEX-FAの営業の仕事そのものです。（具体的な研修制度や仕事の例は、社内資料で確認した内容だけを話す）
■ 次へのつなぎ
実際に働いている先輩の声を紹介します。
■ 時間超過時
1分→30秒に短縮可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S44｜REFLECTION｜57:00〜58:00（1分）｜講師／動画
元のスライド：新規
■ 話すこと
（社員情報が届いたら、本人のエピソードを紹介する。届くまでは、このスライドを飛ばす）
■ 画像・動画
IMAGE_PLACEHOLDER_08（若手営業社員の写真）：未提供
VIDEO_PLACEHOLDER_05（若手営業社員のメッセージ（任意））：未提供
■ 次へのつなぎ
最後に、アンケートと次のステップです。
■ 時間超過時
社員情報が未提供の間は非表示にする（創作した社員エピソードは使わない）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S45｜REFLECTION｜58:00〜60:00（2分）｜個人
元のスライド：既存69＋新規
■ 話すこと
アンケートに答えてください。最初に聞いた「営業への興味」をもう一度聞きます。OPTEX-FAの営業をもっと知りたい人は、次のステップにぜひ参加してください。今日はありがとうございました。
■ 画像・動画
IMAGE_PLACEHOLDER_10（事後アンケート・次回ステップ申込のQRコード）：未提供
■ 次へのつなぎ
（終了）
■ 時間超過時
省略不可（成果測定と採用接続）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X01｜補足資料｜本編の時間には含めない。質問が出たとき・時間に余裕があるときに使う。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X02｜補足資料｜本編の時間には含めない。質問が出たとき・時間に余裕があるときに使う。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X03｜補足資料｜本編の時間には含めない。質問が出たとき・時間に余裕があるときに使う。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X04｜補足資料｜本編の時間には含めない。質問が出たとき・時間に余裕があるときに使う。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X05｜補足資料｜本編の時間には含めない。質問が出たとき・時間に余裕があるときに使う。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X06｜補足資料｜本編の時間には含めない。質問が出たとき・時間に余裕があるときに使う。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517"/>
        </a:solidFill>
      </p:bgPr>
    </p:bg>
    <p:spTree>
      <p:nvGrpSpPr>
        <p:cNvPr id="1" name=""/>
        <p:cNvGrpSpPr/>
        <p:nvPr/>
      </p:nvGrpSpPr>
      <p:grpSpPr>
        <a:xfrm>
          <a:off x="0" y="0"/>
          <a:ext cx="0" cy="0"/>
          <a:chOff x="0" y="0"/>
          <a:chExt cx="0" cy="0"/>
        </a:xfrm>
      </p:grpSpPr>
      <p:sp>
        <p:nvSpPr>
          <p:cNvPr id="2" name="Text 0"/>
          <p:cNvSpPr/>
          <p:nvPr/>
        </p:nvSpPr>
        <p:spPr>
          <a:xfrm>
            <a:off x="502920" y="201168"/>
            <a:ext cx="182880" cy="228600"/>
          </a:xfrm>
          <a:prstGeom prst="rect">
            <a:avLst/>
          </a:prstGeom>
          <a:noFill/>
          <a:ln/>
        </p:spPr>
        <p:txBody>
          <a:bodyPr wrap="square" lIns="0" tIns="0" rIns="0" bIns="0" rtlCol="0" anchor="ctr"/>
          <a:lstStyle/>
          <a:p>
            <a:pPr indent="0" marL="0">
              <a:buNone/>
            </a:pPr>
            <a:r>
              <a:rPr lang="en-US" sz="1100" b="1" dirty="0">
                <a:solidFill>
                  <a:srgbClr val="E60012"/>
                </a:solidFill>
              </a:rPr>
              <a:t>/</a:t>
            </a:r>
            <a:endParaRPr lang="en-US" sz="1100" dirty="0"/>
          </a:p>
        </p:txBody>
      </p:sp>
      <p:sp>
        <p:nvSpPr>
          <p:cNvPr id="3" name="Text 1"/>
          <p:cNvSpPr/>
          <p:nvPr/>
        </p:nvSpPr>
        <p:spPr>
          <a:xfrm>
            <a:off x="658368" y="201168"/>
            <a:ext cx="4572000" cy="228600"/>
          </a:xfrm>
          <a:prstGeom prst="rect">
            <a:avLst/>
          </a:prstGeom>
          <a:noFill/>
          <a:ln/>
        </p:spPr>
        <p:txBody>
          <a:bodyPr wrap="square" lIns="0" tIns="0" rIns="0" bIns="0" rtlCol="0" anchor="ctr"/>
          <a:lstStyle/>
          <a:p>
            <a:pPr indent="0" marL="0">
              <a:buNone/>
            </a:pPr>
            <a:r>
              <a:rPr lang="en-US" sz="800" spc="100" kern="0" dirty="0">
                <a:solidFill>
                  <a:srgbClr val="8A939D"/>
                </a:solidFill>
              </a:rPr>
              <a:t>OPTEX-FA　|　CONSULTING SALES EXPERIENCE</a:t>
            </a:r>
            <a:endParaRPr lang="en-US" sz="8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502920" y="201168"/>
            <a:ext cx="182880" cy="228600"/>
          </a:xfrm>
          <a:prstGeom prst="rect">
            <a:avLst/>
          </a:prstGeom>
          <a:noFill/>
          <a:ln/>
        </p:spPr>
        <p:txBody>
          <a:bodyPr wrap="square" lIns="0" tIns="0" rIns="0" bIns="0" rtlCol="0" anchor="ctr"/>
          <a:lstStyle/>
          <a:p>
            <a:pPr indent="0" marL="0">
              <a:buNone/>
            </a:pPr>
            <a:r>
              <a:rPr lang="en-US" sz="1100" b="1" dirty="0">
                <a:solidFill>
                  <a:srgbClr val="E60012"/>
                </a:solidFill>
              </a:rPr>
              <a:t>/</a:t>
            </a:r>
            <a:endParaRPr lang="en-US" sz="1100" dirty="0"/>
          </a:p>
        </p:txBody>
      </p:sp>
      <p:sp>
        <p:nvSpPr>
          <p:cNvPr id="3" name="Text 1"/>
          <p:cNvSpPr/>
          <p:nvPr/>
        </p:nvSpPr>
        <p:spPr>
          <a:xfrm>
            <a:off x="658368" y="201168"/>
            <a:ext cx="4572000" cy="228600"/>
          </a:xfrm>
          <a:prstGeom prst="rect">
            <a:avLst/>
          </a:prstGeom>
          <a:noFill/>
          <a:ln/>
        </p:spPr>
        <p:txBody>
          <a:bodyPr wrap="square" lIns="0" tIns="0" rIns="0" bIns="0" rtlCol="0" anchor="ctr"/>
          <a:lstStyle/>
          <a:p>
            <a:pPr indent="0" marL="0">
              <a:buNone/>
            </a:pPr>
            <a:r>
              <a:rPr lang="en-US" sz="800" spc="100" kern="0" dirty="0">
                <a:solidFill>
                  <a:srgbClr val="5A6470"/>
                </a:solidFill>
              </a:rPr>
              <a:t>OPTEX-FA　|　CONSULTING SALES EXPERIENCE</a:t>
            </a:r>
            <a:endParaRPr lang="en-US" sz="8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image" Target="../media/image-49-2.jpg"/><Relationship Id="rId3" Type="http://schemas.openxmlformats.org/officeDocument/2006/relationships/image" Target="../media/image-49-3.jpg"/><Relationship Id="rId4" Type="http://schemas.openxmlformats.org/officeDocument/2006/relationships/image" Target="../media/image-49-4.jpg"/><Relationship Id="rId5" Type="http://schemas.openxmlformats.org/officeDocument/2006/relationships/slideLayout" Target="../slideLayouts/slideLayout3.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flipH="1">
            <a:off x="6949440" y="0"/>
            <a:ext cx="2011680" cy="6858000"/>
          </a:xfrm>
          <a:prstGeom prst="rtTriangle">
            <a:avLst/>
          </a:prstGeom>
          <a:solidFill>
            <a:srgbClr val="E60012"/>
          </a:solidFill>
          <a:ln/>
        </p:spPr>
      </p:sp>
      <p:sp>
        <p:nvSpPr>
          <p:cNvPr id="3" name="Shape 1"/>
          <p:cNvSpPr/>
          <p:nvPr/>
        </p:nvSpPr>
        <p:spPr>
          <a:xfrm>
            <a:off x="8961120" y="0"/>
            <a:ext cx="3230575" cy="6858000"/>
          </a:xfrm>
          <a:prstGeom prst="rect">
            <a:avLst/>
          </a:prstGeom>
          <a:solidFill>
            <a:srgbClr val="E60012"/>
          </a:solidFill>
          <a:ln/>
        </p:spPr>
      </p:sp>
      <p:sp>
        <p:nvSpPr>
          <p:cNvPr id="4" name="IMAGE_PLACEHOLDER_01_frame"/>
          <p:cNvSpPr/>
          <p:nvPr/>
        </p:nvSpPr>
        <p:spPr>
          <a:xfrm>
            <a:off x="7680960" y="1280160"/>
            <a:ext cx="4023360" cy="2286000"/>
          </a:xfrm>
          <a:prstGeom prst="rect">
            <a:avLst/>
          </a:prstGeom>
          <a:solidFill>
            <a:srgbClr val="0B0C0D"/>
          </a:solidFill>
          <a:ln/>
        </p:spPr>
      </p:sp>
      <p:pic>
        <p:nvPicPr>
          <p:cNvPr id="5" name="IMAGE_PLACEHOLDER_01" descr="【IMAGE_PLACEHOLDER_01】PETボトル搬送ライン（仮画像）">    </p:cNvPr>
          <p:cNvPicPr>
            <a:picLocks noChangeAspect="1"/>
          </p:cNvPicPr>
          <p:nvPr/>
        </p:nvPicPr>
        <p:blipFill>
          <a:blip r:embed="rId1"/>
          <a:stretch>
            <a:fillRect/>
          </a:stretch>
        </p:blipFill>
        <p:spPr>
          <a:xfrm>
            <a:off x="7680960" y="1291590"/>
            <a:ext cx="4023360" cy="2263140"/>
          </a:xfrm>
          <a:prstGeom prst="rect">
            <a:avLst/>
          </a:prstGeom>
        </p:spPr>
      </p:pic>
      <p:sp>
        <p:nvSpPr>
          <p:cNvPr id="6" name="Shape 3"/>
          <p:cNvSpPr/>
          <p:nvPr/>
        </p:nvSpPr>
        <p:spPr>
          <a:xfrm>
            <a:off x="7680960" y="3243834"/>
            <a:ext cx="4023360" cy="310896"/>
          </a:xfrm>
          <a:prstGeom prst="rect">
            <a:avLst/>
          </a:prstGeom>
          <a:solidFill>
            <a:srgbClr val="000000"/>
          </a:solidFill>
          <a:ln/>
        </p:spPr>
      </p:sp>
      <p:sp>
        <p:nvSpPr>
          <p:cNvPr id="7" name="Shape 4"/>
          <p:cNvSpPr/>
          <p:nvPr/>
        </p:nvSpPr>
        <p:spPr>
          <a:xfrm>
            <a:off x="7754112" y="3280410"/>
            <a:ext cx="274320" cy="237744"/>
          </a:xfrm>
          <a:prstGeom prst="rect">
            <a:avLst/>
          </a:prstGeom>
          <a:solidFill>
            <a:srgbClr val="E60012"/>
          </a:solidFill>
          <a:ln/>
        </p:spPr>
      </p:sp>
      <p:sp>
        <p:nvSpPr>
          <p:cNvPr id="8" name="Text 5"/>
          <p:cNvSpPr txBox="1"/>
          <p:nvPr/>
        </p:nvSpPr>
        <p:spPr>
          <a:xfrm>
            <a:off x="7754112" y="3280410"/>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9" name="Text 6"/>
          <p:cNvSpPr txBox="1"/>
          <p:nvPr/>
        </p:nvSpPr>
        <p:spPr>
          <a:xfrm>
            <a:off x="8092440" y="3243834"/>
            <a:ext cx="3566160" cy="310896"/>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【IMAGE_PLACEHOLDER_01】PETボトル搬送ライン　後日指定画像に差し替え</a:t>
            </a:r>
            <a:endParaRPr lang="en-US" sz="800" dirty="0"/>
          </a:p>
        </p:txBody>
      </p:sp>
      <p:sp>
        <p:nvSpPr>
          <p:cNvPr id="10" name="Text 7"/>
          <p:cNvSpPr txBox="1"/>
          <p:nvPr/>
        </p:nvSpPr>
        <p:spPr>
          <a:xfrm>
            <a:off x="548640" y="1828800"/>
            <a:ext cx="5943600" cy="320040"/>
          </a:xfrm>
          <a:prstGeom prst="rect">
            <a:avLst/>
          </a:prstGeom>
          <a:noFill/>
          <a:ln/>
        </p:spPr>
        <p:txBody>
          <a:bodyPr wrap="square" lIns="0" tIns="0" rIns="0" bIns="0" rtlCol="0" anchor="t"/>
          <a:lstStyle/>
          <a:p>
            <a:pPr indent="0" marL="0">
              <a:buNone/>
            </a:pPr>
            <a:r>
              <a:rPr lang="en-US" sz="1300" dirty="0">
                <a:solidFill>
                  <a:srgbClr val="8A939D"/>
                </a:solidFill>
                <a:latin typeface="Meiryo" pitchFamily="34" charset="0"/>
                <a:ea typeface="Meiryo" pitchFamily="34" charset="-122"/>
                <a:cs typeface="Meiryo" pitchFamily="34" charset="-120"/>
              </a:rPr>
              <a:t>CASE｜飲料工場からの相談</a:t>
            </a:r>
            <a:endParaRPr lang="en-US" sz="1300" dirty="0"/>
          </a:p>
        </p:txBody>
      </p:sp>
      <p:sp>
        <p:nvSpPr>
          <p:cNvPr id="11" name="Text 8"/>
          <p:cNvSpPr txBox="1"/>
          <p:nvPr/>
        </p:nvSpPr>
        <p:spPr>
          <a:xfrm>
            <a:off x="548640" y="2240280"/>
            <a:ext cx="6400800" cy="1005840"/>
          </a:xfrm>
          <a:prstGeom prst="rect">
            <a:avLst/>
          </a:prstGeom>
          <a:noFill/>
          <a:ln/>
        </p:spPr>
        <p:txBody>
          <a:bodyPr wrap="square" lIns="0" tIns="0" rIns="0" bIns="0" rtlCol="0" anchor="t"/>
          <a:lstStyle/>
          <a:p>
            <a:pPr indent="0" marL="0">
              <a:buNone/>
            </a:pPr>
            <a:r>
              <a:rPr lang="en-US" sz="5400" b="1" dirty="0">
                <a:solidFill>
                  <a:srgbClr val="E60012"/>
                </a:solidFill>
                <a:latin typeface="Arial Black" pitchFamily="34" charset="0"/>
                <a:ea typeface="Arial Black" pitchFamily="34" charset="-122"/>
                <a:cs typeface="Arial Black" pitchFamily="34" charset="-120"/>
              </a:rPr>
              <a:t>YOUR MISSION</a:t>
            </a:r>
            <a:endParaRPr lang="en-US" sz="5400" dirty="0"/>
          </a:p>
        </p:txBody>
      </p:sp>
      <p:sp>
        <p:nvSpPr>
          <p:cNvPr id="12" name="Text 9"/>
          <p:cNvSpPr txBox="1"/>
          <p:nvPr/>
        </p:nvSpPr>
        <p:spPr>
          <a:xfrm>
            <a:off x="548640" y="3337560"/>
            <a:ext cx="6400800" cy="548640"/>
          </a:xfrm>
          <a:prstGeom prst="rect">
            <a:avLst/>
          </a:prstGeom>
          <a:noFill/>
          <a:ln/>
        </p:spPr>
        <p:txBody>
          <a:bodyPr wrap="square" lIns="0" tIns="0" rIns="0" bIns="0" rtlCol="0" anchor="t"/>
          <a:lstStyle/>
          <a:p>
            <a:pPr indent="0" marL="0">
              <a:buNone/>
            </a:pPr>
            <a:r>
              <a:rPr lang="en-US" sz="2400" b="1" dirty="0">
                <a:solidFill>
                  <a:srgbClr val="FFFFFF"/>
                </a:solidFill>
                <a:latin typeface="Meiryo" pitchFamily="34" charset="0"/>
                <a:ea typeface="Meiryo" pitchFamily="34" charset="-122"/>
                <a:cs typeface="Meiryo" pitchFamily="34" charset="-120"/>
              </a:rPr>
              <a:t>ペットボトルの誤カウントを解決せよ。</a:t>
            </a:r>
            <a:endParaRPr lang="en-US" sz="2400" dirty="0"/>
          </a:p>
        </p:txBody>
      </p:sp>
      <p:sp>
        <p:nvSpPr>
          <p:cNvPr id="13" name="Text 10"/>
          <p:cNvSpPr txBox="1"/>
          <p:nvPr/>
        </p:nvSpPr>
        <p:spPr>
          <a:xfrm>
            <a:off x="548640" y="4206240"/>
            <a:ext cx="6400800" cy="320040"/>
          </a:xfrm>
          <a:prstGeom prst="rect">
            <a:avLst/>
          </a:prstGeom>
          <a:noFill/>
          <a:ln/>
        </p:spPr>
        <p:txBody>
          <a:bodyPr wrap="square" lIns="0" tIns="0" rIns="0" bIns="0" rtlCol="0" anchor="t"/>
          <a:lstStyle/>
          <a:p>
            <a:pPr indent="0" marL="0">
              <a:buNone/>
            </a:pPr>
            <a:r>
              <a:rPr lang="en-US" sz="1300" dirty="0">
                <a:solidFill>
                  <a:srgbClr val="8A939D"/>
                </a:solidFill>
                <a:latin typeface="Meiryo" pitchFamily="34" charset="0"/>
                <a:ea typeface="Meiryo" pitchFamily="34" charset="-122"/>
                <a:cs typeface="Meiryo" pitchFamily="34" charset="-120"/>
              </a:rPr>
              <a:t>コンサルティング営業体験｜60分</a:t>
            </a:r>
            <a:endParaRPr lang="en-US" sz="13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566928"/>
            <a:ext cx="914400" cy="329184"/>
          </a:xfrm>
          <a:prstGeom prst="rect">
            <a:avLst/>
          </a:prstGeom>
          <a:solidFill>
            <a:srgbClr val="E60012"/>
          </a:solidFill>
          <a:ln/>
        </p:spPr>
      </p:sp>
      <p:sp>
        <p:nvSpPr>
          <p:cNvPr id="3" name="Text 1"/>
          <p:cNvSpPr txBox="1"/>
          <p:nvPr/>
        </p:nvSpPr>
        <p:spPr>
          <a:xfrm>
            <a:off x="548640" y="566928"/>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ミッション</a:t>
            </a:r>
            <a:endParaRPr lang="en-US" sz="1100" dirty="0"/>
          </a:p>
        </p:txBody>
      </p:sp>
      <p:sp>
        <p:nvSpPr>
          <p:cNvPr id="4" name="Text 2"/>
          <p:cNvSpPr txBox="1"/>
          <p:nvPr/>
        </p:nvSpPr>
        <p:spPr>
          <a:xfrm>
            <a:off x="1627632" y="530352"/>
            <a:ext cx="9997135"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始める前に　今の気持ちを教えてください</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Text 9"/>
          <p:cNvSpPr txBox="1"/>
          <p:nvPr/>
        </p:nvSpPr>
        <p:spPr>
          <a:xfrm>
            <a:off x="548640" y="1600200"/>
            <a:ext cx="822960" cy="640080"/>
          </a:xfrm>
          <a:prstGeom prst="rect">
            <a:avLst/>
          </a:prstGeom>
          <a:noFill/>
          <a:ln/>
        </p:spPr>
        <p:txBody>
          <a:bodyPr wrap="square" lIns="0" tIns="0" rIns="0" bIns="0" rtlCol="0" anchor="t"/>
          <a:lstStyle/>
          <a:p>
            <a:pPr indent="0" marL="0">
              <a:buNone/>
            </a:pPr>
            <a:r>
              <a:rPr lang="en-US" sz="3200" b="1" dirty="0">
                <a:solidFill>
                  <a:srgbClr val="E60012"/>
                </a:solidFill>
                <a:latin typeface="Meiryo" pitchFamily="34" charset="0"/>
                <a:ea typeface="Meiryo" pitchFamily="34" charset="-122"/>
                <a:cs typeface="Meiryo" pitchFamily="34" charset="-120"/>
              </a:rPr>
              <a:t>Q1</a:t>
            </a:r>
            <a:endParaRPr lang="en-US" sz="3200" dirty="0"/>
          </a:p>
        </p:txBody>
      </p:sp>
      <p:sp>
        <p:nvSpPr>
          <p:cNvPr id="12" name="Text 10"/>
          <p:cNvSpPr txBox="1"/>
          <p:nvPr/>
        </p:nvSpPr>
        <p:spPr>
          <a:xfrm>
            <a:off x="1463040" y="1600200"/>
            <a:ext cx="6583680" cy="685800"/>
          </a:xfrm>
          <a:prstGeom prst="rect">
            <a:avLst/>
          </a:prstGeom>
          <a:noFill/>
          <a:ln/>
        </p:spPr>
        <p:txBody>
          <a:bodyPr wrap="square" lIns="0" tIns="0" rIns="0" bIns="0" rtlCol="0" anchor="t"/>
          <a:lstStyle/>
          <a:p>
            <a:pPr indent="0" marL="0">
              <a:buNone/>
            </a:pPr>
            <a:r>
              <a:rPr lang="en-US" sz="2200" b="1" dirty="0">
                <a:solidFill>
                  <a:srgbClr val="FFFFFF"/>
                </a:solidFill>
                <a:latin typeface="Meiryo" pitchFamily="34" charset="0"/>
                <a:ea typeface="Meiryo" pitchFamily="34" charset="-122"/>
                <a:cs typeface="Meiryo" pitchFamily="34" charset="-120"/>
              </a:rPr>
              <a:t>営業の仕事に、どれくらい興味がありますか？</a:t>
            </a:r>
            <a:endParaRPr lang="en-US" sz="2200" dirty="0"/>
          </a:p>
        </p:txBody>
      </p:sp>
      <p:sp>
        <p:nvSpPr>
          <p:cNvPr id="13" name="Text 11"/>
          <p:cNvSpPr txBox="1"/>
          <p:nvPr/>
        </p:nvSpPr>
        <p:spPr>
          <a:xfrm>
            <a:off x="1463040" y="2377440"/>
            <a:ext cx="6583680"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1　まったくない　〜　5　とてもある</a:t>
            </a:r>
            <a:endParaRPr lang="en-US" sz="1400" dirty="0"/>
          </a:p>
        </p:txBody>
      </p:sp>
      <p:sp>
        <p:nvSpPr>
          <p:cNvPr id="14" name="Text 12"/>
          <p:cNvSpPr txBox="1"/>
          <p:nvPr/>
        </p:nvSpPr>
        <p:spPr>
          <a:xfrm>
            <a:off x="548640" y="3520440"/>
            <a:ext cx="822960" cy="640080"/>
          </a:xfrm>
          <a:prstGeom prst="rect">
            <a:avLst/>
          </a:prstGeom>
          <a:noFill/>
          <a:ln/>
        </p:spPr>
        <p:txBody>
          <a:bodyPr wrap="square" lIns="0" tIns="0" rIns="0" bIns="0" rtlCol="0" anchor="t"/>
          <a:lstStyle/>
          <a:p>
            <a:pPr indent="0" marL="0">
              <a:buNone/>
            </a:pPr>
            <a:r>
              <a:rPr lang="en-US" sz="3200" b="1" dirty="0">
                <a:solidFill>
                  <a:srgbClr val="E60012"/>
                </a:solidFill>
                <a:latin typeface="Meiryo" pitchFamily="34" charset="0"/>
                <a:ea typeface="Meiryo" pitchFamily="34" charset="-122"/>
                <a:cs typeface="Meiryo" pitchFamily="34" charset="-120"/>
              </a:rPr>
              <a:t>Q2</a:t>
            </a:r>
            <a:endParaRPr lang="en-US" sz="3200" dirty="0"/>
          </a:p>
        </p:txBody>
      </p:sp>
      <p:sp>
        <p:nvSpPr>
          <p:cNvPr id="15" name="Text 13"/>
          <p:cNvSpPr txBox="1"/>
          <p:nvPr/>
        </p:nvSpPr>
        <p:spPr>
          <a:xfrm>
            <a:off x="1463040" y="3520440"/>
            <a:ext cx="6583680" cy="685800"/>
          </a:xfrm>
          <a:prstGeom prst="rect">
            <a:avLst/>
          </a:prstGeom>
          <a:noFill/>
          <a:ln/>
        </p:spPr>
        <p:txBody>
          <a:bodyPr wrap="square" lIns="0" tIns="0" rIns="0" bIns="0" rtlCol="0" anchor="t"/>
          <a:lstStyle/>
          <a:p>
            <a:pPr indent="0" marL="0">
              <a:buNone/>
            </a:pPr>
            <a:r>
              <a:rPr lang="en-US" sz="2200" b="1" dirty="0">
                <a:solidFill>
                  <a:srgbClr val="FFFFFF"/>
                </a:solidFill>
                <a:latin typeface="Meiryo" pitchFamily="34" charset="0"/>
                <a:ea typeface="Meiryo" pitchFamily="34" charset="-122"/>
                <a:cs typeface="Meiryo" pitchFamily="34" charset="-120"/>
              </a:rPr>
              <a:t>営業とは、どんな仕事だと思いますか？</a:t>
            </a:r>
            <a:endParaRPr lang="en-US" sz="2200" dirty="0"/>
          </a:p>
        </p:txBody>
      </p:sp>
      <p:sp>
        <p:nvSpPr>
          <p:cNvPr id="16" name="Text 14"/>
          <p:cNvSpPr txBox="1"/>
          <p:nvPr/>
        </p:nvSpPr>
        <p:spPr>
          <a:xfrm>
            <a:off x="1463040" y="4297680"/>
            <a:ext cx="6583680"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ひとことで（例：商品を売る仕事）</a:t>
            </a:r>
            <a:endParaRPr lang="en-US" sz="1400" dirty="0"/>
          </a:p>
        </p:txBody>
      </p:sp>
      <p:sp>
        <p:nvSpPr>
          <p:cNvPr id="17" name="IMAGE_PLACEHOLDER_09"/>
          <p:cNvSpPr/>
          <p:nvPr/>
        </p:nvSpPr>
        <p:spPr>
          <a:xfrm>
            <a:off x="8595360" y="1600200"/>
            <a:ext cx="2926080" cy="2926080"/>
          </a:xfrm>
          <a:prstGeom prst="rect">
            <a:avLst/>
          </a:prstGeom>
          <a:solidFill>
            <a:srgbClr val="1B1D20"/>
          </a:solidFill>
          <a:ln w="15875">
            <a:solidFill>
              <a:srgbClr val="5A5D63"/>
            </a:solidFill>
            <a:prstDash val="dash"/>
          </a:ln>
        </p:spPr>
      </p:sp>
      <p:sp>
        <p:nvSpPr>
          <p:cNvPr id="18" name="Text 16"/>
          <p:cNvSpPr txBox="1"/>
          <p:nvPr/>
        </p:nvSpPr>
        <p:spPr>
          <a:xfrm>
            <a:off x="8732520" y="1691640"/>
            <a:ext cx="2651760" cy="2743200"/>
          </a:xfrm>
          <a:prstGeom prst="rect">
            <a:avLst/>
          </a:prstGeom>
          <a:noFill/>
          <a:ln/>
        </p:spPr>
        <p:txBody>
          <a:bodyPr wrap="square" lIns="0" tIns="0" rIns="0" bIns="0" rtlCol="0" anchor="ctr"/>
          <a:lstStyle/>
          <a:p>
            <a:pPr algn="ctr" indent="0" marL="0">
              <a:spcAft>
                <a:spcPts val="300"/>
              </a:spcAft>
              <a:buNone/>
            </a:pPr>
            <a:r>
              <a:rPr lang="en-US" sz="1100" b="1" dirty="0">
                <a:solidFill>
                  <a:srgbClr val="E60012"/>
                </a:solidFill>
                <a:latin typeface="Meiryo" pitchFamily="34" charset="0"/>
                <a:ea typeface="Meiryo" pitchFamily="34" charset="-122"/>
                <a:cs typeface="Meiryo" pitchFamily="34" charset="-120"/>
              </a:rPr>
              <a:t>【IMAGE_PLACEHOLDER_09】</a:t>
            </a:r>
            <a:endParaRPr lang="en-US" sz="1100" dirty="0"/>
          </a:p>
          <a:p>
            <a:pPr algn="ctr" indent="0" marL="0">
              <a:spcAft>
                <a:spcPts val="300"/>
              </a:spcAft>
              <a:buNone/>
            </a:pPr>
            <a:r>
              <a:rPr lang="en-US" sz="950" dirty="0">
                <a:solidFill>
                  <a:srgbClr val="FFFFFF"/>
                </a:solidFill>
                <a:latin typeface="Meiryo" pitchFamily="34" charset="0"/>
                <a:ea typeface="Meiryo" pitchFamily="34" charset="-122"/>
                <a:cs typeface="Meiryo" pitchFamily="34" charset="-120"/>
              </a:rPr>
              <a:t>用途：事前チェックのQRコード</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目的：参加前の興味を回答してもらう</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状態：後日指定画像に差し替え</a:t>
            </a:r>
            <a:endParaRPr lang="en-US" sz="1100" dirty="0"/>
          </a:p>
        </p:txBody>
      </p:sp>
      <p:sp>
        <p:nvSpPr>
          <p:cNvPr id="19" name="Text 17"/>
          <p:cNvSpPr txBox="1"/>
          <p:nvPr/>
        </p:nvSpPr>
        <p:spPr>
          <a:xfrm>
            <a:off x="548640" y="5760720"/>
            <a:ext cx="8229600" cy="365760"/>
          </a:xfrm>
          <a:prstGeom prst="rect">
            <a:avLst/>
          </a:prstGeom>
          <a:noFill/>
          <a:ln/>
        </p:spPr>
        <p:txBody>
          <a:bodyPr wrap="square" lIns="0" tIns="0" rIns="0" bIns="0" rtlCol="0" anchor="t"/>
          <a:lstStyle/>
          <a:p>
            <a:pPr indent="0" marL="0">
              <a:buNone/>
            </a:pPr>
            <a:r>
              <a:rPr lang="en-US" sz="1300" dirty="0">
                <a:solidFill>
                  <a:srgbClr val="8A939D"/>
                </a:solidFill>
                <a:latin typeface="Meiryo" pitchFamily="34" charset="0"/>
                <a:ea typeface="Meiryo" pitchFamily="34" charset="-122"/>
                <a:cs typeface="Meiryo" pitchFamily="34" charset="-120"/>
              </a:rPr>
              <a:t>最後にもう一度聞きます。変化を比べてみましょう。</a:t>
            </a:r>
            <a:endParaRPr lang="en-US" sz="13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566928"/>
            <a:ext cx="914400" cy="329184"/>
          </a:xfrm>
          <a:prstGeom prst="rect">
            <a:avLst/>
          </a:prstGeom>
          <a:solidFill>
            <a:srgbClr val="E60012"/>
          </a:solidFill>
          <a:ln/>
        </p:spPr>
      </p:sp>
      <p:sp>
        <p:nvSpPr>
          <p:cNvPr id="3" name="Text 1"/>
          <p:cNvSpPr txBox="1"/>
          <p:nvPr/>
        </p:nvSpPr>
        <p:spPr>
          <a:xfrm>
            <a:off x="548640" y="566928"/>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ミッション</a:t>
            </a:r>
            <a:endParaRPr lang="en-US" sz="1100" dirty="0"/>
          </a:p>
        </p:txBody>
      </p:sp>
      <p:sp>
        <p:nvSpPr>
          <p:cNvPr id="4" name="Text 2"/>
          <p:cNvSpPr txBox="1"/>
          <p:nvPr/>
        </p:nvSpPr>
        <p:spPr>
          <a:xfrm>
            <a:off x="1627632" y="530352"/>
            <a:ext cx="9997135"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あなたはOPTEX-FAの営業担当です</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417320"/>
            <a:ext cx="1757629" cy="2240280"/>
          </a:xfrm>
          <a:prstGeom prst="rect">
            <a:avLst/>
          </a:prstGeom>
          <a:solidFill>
            <a:srgbClr val="2A2D33"/>
          </a:solidFill>
          <a:ln/>
        </p:spPr>
      </p:sp>
      <p:sp>
        <p:nvSpPr>
          <p:cNvPr id="12" name="Text 10"/>
          <p:cNvSpPr txBox="1"/>
          <p:nvPr/>
        </p:nvSpPr>
        <p:spPr>
          <a:xfrm>
            <a:off x="685800" y="1536192"/>
            <a:ext cx="1483309" cy="228600"/>
          </a:xfrm>
          <a:prstGeom prst="rect">
            <a:avLst/>
          </a:prstGeom>
          <a:noFill/>
          <a:ln/>
        </p:spPr>
        <p:txBody>
          <a:bodyPr wrap="square" lIns="0" tIns="0" rIns="0" bIns="0" rtlCol="0" anchor="t"/>
          <a:lstStyle/>
          <a:p>
            <a:pPr indent="0" marL="0">
              <a:buNone/>
            </a:pPr>
            <a:r>
              <a:rPr lang="en-US" sz="900" dirty="0">
                <a:solidFill>
                  <a:srgbClr val="8A939D"/>
                </a:solidFill>
                <a:latin typeface="Meiryo" pitchFamily="34" charset="0"/>
                <a:ea typeface="Meiryo" pitchFamily="34" charset="-122"/>
                <a:cs typeface="Meiryo" pitchFamily="34" charset="-120"/>
              </a:rPr>
              <a:t>0〜5分</a:t>
            </a:r>
            <a:endParaRPr lang="en-US" sz="900" dirty="0"/>
          </a:p>
        </p:txBody>
      </p:sp>
      <p:sp>
        <p:nvSpPr>
          <p:cNvPr id="13" name="Text 11"/>
          <p:cNvSpPr txBox="1"/>
          <p:nvPr/>
        </p:nvSpPr>
        <p:spPr>
          <a:xfrm>
            <a:off x="685800" y="1783080"/>
            <a:ext cx="1483309" cy="274320"/>
          </a:xfrm>
          <a:prstGeom prst="rect">
            <a:avLst/>
          </a:prstGeom>
          <a:noFill/>
          <a:ln/>
        </p:spPr>
        <p:txBody>
          <a:bodyPr wrap="square" lIns="0" tIns="0" rIns="0" bIns="0" rtlCol="0" anchor="t"/>
          <a:lstStyle/>
          <a:p>
            <a:pPr indent="0" marL="0">
              <a:buNone/>
            </a:pPr>
            <a:r>
              <a:rPr lang="en-US" sz="1100" b="1" spc="50" kern="0" dirty="0">
                <a:solidFill>
                  <a:srgbClr val="FFFFFF"/>
                </a:solidFill>
                <a:latin typeface="Meiryo" pitchFamily="34" charset="0"/>
                <a:ea typeface="Meiryo" pitchFamily="34" charset="-122"/>
                <a:cs typeface="Meiryo" pitchFamily="34" charset="-120"/>
              </a:rPr>
              <a:t>MISSION</a:t>
            </a:r>
            <a:endParaRPr lang="en-US" sz="1100" dirty="0"/>
          </a:p>
        </p:txBody>
      </p:sp>
      <p:sp>
        <p:nvSpPr>
          <p:cNvPr id="14" name="Text 12"/>
          <p:cNvSpPr txBox="1"/>
          <p:nvPr/>
        </p:nvSpPr>
        <p:spPr>
          <a:xfrm>
            <a:off x="685800" y="2148840"/>
            <a:ext cx="148330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受け取る</a:t>
            </a:r>
            <a:endParaRPr lang="en-US" sz="2000" dirty="0"/>
          </a:p>
        </p:txBody>
      </p:sp>
      <p:sp>
        <p:nvSpPr>
          <p:cNvPr id="15" name="Text 13"/>
          <p:cNvSpPr txBox="1"/>
          <p:nvPr/>
        </p:nvSpPr>
        <p:spPr>
          <a:xfrm>
            <a:off x="685800" y="2697480"/>
            <a:ext cx="1483309" cy="868680"/>
          </a:xfrm>
          <a:prstGeom prst="rect">
            <a:avLst/>
          </a:prstGeom>
          <a:noFill/>
          <a:ln/>
        </p:spPr>
        <p:txBody>
          <a:bodyPr wrap="square" lIns="0" tIns="0" rIns="0" bIns="0" rtlCol="0" anchor="t"/>
          <a:lstStyle/>
          <a:p>
            <a:pPr indent="0" marL="0">
              <a:buNone/>
            </a:pPr>
            <a:r>
              <a:rPr lang="en-US" sz="1050" dirty="0">
                <a:solidFill>
                  <a:srgbClr val="C9CED4"/>
                </a:solidFill>
                <a:latin typeface="Meiryo" pitchFamily="34" charset="0"/>
                <a:ea typeface="Meiryo" pitchFamily="34" charset="-122"/>
                <a:cs typeface="Meiryo" pitchFamily="34" charset="-120"/>
              </a:rPr>
              <a:t>お客様からのSOSと、あなたのミッション</a:t>
            </a:r>
            <a:endParaRPr lang="en-US" sz="1050" dirty="0"/>
          </a:p>
        </p:txBody>
      </p:sp>
      <p:sp>
        <p:nvSpPr>
          <p:cNvPr id="16" name="Shape 14"/>
          <p:cNvSpPr/>
          <p:nvPr/>
        </p:nvSpPr>
        <p:spPr>
          <a:xfrm>
            <a:off x="2415997" y="1417320"/>
            <a:ext cx="1757629" cy="2240280"/>
          </a:xfrm>
          <a:prstGeom prst="rect">
            <a:avLst/>
          </a:prstGeom>
          <a:solidFill>
            <a:srgbClr val="2A2D33"/>
          </a:solidFill>
          <a:ln/>
        </p:spPr>
      </p:sp>
      <p:sp>
        <p:nvSpPr>
          <p:cNvPr id="17" name="Text 15"/>
          <p:cNvSpPr txBox="1"/>
          <p:nvPr/>
        </p:nvSpPr>
        <p:spPr>
          <a:xfrm>
            <a:off x="2553157" y="1536192"/>
            <a:ext cx="1483309" cy="228600"/>
          </a:xfrm>
          <a:prstGeom prst="rect">
            <a:avLst/>
          </a:prstGeom>
          <a:noFill/>
          <a:ln/>
        </p:spPr>
        <p:txBody>
          <a:bodyPr wrap="square" lIns="0" tIns="0" rIns="0" bIns="0" rtlCol="0" anchor="t"/>
          <a:lstStyle/>
          <a:p>
            <a:pPr indent="0" marL="0">
              <a:buNone/>
            </a:pPr>
            <a:r>
              <a:rPr lang="en-US" sz="900" dirty="0">
                <a:solidFill>
                  <a:srgbClr val="8A939D"/>
                </a:solidFill>
                <a:latin typeface="Meiryo" pitchFamily="34" charset="0"/>
                <a:ea typeface="Meiryo" pitchFamily="34" charset="-122"/>
                <a:cs typeface="Meiryo" pitchFamily="34" charset="-120"/>
              </a:rPr>
              <a:t>5〜15分</a:t>
            </a:r>
            <a:endParaRPr lang="en-US" sz="900" dirty="0"/>
          </a:p>
        </p:txBody>
      </p:sp>
      <p:sp>
        <p:nvSpPr>
          <p:cNvPr id="18" name="Text 16"/>
          <p:cNvSpPr txBox="1"/>
          <p:nvPr/>
        </p:nvSpPr>
        <p:spPr>
          <a:xfrm>
            <a:off x="2553157" y="1783080"/>
            <a:ext cx="1483309" cy="274320"/>
          </a:xfrm>
          <a:prstGeom prst="rect">
            <a:avLst/>
          </a:prstGeom>
          <a:noFill/>
          <a:ln/>
        </p:spPr>
        <p:txBody>
          <a:bodyPr wrap="square" lIns="0" tIns="0" rIns="0" bIns="0" rtlCol="0" anchor="t"/>
          <a:lstStyle/>
          <a:p>
            <a:pPr indent="0" marL="0">
              <a:buNone/>
            </a:pPr>
            <a:r>
              <a:rPr lang="en-US" sz="1100" b="1" spc="50" kern="0" dirty="0">
                <a:solidFill>
                  <a:srgbClr val="FFFFFF"/>
                </a:solidFill>
                <a:latin typeface="Meiryo" pitchFamily="34" charset="0"/>
                <a:ea typeface="Meiryo" pitchFamily="34" charset="-122"/>
                <a:cs typeface="Meiryo" pitchFamily="34" charset="-120"/>
              </a:rPr>
              <a:t>HEARING</a:t>
            </a:r>
            <a:endParaRPr lang="en-US" sz="1100" dirty="0"/>
          </a:p>
        </p:txBody>
      </p:sp>
      <p:sp>
        <p:nvSpPr>
          <p:cNvPr id="19" name="Text 17"/>
          <p:cNvSpPr txBox="1"/>
          <p:nvPr/>
        </p:nvSpPr>
        <p:spPr>
          <a:xfrm>
            <a:off x="2553157" y="2148840"/>
            <a:ext cx="148330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選ぶ</a:t>
            </a:r>
            <a:endParaRPr lang="en-US" sz="2000" dirty="0"/>
          </a:p>
        </p:txBody>
      </p:sp>
      <p:sp>
        <p:nvSpPr>
          <p:cNvPr id="20" name="Text 18"/>
          <p:cNvSpPr txBox="1"/>
          <p:nvPr/>
        </p:nvSpPr>
        <p:spPr>
          <a:xfrm>
            <a:off x="2553157" y="2697480"/>
            <a:ext cx="1483309" cy="868680"/>
          </a:xfrm>
          <a:prstGeom prst="rect">
            <a:avLst/>
          </a:prstGeom>
          <a:noFill/>
          <a:ln/>
        </p:spPr>
        <p:txBody>
          <a:bodyPr wrap="square" lIns="0" tIns="0" rIns="0" bIns="0" rtlCol="0" anchor="t"/>
          <a:lstStyle/>
          <a:p>
            <a:pPr indent="0" marL="0">
              <a:buNone/>
            </a:pPr>
            <a:r>
              <a:rPr lang="en-US" sz="1050" dirty="0">
                <a:solidFill>
                  <a:srgbClr val="C9CED4"/>
                </a:solidFill>
                <a:latin typeface="Meiryo" pitchFamily="34" charset="0"/>
                <a:ea typeface="Meiryo" pitchFamily="34" charset="-122"/>
                <a:cs typeface="Meiryo" pitchFamily="34" charset="-120"/>
              </a:rPr>
              <a:t>質問して、困りごとを具体的にする</a:t>
            </a:r>
            <a:endParaRPr lang="en-US" sz="1050" dirty="0"/>
          </a:p>
        </p:txBody>
      </p:sp>
      <p:sp>
        <p:nvSpPr>
          <p:cNvPr id="21" name="Shape 19"/>
          <p:cNvSpPr/>
          <p:nvPr/>
        </p:nvSpPr>
        <p:spPr>
          <a:xfrm>
            <a:off x="4283354" y="1417320"/>
            <a:ext cx="1757629" cy="2240280"/>
          </a:xfrm>
          <a:prstGeom prst="rect">
            <a:avLst/>
          </a:prstGeom>
          <a:solidFill>
            <a:srgbClr val="2A2D33"/>
          </a:solidFill>
          <a:ln/>
        </p:spPr>
      </p:sp>
      <p:sp>
        <p:nvSpPr>
          <p:cNvPr id="22" name="Text 20"/>
          <p:cNvSpPr txBox="1"/>
          <p:nvPr/>
        </p:nvSpPr>
        <p:spPr>
          <a:xfrm>
            <a:off x="4420514" y="1536192"/>
            <a:ext cx="1483309" cy="228600"/>
          </a:xfrm>
          <a:prstGeom prst="rect">
            <a:avLst/>
          </a:prstGeom>
          <a:noFill/>
          <a:ln/>
        </p:spPr>
        <p:txBody>
          <a:bodyPr wrap="square" lIns="0" tIns="0" rIns="0" bIns="0" rtlCol="0" anchor="t"/>
          <a:lstStyle/>
          <a:p>
            <a:pPr indent="0" marL="0">
              <a:buNone/>
            </a:pPr>
            <a:r>
              <a:rPr lang="en-US" sz="900" dirty="0">
                <a:solidFill>
                  <a:srgbClr val="8A939D"/>
                </a:solidFill>
                <a:latin typeface="Meiryo" pitchFamily="34" charset="0"/>
                <a:ea typeface="Meiryo" pitchFamily="34" charset="-122"/>
                <a:cs typeface="Meiryo" pitchFamily="34" charset="-120"/>
              </a:rPr>
              <a:t>15〜30分</a:t>
            </a:r>
            <a:endParaRPr lang="en-US" sz="900" dirty="0"/>
          </a:p>
        </p:txBody>
      </p:sp>
      <p:sp>
        <p:nvSpPr>
          <p:cNvPr id="23" name="Text 21"/>
          <p:cNvSpPr txBox="1"/>
          <p:nvPr/>
        </p:nvSpPr>
        <p:spPr>
          <a:xfrm>
            <a:off x="4420514" y="1783080"/>
            <a:ext cx="1483309" cy="274320"/>
          </a:xfrm>
          <a:prstGeom prst="rect">
            <a:avLst/>
          </a:prstGeom>
          <a:noFill/>
          <a:ln/>
        </p:spPr>
        <p:txBody>
          <a:bodyPr wrap="square" lIns="0" tIns="0" rIns="0" bIns="0" rtlCol="0" anchor="t"/>
          <a:lstStyle/>
          <a:p>
            <a:pPr indent="0" marL="0">
              <a:buNone/>
            </a:pPr>
            <a:r>
              <a:rPr lang="en-US" sz="1100" b="1" spc="50" kern="0" dirty="0">
                <a:solidFill>
                  <a:srgbClr val="FFFFFF"/>
                </a:solidFill>
                <a:latin typeface="Meiryo" pitchFamily="34" charset="0"/>
                <a:ea typeface="Meiryo" pitchFamily="34" charset="-122"/>
                <a:cs typeface="Meiryo" pitchFamily="34" charset="-120"/>
              </a:rPr>
              <a:t>ANALYSIS</a:t>
            </a:r>
            <a:endParaRPr lang="en-US" sz="1100" dirty="0"/>
          </a:p>
        </p:txBody>
      </p:sp>
      <p:sp>
        <p:nvSpPr>
          <p:cNvPr id="24" name="Text 22"/>
          <p:cNvSpPr txBox="1"/>
          <p:nvPr/>
        </p:nvSpPr>
        <p:spPr>
          <a:xfrm>
            <a:off x="4420514" y="2148840"/>
            <a:ext cx="148330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考える</a:t>
            </a:r>
            <a:endParaRPr lang="en-US" sz="2000" dirty="0"/>
          </a:p>
        </p:txBody>
      </p:sp>
      <p:sp>
        <p:nvSpPr>
          <p:cNvPr id="25" name="Text 23"/>
          <p:cNvSpPr txBox="1"/>
          <p:nvPr/>
        </p:nvSpPr>
        <p:spPr>
          <a:xfrm>
            <a:off x="4420514" y="2697480"/>
            <a:ext cx="1483309" cy="868680"/>
          </a:xfrm>
          <a:prstGeom prst="rect">
            <a:avLst/>
          </a:prstGeom>
          <a:noFill/>
          <a:ln/>
        </p:spPr>
        <p:txBody>
          <a:bodyPr wrap="square" lIns="0" tIns="0" rIns="0" bIns="0" rtlCol="0" anchor="t"/>
          <a:lstStyle/>
          <a:p>
            <a:pPr indent="0" marL="0">
              <a:buNone/>
            </a:pPr>
            <a:r>
              <a:rPr lang="en-US" sz="1050" dirty="0">
                <a:solidFill>
                  <a:srgbClr val="C9CED4"/>
                </a:solidFill>
                <a:latin typeface="Meiryo" pitchFamily="34" charset="0"/>
                <a:ea typeface="Meiryo" pitchFamily="34" charset="-122"/>
                <a:cs typeface="Meiryo" pitchFamily="34" charset="-120"/>
              </a:rPr>
              <a:t>原因の仮説を立て、確かめ方を考える</a:t>
            </a:r>
            <a:endParaRPr lang="en-US" sz="1050" dirty="0"/>
          </a:p>
        </p:txBody>
      </p:sp>
      <p:sp>
        <p:nvSpPr>
          <p:cNvPr id="26" name="Shape 24"/>
          <p:cNvSpPr/>
          <p:nvPr/>
        </p:nvSpPr>
        <p:spPr>
          <a:xfrm>
            <a:off x="6150712" y="1417320"/>
            <a:ext cx="1757629" cy="2240280"/>
          </a:xfrm>
          <a:prstGeom prst="rect">
            <a:avLst/>
          </a:prstGeom>
          <a:solidFill>
            <a:srgbClr val="2A2D33"/>
          </a:solidFill>
          <a:ln/>
        </p:spPr>
      </p:sp>
      <p:sp>
        <p:nvSpPr>
          <p:cNvPr id="27" name="Text 25"/>
          <p:cNvSpPr txBox="1"/>
          <p:nvPr/>
        </p:nvSpPr>
        <p:spPr>
          <a:xfrm>
            <a:off x="6287872" y="1536192"/>
            <a:ext cx="1483309" cy="228600"/>
          </a:xfrm>
          <a:prstGeom prst="rect">
            <a:avLst/>
          </a:prstGeom>
          <a:noFill/>
          <a:ln/>
        </p:spPr>
        <p:txBody>
          <a:bodyPr wrap="square" lIns="0" tIns="0" rIns="0" bIns="0" rtlCol="0" anchor="t"/>
          <a:lstStyle/>
          <a:p>
            <a:pPr indent="0" marL="0">
              <a:buNone/>
            </a:pPr>
            <a:r>
              <a:rPr lang="en-US" sz="900" dirty="0">
                <a:solidFill>
                  <a:srgbClr val="8A939D"/>
                </a:solidFill>
                <a:latin typeface="Meiryo" pitchFamily="34" charset="0"/>
                <a:ea typeface="Meiryo" pitchFamily="34" charset="-122"/>
                <a:cs typeface="Meiryo" pitchFamily="34" charset="-120"/>
              </a:rPr>
              <a:t>30〜40分</a:t>
            </a:r>
            <a:endParaRPr lang="en-US" sz="900" dirty="0"/>
          </a:p>
        </p:txBody>
      </p:sp>
      <p:sp>
        <p:nvSpPr>
          <p:cNvPr id="28" name="Text 26"/>
          <p:cNvSpPr txBox="1"/>
          <p:nvPr/>
        </p:nvSpPr>
        <p:spPr>
          <a:xfrm>
            <a:off x="6287872" y="1783080"/>
            <a:ext cx="1483309" cy="274320"/>
          </a:xfrm>
          <a:prstGeom prst="rect">
            <a:avLst/>
          </a:prstGeom>
          <a:noFill/>
          <a:ln/>
        </p:spPr>
        <p:txBody>
          <a:bodyPr wrap="square" lIns="0" tIns="0" rIns="0" bIns="0" rtlCol="0" anchor="t"/>
          <a:lstStyle/>
          <a:p>
            <a:pPr indent="0" marL="0">
              <a:buNone/>
            </a:pPr>
            <a:r>
              <a:rPr lang="en-US" sz="1100" b="1" spc="50" kern="0" dirty="0">
                <a:solidFill>
                  <a:srgbClr val="FFFFFF"/>
                </a:solidFill>
                <a:latin typeface="Meiryo" pitchFamily="34" charset="0"/>
                <a:ea typeface="Meiryo" pitchFamily="34" charset="-122"/>
                <a:cs typeface="Meiryo" pitchFamily="34" charset="-120"/>
              </a:rPr>
              <a:t>DISCOVERY</a:t>
            </a:r>
            <a:endParaRPr lang="en-US" sz="1100" dirty="0"/>
          </a:p>
        </p:txBody>
      </p:sp>
      <p:sp>
        <p:nvSpPr>
          <p:cNvPr id="29" name="Text 27"/>
          <p:cNvSpPr txBox="1"/>
          <p:nvPr/>
        </p:nvSpPr>
        <p:spPr>
          <a:xfrm>
            <a:off x="6287872" y="2148840"/>
            <a:ext cx="148330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発見する</a:t>
            </a:r>
            <a:endParaRPr lang="en-US" sz="2000" dirty="0"/>
          </a:p>
        </p:txBody>
      </p:sp>
      <p:sp>
        <p:nvSpPr>
          <p:cNvPr id="30" name="Text 28"/>
          <p:cNvSpPr txBox="1"/>
          <p:nvPr/>
        </p:nvSpPr>
        <p:spPr>
          <a:xfrm>
            <a:off x="6287872" y="2697480"/>
            <a:ext cx="1483309" cy="868680"/>
          </a:xfrm>
          <a:prstGeom prst="rect">
            <a:avLst/>
          </a:prstGeom>
          <a:noFill/>
          <a:ln/>
        </p:spPr>
        <p:txBody>
          <a:bodyPr wrap="square" lIns="0" tIns="0" rIns="0" bIns="0" rtlCol="0" anchor="t"/>
          <a:lstStyle/>
          <a:p>
            <a:pPr indent="0" marL="0">
              <a:buNone/>
            </a:pPr>
            <a:r>
              <a:rPr lang="en-US" sz="1050" dirty="0">
                <a:solidFill>
                  <a:srgbClr val="C9CED4"/>
                </a:solidFill>
                <a:latin typeface="Meiryo" pitchFamily="34" charset="0"/>
                <a:ea typeface="Meiryo" pitchFamily="34" charset="-122"/>
                <a:cs typeface="Meiryo" pitchFamily="34" charset="-120"/>
              </a:rPr>
              <a:t>お客様が本当に実現したいことを見つける</a:t>
            </a:r>
            <a:endParaRPr lang="en-US" sz="1050" dirty="0"/>
          </a:p>
        </p:txBody>
      </p:sp>
      <p:sp>
        <p:nvSpPr>
          <p:cNvPr id="31" name="Shape 29"/>
          <p:cNvSpPr/>
          <p:nvPr/>
        </p:nvSpPr>
        <p:spPr>
          <a:xfrm>
            <a:off x="8018069" y="1417320"/>
            <a:ext cx="1757629" cy="2240280"/>
          </a:xfrm>
          <a:prstGeom prst="rect">
            <a:avLst/>
          </a:prstGeom>
          <a:solidFill>
            <a:srgbClr val="E60012"/>
          </a:solidFill>
          <a:ln/>
        </p:spPr>
      </p:sp>
      <p:sp>
        <p:nvSpPr>
          <p:cNvPr id="32" name="Text 30"/>
          <p:cNvSpPr txBox="1"/>
          <p:nvPr/>
        </p:nvSpPr>
        <p:spPr>
          <a:xfrm>
            <a:off x="8155229" y="1536192"/>
            <a:ext cx="1483309" cy="228600"/>
          </a:xfrm>
          <a:prstGeom prst="rect">
            <a:avLst/>
          </a:prstGeom>
          <a:noFill/>
          <a:ln/>
        </p:spPr>
        <p:txBody>
          <a:bodyPr wrap="square" lIns="0" tIns="0" rIns="0" bIns="0" rtlCol="0" anchor="t"/>
          <a:lstStyle/>
          <a:p>
            <a:pPr indent="0" marL="0">
              <a:buNone/>
            </a:pPr>
            <a:r>
              <a:rPr lang="en-US" sz="900" dirty="0">
                <a:solidFill>
                  <a:srgbClr val="FFFFFF"/>
                </a:solidFill>
                <a:latin typeface="Meiryo" pitchFamily="34" charset="0"/>
                <a:ea typeface="Meiryo" pitchFamily="34" charset="-122"/>
                <a:cs typeface="Meiryo" pitchFamily="34" charset="-120"/>
              </a:rPr>
              <a:t>40〜53分</a:t>
            </a:r>
            <a:endParaRPr lang="en-US" sz="900" dirty="0"/>
          </a:p>
        </p:txBody>
      </p:sp>
      <p:sp>
        <p:nvSpPr>
          <p:cNvPr id="33" name="Text 31"/>
          <p:cNvSpPr txBox="1"/>
          <p:nvPr/>
        </p:nvSpPr>
        <p:spPr>
          <a:xfrm>
            <a:off x="8155229" y="1783080"/>
            <a:ext cx="1483309" cy="274320"/>
          </a:xfrm>
          <a:prstGeom prst="rect">
            <a:avLst/>
          </a:prstGeom>
          <a:noFill/>
          <a:ln/>
        </p:spPr>
        <p:txBody>
          <a:bodyPr wrap="square" lIns="0" tIns="0" rIns="0" bIns="0" rtlCol="0" anchor="t"/>
          <a:lstStyle/>
          <a:p>
            <a:pPr indent="0" marL="0">
              <a:buNone/>
            </a:pPr>
            <a:r>
              <a:rPr lang="en-US" sz="1100" b="1" spc="50" kern="0" dirty="0">
                <a:solidFill>
                  <a:srgbClr val="FFFFFF"/>
                </a:solidFill>
                <a:latin typeface="Meiryo" pitchFamily="34" charset="0"/>
                <a:ea typeface="Meiryo" pitchFamily="34" charset="-122"/>
                <a:cs typeface="Meiryo" pitchFamily="34" charset="-120"/>
              </a:rPr>
              <a:t>PROPOSAL</a:t>
            </a:r>
            <a:endParaRPr lang="en-US" sz="1100" dirty="0"/>
          </a:p>
        </p:txBody>
      </p:sp>
      <p:sp>
        <p:nvSpPr>
          <p:cNvPr id="34" name="Text 32"/>
          <p:cNvSpPr txBox="1"/>
          <p:nvPr/>
        </p:nvSpPr>
        <p:spPr>
          <a:xfrm>
            <a:off x="8155229" y="2148840"/>
            <a:ext cx="148330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提案する</a:t>
            </a:r>
            <a:endParaRPr lang="en-US" sz="2000" dirty="0"/>
          </a:p>
        </p:txBody>
      </p:sp>
      <p:sp>
        <p:nvSpPr>
          <p:cNvPr id="35" name="Text 33"/>
          <p:cNvSpPr txBox="1"/>
          <p:nvPr/>
        </p:nvSpPr>
        <p:spPr>
          <a:xfrm>
            <a:off x="8155229" y="2697480"/>
            <a:ext cx="1483309" cy="868680"/>
          </a:xfrm>
          <a:prstGeom prst="rect">
            <a:avLst/>
          </a:prstGeom>
          <a:noFill/>
          <a:ln/>
        </p:spPr>
        <p:txBody>
          <a:bodyPr wrap="square" lIns="0" tIns="0" rIns="0" bIns="0" rtlCol="0" anchor="t"/>
          <a:lstStyle/>
          <a:p>
            <a:pPr indent="0" marL="0">
              <a:buNone/>
            </a:pPr>
            <a:r>
              <a:rPr lang="en-US" sz="1050" dirty="0">
                <a:solidFill>
                  <a:srgbClr val="FFFFFF"/>
                </a:solidFill>
                <a:latin typeface="Meiryo" pitchFamily="34" charset="0"/>
                <a:ea typeface="Meiryo" pitchFamily="34" charset="-122"/>
                <a:cs typeface="Meiryo" pitchFamily="34" charset="-120"/>
              </a:rPr>
              <a:t>自分の言葉で提案し、お客様の反応を得る</a:t>
            </a:r>
            <a:endParaRPr lang="en-US" sz="1050" dirty="0"/>
          </a:p>
        </p:txBody>
      </p:sp>
      <p:sp>
        <p:nvSpPr>
          <p:cNvPr id="36" name="Shape 34"/>
          <p:cNvSpPr/>
          <p:nvPr/>
        </p:nvSpPr>
        <p:spPr>
          <a:xfrm>
            <a:off x="9885426" y="1417320"/>
            <a:ext cx="1757629" cy="2240280"/>
          </a:xfrm>
          <a:prstGeom prst="rect">
            <a:avLst/>
          </a:prstGeom>
          <a:solidFill>
            <a:srgbClr val="2A2D33"/>
          </a:solidFill>
          <a:ln/>
        </p:spPr>
      </p:sp>
      <p:sp>
        <p:nvSpPr>
          <p:cNvPr id="37" name="Text 35"/>
          <p:cNvSpPr txBox="1"/>
          <p:nvPr/>
        </p:nvSpPr>
        <p:spPr>
          <a:xfrm>
            <a:off x="10022586" y="1536192"/>
            <a:ext cx="1483309" cy="228600"/>
          </a:xfrm>
          <a:prstGeom prst="rect">
            <a:avLst/>
          </a:prstGeom>
          <a:noFill/>
          <a:ln/>
        </p:spPr>
        <p:txBody>
          <a:bodyPr wrap="square" lIns="0" tIns="0" rIns="0" bIns="0" rtlCol="0" anchor="t"/>
          <a:lstStyle/>
          <a:p>
            <a:pPr indent="0" marL="0">
              <a:buNone/>
            </a:pPr>
            <a:r>
              <a:rPr lang="en-US" sz="900" dirty="0">
                <a:solidFill>
                  <a:srgbClr val="8A939D"/>
                </a:solidFill>
                <a:latin typeface="Meiryo" pitchFamily="34" charset="0"/>
                <a:ea typeface="Meiryo" pitchFamily="34" charset="-122"/>
                <a:cs typeface="Meiryo" pitchFamily="34" charset="-120"/>
              </a:rPr>
              <a:t>53〜60分</a:t>
            </a:r>
            <a:endParaRPr lang="en-US" sz="900" dirty="0"/>
          </a:p>
        </p:txBody>
      </p:sp>
      <p:sp>
        <p:nvSpPr>
          <p:cNvPr id="38" name="Text 36"/>
          <p:cNvSpPr txBox="1"/>
          <p:nvPr/>
        </p:nvSpPr>
        <p:spPr>
          <a:xfrm>
            <a:off x="10022586" y="1783080"/>
            <a:ext cx="1483309" cy="274320"/>
          </a:xfrm>
          <a:prstGeom prst="rect">
            <a:avLst/>
          </a:prstGeom>
          <a:noFill/>
          <a:ln/>
        </p:spPr>
        <p:txBody>
          <a:bodyPr wrap="square" lIns="0" tIns="0" rIns="0" bIns="0" rtlCol="0" anchor="t"/>
          <a:lstStyle/>
          <a:p>
            <a:pPr indent="0" marL="0">
              <a:buNone/>
            </a:pPr>
            <a:r>
              <a:rPr lang="en-US" sz="1100" b="1" spc="50" kern="0" dirty="0">
                <a:solidFill>
                  <a:srgbClr val="FFFFFF"/>
                </a:solidFill>
                <a:latin typeface="Meiryo" pitchFamily="34" charset="0"/>
                <a:ea typeface="Meiryo" pitchFamily="34" charset="-122"/>
                <a:cs typeface="Meiryo" pitchFamily="34" charset="-120"/>
              </a:rPr>
              <a:t>REFLECTION</a:t>
            </a:r>
            <a:endParaRPr lang="en-US" sz="1100" dirty="0"/>
          </a:p>
        </p:txBody>
      </p:sp>
      <p:sp>
        <p:nvSpPr>
          <p:cNvPr id="39" name="Text 37"/>
          <p:cNvSpPr txBox="1"/>
          <p:nvPr/>
        </p:nvSpPr>
        <p:spPr>
          <a:xfrm>
            <a:off x="10022586" y="2148840"/>
            <a:ext cx="148330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言葉にする</a:t>
            </a:r>
            <a:endParaRPr lang="en-US" sz="2000" dirty="0"/>
          </a:p>
        </p:txBody>
      </p:sp>
      <p:sp>
        <p:nvSpPr>
          <p:cNvPr id="40" name="Text 38"/>
          <p:cNvSpPr txBox="1"/>
          <p:nvPr/>
        </p:nvSpPr>
        <p:spPr>
          <a:xfrm>
            <a:off x="10022586" y="2697480"/>
            <a:ext cx="1483309" cy="868680"/>
          </a:xfrm>
          <a:prstGeom prst="rect">
            <a:avLst/>
          </a:prstGeom>
          <a:noFill/>
          <a:ln/>
        </p:spPr>
        <p:txBody>
          <a:bodyPr wrap="square" lIns="0" tIns="0" rIns="0" bIns="0" rtlCol="0" anchor="t"/>
          <a:lstStyle/>
          <a:p>
            <a:pPr indent="0" marL="0">
              <a:buNone/>
            </a:pPr>
            <a:r>
              <a:rPr lang="en-US" sz="1050" dirty="0">
                <a:solidFill>
                  <a:srgbClr val="C9CED4"/>
                </a:solidFill>
                <a:latin typeface="Meiryo" pitchFamily="34" charset="0"/>
                <a:ea typeface="Meiryo" pitchFamily="34" charset="-122"/>
                <a:cs typeface="Meiryo" pitchFamily="34" charset="-120"/>
              </a:rPr>
              <a:t>営業の仕事の面白さを言葉にする</a:t>
            </a:r>
            <a:endParaRPr lang="en-US" sz="1050" dirty="0"/>
          </a:p>
        </p:txBody>
      </p:sp>
      <p:sp>
        <p:nvSpPr>
          <p:cNvPr id="41" name="Text 39"/>
          <p:cNvSpPr txBox="1"/>
          <p:nvPr/>
        </p:nvSpPr>
        <p:spPr>
          <a:xfrm>
            <a:off x="548640" y="4069080"/>
            <a:ext cx="2743200" cy="320040"/>
          </a:xfrm>
          <a:prstGeom prst="rect">
            <a:avLst/>
          </a:prstGeom>
          <a:noFill/>
          <a:ln/>
        </p:spPr>
        <p:txBody>
          <a:bodyPr wrap="square" lIns="0" tIns="0" rIns="0" bIns="0" rtlCol="0" anchor="t"/>
          <a:lstStyle/>
          <a:p>
            <a:pPr indent="0" marL="0">
              <a:buNone/>
            </a:pPr>
            <a:r>
              <a:rPr lang="en-US" sz="1300" b="1" dirty="0">
                <a:solidFill>
                  <a:srgbClr val="E60012"/>
                </a:solidFill>
                <a:latin typeface="Meiryo" pitchFamily="34" charset="0"/>
                <a:ea typeface="Meiryo" pitchFamily="34" charset="-122"/>
                <a:cs typeface="Meiryo" pitchFamily="34" charset="-120"/>
              </a:rPr>
              <a:t>今日のルール</a:t>
            </a:r>
            <a:endParaRPr lang="en-US" sz="1300" dirty="0"/>
          </a:p>
        </p:txBody>
      </p:sp>
      <p:sp>
        <p:nvSpPr>
          <p:cNvPr id="42" name="Text 40"/>
          <p:cNvSpPr txBox="1"/>
          <p:nvPr/>
        </p:nvSpPr>
        <p:spPr>
          <a:xfrm>
            <a:off x="548640" y="4480560"/>
            <a:ext cx="10058400" cy="4114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1　正解より「なぜそう考えたか」を大切にします</a:t>
            </a:r>
            <a:endParaRPr lang="en-US" sz="1700" dirty="0"/>
          </a:p>
        </p:txBody>
      </p:sp>
      <p:sp>
        <p:nvSpPr>
          <p:cNvPr id="43" name="Text 41"/>
          <p:cNvSpPr txBox="1"/>
          <p:nvPr/>
        </p:nvSpPr>
        <p:spPr>
          <a:xfrm>
            <a:off x="548640" y="4956048"/>
            <a:ext cx="10058400" cy="4114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2　専門知識はいりません。言葉は、その場で説明します</a:t>
            </a:r>
            <a:endParaRPr lang="en-US" sz="1700" dirty="0"/>
          </a:p>
        </p:txBody>
      </p:sp>
      <p:sp>
        <p:nvSpPr>
          <p:cNvPr id="44" name="Text 42"/>
          <p:cNvSpPr txBox="1"/>
          <p:nvPr/>
        </p:nvSpPr>
        <p:spPr>
          <a:xfrm>
            <a:off x="548640" y="5431536"/>
            <a:ext cx="10058400" cy="4114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3　迷ったら、お客様の立場で考えてみましょう</a:t>
            </a:r>
            <a:endParaRPr lang="en-US" sz="17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566928"/>
            <a:ext cx="914400" cy="329184"/>
          </a:xfrm>
          <a:prstGeom prst="rect">
            <a:avLst/>
          </a:prstGeom>
          <a:solidFill>
            <a:srgbClr val="E60012"/>
          </a:solidFill>
          <a:ln/>
        </p:spPr>
      </p:sp>
      <p:sp>
        <p:nvSpPr>
          <p:cNvPr id="3" name="Text 1"/>
          <p:cNvSpPr txBox="1"/>
          <p:nvPr/>
        </p:nvSpPr>
        <p:spPr>
          <a:xfrm>
            <a:off x="548640" y="566928"/>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ミッション</a:t>
            </a:r>
            <a:endParaRPr lang="en-US" sz="1100" dirty="0"/>
          </a:p>
        </p:txBody>
      </p:sp>
      <p:sp>
        <p:nvSpPr>
          <p:cNvPr id="4" name="Text 2"/>
          <p:cNvSpPr txBox="1"/>
          <p:nvPr/>
        </p:nvSpPr>
        <p:spPr>
          <a:xfrm>
            <a:off x="1627632" y="530352"/>
            <a:ext cx="9997135"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お客様からのSOS</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VIDEO_PLACEHOLDER_01_frame"/>
          <p:cNvSpPr/>
          <p:nvPr/>
        </p:nvSpPr>
        <p:spPr>
          <a:xfrm>
            <a:off x="548640" y="1280160"/>
            <a:ext cx="6766560" cy="3803904"/>
          </a:xfrm>
          <a:prstGeom prst="rect">
            <a:avLst/>
          </a:prstGeom>
          <a:solidFill>
            <a:srgbClr val="0B0C0D"/>
          </a:solidFill>
          <a:ln/>
        </p:spPr>
      </p:sp>
      <p:pic>
        <p:nvPicPr>
          <p:cNvPr id="12" name="VIDEO_PLACEHOLDER_01" descr="【VIDEO_PLACEHOLDER_01】映像①　課題発生（仮画像）">    </p:cNvPr>
          <p:cNvPicPr>
            <a:picLocks noChangeAspect="1"/>
          </p:cNvPicPr>
          <p:nvPr/>
        </p:nvPicPr>
        <p:blipFill>
          <a:blip r:embed="rId1"/>
          <a:stretch>
            <a:fillRect/>
          </a:stretch>
        </p:blipFill>
        <p:spPr>
          <a:xfrm>
            <a:off x="550672" y="1280160"/>
            <a:ext cx="6762496" cy="3803904"/>
          </a:xfrm>
          <a:prstGeom prst="rect">
            <a:avLst/>
          </a:prstGeom>
        </p:spPr>
      </p:pic>
      <p:sp>
        <p:nvSpPr>
          <p:cNvPr id="13" name="Shape 10"/>
          <p:cNvSpPr/>
          <p:nvPr/>
        </p:nvSpPr>
        <p:spPr>
          <a:xfrm>
            <a:off x="3520440" y="2770632"/>
            <a:ext cx="822960" cy="822960"/>
          </a:xfrm>
          <a:prstGeom prst="ellipse">
            <a:avLst/>
          </a:prstGeom>
          <a:solidFill>
            <a:srgbClr val="E60012">
              <a:alpha val="90000"/>
            </a:srgbClr>
          </a:solidFill>
          <a:ln w="19050">
            <a:solidFill>
              <a:srgbClr val="FFFFFF"/>
            </a:solidFill>
            <a:prstDash val="solid"/>
          </a:ln>
        </p:spPr>
      </p:sp>
      <p:sp>
        <p:nvSpPr>
          <p:cNvPr id="14" name="Shape 11"/>
          <p:cNvSpPr/>
          <p:nvPr/>
        </p:nvSpPr>
        <p:spPr>
          <a:xfrm rot="5400000">
            <a:off x="3813048" y="2999232"/>
            <a:ext cx="365760" cy="365760"/>
          </a:xfrm>
          <a:prstGeom prst="triangle">
            <a:avLst/>
          </a:prstGeom>
          <a:solidFill>
            <a:srgbClr val="FFFFFF"/>
          </a:solidFill>
          <a:ln/>
        </p:spPr>
      </p:sp>
      <p:sp>
        <p:nvSpPr>
          <p:cNvPr id="15" name="Shape 12"/>
          <p:cNvSpPr/>
          <p:nvPr/>
        </p:nvSpPr>
        <p:spPr>
          <a:xfrm>
            <a:off x="550672" y="4773168"/>
            <a:ext cx="6762496" cy="310896"/>
          </a:xfrm>
          <a:prstGeom prst="rect">
            <a:avLst/>
          </a:prstGeom>
          <a:solidFill>
            <a:srgbClr val="000000"/>
          </a:solidFill>
          <a:ln/>
        </p:spPr>
      </p:sp>
      <p:sp>
        <p:nvSpPr>
          <p:cNvPr id="16" name="Shape 13"/>
          <p:cNvSpPr/>
          <p:nvPr/>
        </p:nvSpPr>
        <p:spPr>
          <a:xfrm>
            <a:off x="623824" y="4809744"/>
            <a:ext cx="274320" cy="237744"/>
          </a:xfrm>
          <a:prstGeom prst="rect">
            <a:avLst/>
          </a:prstGeom>
          <a:solidFill>
            <a:srgbClr val="E60012"/>
          </a:solidFill>
          <a:ln/>
        </p:spPr>
      </p:sp>
      <p:sp>
        <p:nvSpPr>
          <p:cNvPr id="17" name="Text 14"/>
          <p:cNvSpPr txBox="1"/>
          <p:nvPr/>
        </p:nvSpPr>
        <p:spPr>
          <a:xfrm>
            <a:off x="623824" y="4809744"/>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18" name="Text 15"/>
          <p:cNvSpPr txBox="1"/>
          <p:nvPr/>
        </p:nvSpPr>
        <p:spPr>
          <a:xfrm>
            <a:off x="962152" y="4773168"/>
            <a:ext cx="6305296" cy="310896"/>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【VIDEO_PLACEHOLDER_01】映像①　課題発生　後日指定動画に差し替え</a:t>
            </a:r>
            <a:endParaRPr lang="en-US" sz="800" dirty="0"/>
          </a:p>
        </p:txBody>
      </p:sp>
      <p:sp>
        <p:nvSpPr>
          <p:cNvPr id="19" name="Shape 16"/>
          <p:cNvSpPr/>
          <p:nvPr/>
        </p:nvSpPr>
        <p:spPr>
          <a:xfrm>
            <a:off x="7680960" y="1325880"/>
            <a:ext cx="658368" cy="237744"/>
          </a:xfrm>
          <a:prstGeom prst="rect">
            <a:avLst/>
          </a:prstGeom>
          <a:solidFill>
            <a:srgbClr val="E60012"/>
          </a:solidFill>
          <a:ln/>
        </p:spPr>
      </p:sp>
      <p:sp>
        <p:nvSpPr>
          <p:cNvPr id="20" name="Text 17"/>
          <p:cNvSpPr txBox="1"/>
          <p:nvPr/>
        </p:nvSpPr>
        <p:spPr>
          <a:xfrm>
            <a:off x="7680960" y="1325880"/>
            <a:ext cx="6583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お客様</a:t>
            </a:r>
            <a:endParaRPr lang="en-US" sz="850" dirty="0"/>
          </a:p>
        </p:txBody>
      </p:sp>
      <p:sp>
        <p:nvSpPr>
          <p:cNvPr id="21" name="Text 18"/>
          <p:cNvSpPr txBox="1"/>
          <p:nvPr/>
        </p:nvSpPr>
        <p:spPr>
          <a:xfrm>
            <a:off x="8549640" y="1325880"/>
            <a:ext cx="3017520" cy="237744"/>
          </a:xfrm>
          <a:prstGeom prst="rect">
            <a:avLst/>
          </a:prstGeom>
          <a:noFill/>
          <a:ln/>
        </p:spPr>
        <p:txBody>
          <a:bodyPr wrap="square" lIns="0" tIns="0" rIns="0" bIns="0" rtlCol="0" anchor="ctr"/>
          <a:lstStyle/>
          <a:p>
            <a:pPr indent="0" marL="0">
              <a:buNone/>
            </a:pPr>
            <a:r>
              <a:rPr lang="en-US" sz="900" dirty="0">
                <a:solidFill>
                  <a:srgbClr val="8A939D"/>
                </a:solidFill>
                <a:latin typeface="Meiryo" pitchFamily="34" charset="0"/>
                <a:ea typeface="Meiryo" pitchFamily="34" charset="-122"/>
                <a:cs typeface="Meiryo" pitchFamily="34" charset="-120"/>
              </a:rPr>
              <a:t>飲料工場 設備課</a:t>
            </a:r>
            <a:endParaRPr lang="en-US" sz="900" dirty="0"/>
          </a:p>
        </p:txBody>
      </p:sp>
      <p:sp>
        <p:nvSpPr>
          <p:cNvPr id="22" name="Text 19"/>
          <p:cNvSpPr txBox="1"/>
          <p:nvPr/>
        </p:nvSpPr>
        <p:spPr>
          <a:xfrm>
            <a:off x="7680960" y="1618488"/>
            <a:ext cx="3931920" cy="329184"/>
          </a:xfrm>
          <a:prstGeom prst="rect">
            <a:avLst/>
          </a:prstGeom>
          <a:noFill/>
          <a:ln/>
        </p:spPr>
        <p:txBody>
          <a:bodyPr wrap="square" lIns="0" tIns="0" rIns="0" bIns="0" rtlCol="0" anchor="t"/>
          <a:lstStyle/>
          <a:p>
            <a:pPr indent="0" marL="0">
              <a:buNone/>
            </a:pPr>
            <a:r>
              <a:rPr lang="en-US" sz="1500" b="1" dirty="0">
                <a:solidFill>
                  <a:srgbClr val="FFFFFF"/>
                </a:solidFill>
                <a:latin typeface="Meiryo" pitchFamily="34" charset="0"/>
                <a:ea typeface="Meiryo" pitchFamily="34" charset="-122"/>
                <a:cs typeface="Meiryo" pitchFamily="34" charset="-120"/>
              </a:rPr>
              <a:t>佐藤さん</a:t>
            </a:r>
            <a:endParaRPr lang="en-US" sz="1500" dirty="0"/>
          </a:p>
        </p:txBody>
      </p:sp>
      <p:sp>
        <p:nvSpPr>
          <p:cNvPr id="23" name="Text 20"/>
          <p:cNvSpPr txBox="1"/>
          <p:nvPr/>
        </p:nvSpPr>
        <p:spPr>
          <a:xfrm>
            <a:off x="7680960" y="1984248"/>
            <a:ext cx="393192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ペットボトルの本数が合わないんです。実際より多く数えられることがあるんですよ。</a:t>
            </a:r>
            <a:endParaRPr lang="en-US" sz="1700" dirty="0"/>
          </a:p>
        </p:txBody>
      </p:sp>
      <p:sp>
        <p:nvSpPr>
          <p:cNvPr id="24" name="Shape 21"/>
          <p:cNvSpPr/>
          <p:nvPr/>
        </p:nvSpPr>
        <p:spPr>
          <a:xfrm>
            <a:off x="7680960" y="3749040"/>
            <a:ext cx="3931920" cy="1335024"/>
          </a:xfrm>
          <a:prstGeom prst="rect">
            <a:avLst/>
          </a:prstGeom>
          <a:solidFill>
            <a:srgbClr val="2A2D33"/>
          </a:solidFill>
          <a:ln/>
        </p:spPr>
      </p:sp>
      <p:sp>
        <p:nvSpPr>
          <p:cNvPr id="25" name="Text 22"/>
          <p:cNvSpPr txBox="1"/>
          <p:nvPr/>
        </p:nvSpPr>
        <p:spPr>
          <a:xfrm>
            <a:off x="7863840" y="3858768"/>
            <a:ext cx="3566160" cy="228600"/>
          </a:xfrm>
          <a:prstGeom prst="rect">
            <a:avLst/>
          </a:prstGeom>
          <a:noFill/>
          <a:ln/>
        </p:spPr>
        <p:txBody>
          <a:bodyPr wrap="square" lIns="0" tIns="0" rIns="0" bIns="0" rtlCol="0" anchor="t"/>
          <a:lstStyle/>
          <a:p>
            <a:pPr indent="0" marL="0">
              <a:buNone/>
            </a:pPr>
            <a:r>
              <a:rPr lang="en-US" sz="950" b="1" dirty="0">
                <a:solidFill>
                  <a:srgbClr val="E60012"/>
                </a:solidFill>
                <a:latin typeface="Meiryo" pitchFamily="34" charset="0"/>
                <a:ea typeface="Meiryo" pitchFamily="34" charset="-122"/>
                <a:cs typeface="Meiryo" pitchFamily="34" charset="-120"/>
              </a:rPr>
              <a:t>映像のあとで</a:t>
            </a:r>
            <a:endParaRPr lang="en-US" sz="950" dirty="0"/>
          </a:p>
        </p:txBody>
      </p:sp>
      <p:sp>
        <p:nvSpPr>
          <p:cNvPr id="26" name="Text 23"/>
          <p:cNvSpPr txBox="1"/>
          <p:nvPr/>
        </p:nvSpPr>
        <p:spPr>
          <a:xfrm>
            <a:off x="7863840" y="4133088"/>
            <a:ext cx="356616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あなたなら、まず何が気になりますか？</a:t>
            </a:r>
            <a:endParaRPr lang="en-US" sz="1700" dirty="0"/>
          </a:p>
        </p:txBody>
      </p:sp>
      <p:sp>
        <p:nvSpPr>
          <p:cNvPr id="27" name="Text 24"/>
          <p:cNvSpPr txBox="1"/>
          <p:nvPr/>
        </p:nvSpPr>
        <p:spPr>
          <a:xfrm>
            <a:off x="548640" y="5257800"/>
            <a:ext cx="6766560" cy="274320"/>
          </a:xfrm>
          <a:prstGeom prst="rect">
            <a:avLst/>
          </a:prstGeom>
          <a:noFill/>
          <a:ln/>
        </p:spPr>
        <p:txBody>
          <a:bodyPr wrap="square" lIns="0" tIns="0" rIns="0" bIns="0" rtlCol="0" anchor="t"/>
          <a:lstStyle/>
          <a:p>
            <a:pPr indent="0" marL="0">
              <a:buNone/>
            </a:pPr>
            <a:r>
              <a:rPr lang="en-US" sz="950" dirty="0">
                <a:solidFill>
                  <a:srgbClr val="8A939D"/>
                </a:solidFill>
                <a:latin typeface="Meiryo" pitchFamily="34" charset="0"/>
                <a:ea typeface="Meiryo" pitchFamily="34" charset="-122"/>
                <a:cs typeface="Meiryo" pitchFamily="34" charset="-120"/>
              </a:rPr>
              <a:t>映像は60秒以内。視聴だけで終わらせず、直後に問いかける</a:t>
            </a:r>
            <a:endParaRPr lang="en-US" sz="95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flipH="1">
            <a:off x="9052560" y="0"/>
            <a:ext cx="1463040" cy="6858000"/>
          </a:xfrm>
          <a:prstGeom prst="rtTriangle">
            <a:avLst/>
          </a:prstGeom>
          <a:solidFill>
            <a:srgbClr val="E60012"/>
          </a:solidFill>
          <a:ln/>
        </p:spPr>
      </p:sp>
      <p:sp>
        <p:nvSpPr>
          <p:cNvPr id="3" name="Shape 1"/>
          <p:cNvSpPr/>
          <p:nvPr/>
        </p:nvSpPr>
        <p:spPr>
          <a:xfrm>
            <a:off x="10515600" y="0"/>
            <a:ext cx="1676095" cy="6858000"/>
          </a:xfrm>
          <a:prstGeom prst="rect">
            <a:avLst/>
          </a:prstGeom>
          <a:solidFill>
            <a:srgbClr val="E60012"/>
          </a:solidFill>
          <a:ln/>
        </p:spPr>
      </p:sp>
      <p:sp>
        <p:nvSpPr>
          <p:cNvPr id="4" name="Text 2"/>
          <p:cNvSpPr txBox="1"/>
          <p:nvPr/>
        </p:nvSpPr>
        <p:spPr>
          <a:xfrm>
            <a:off x="548640" y="1920240"/>
            <a:ext cx="7315200"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PHASE 2 / 6　｜　5〜15分</a:t>
            </a:r>
            <a:endParaRPr lang="en-US" sz="1400" dirty="0"/>
          </a:p>
        </p:txBody>
      </p:sp>
      <p:sp>
        <p:nvSpPr>
          <p:cNvPr id="5" name="Text 3"/>
          <p:cNvSpPr txBox="1"/>
          <p:nvPr/>
        </p:nvSpPr>
        <p:spPr>
          <a:xfrm>
            <a:off x="548640" y="2377440"/>
            <a:ext cx="8229600" cy="1005840"/>
          </a:xfrm>
          <a:prstGeom prst="rect">
            <a:avLst/>
          </a:prstGeom>
          <a:noFill/>
          <a:ln/>
        </p:spPr>
        <p:txBody>
          <a:bodyPr wrap="square" lIns="0" tIns="0" rIns="0" bIns="0" rtlCol="0" anchor="t"/>
          <a:lstStyle/>
          <a:p>
            <a:pPr indent="0" marL="0">
              <a:buNone/>
            </a:pPr>
            <a:r>
              <a:rPr lang="en-US" sz="6000" b="1" dirty="0">
                <a:solidFill>
                  <a:srgbClr val="E60012"/>
                </a:solidFill>
                <a:latin typeface="Arial Black" pitchFamily="34" charset="0"/>
                <a:ea typeface="Arial Black" pitchFamily="34" charset="-122"/>
                <a:cs typeface="Arial Black" pitchFamily="34" charset="-120"/>
              </a:rPr>
              <a:t>HEARING</a:t>
            </a:r>
            <a:endParaRPr lang="en-US" sz="6000" dirty="0"/>
          </a:p>
        </p:txBody>
      </p:sp>
      <p:sp>
        <p:nvSpPr>
          <p:cNvPr id="6" name="Text 4"/>
          <p:cNvSpPr txBox="1"/>
          <p:nvPr/>
        </p:nvSpPr>
        <p:spPr>
          <a:xfrm>
            <a:off x="548640" y="3429000"/>
            <a:ext cx="8229600" cy="640080"/>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聞く</a:t>
            </a:r>
            <a:endParaRPr lang="en-US" sz="3000" dirty="0"/>
          </a:p>
        </p:txBody>
      </p:sp>
      <p:sp>
        <p:nvSpPr>
          <p:cNvPr id="7" name="Text 5"/>
          <p:cNvSpPr txBox="1"/>
          <p:nvPr/>
        </p:nvSpPr>
        <p:spPr>
          <a:xfrm>
            <a:off x="548640" y="4160520"/>
            <a:ext cx="8229600" cy="457200"/>
          </a:xfrm>
          <a:prstGeom prst="rect">
            <a:avLst/>
          </a:prstGeom>
          <a:noFill/>
          <a:ln/>
        </p:spPr>
        <p:txBody>
          <a:bodyPr wrap="square" lIns="0" tIns="0" rIns="0" bIns="0" rtlCol="0" anchor="t"/>
          <a:lstStyle/>
          <a:p>
            <a:pPr indent="0" marL="0">
              <a:buNone/>
            </a:pPr>
            <a:r>
              <a:rPr lang="en-US" sz="1700" dirty="0">
                <a:solidFill>
                  <a:srgbClr val="C9CED4"/>
                </a:solidFill>
                <a:latin typeface="Meiryo" pitchFamily="34" charset="0"/>
                <a:ea typeface="Meiryo" pitchFamily="34" charset="-122"/>
                <a:cs typeface="Meiryo" pitchFamily="34" charset="-120"/>
              </a:rPr>
              <a:t>質問して、困りごとを具体的にする</a:t>
            </a:r>
            <a:endParaRPr lang="en-US" sz="17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聞く</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問い1　最初に、何を確認しますか？</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Text 9"/>
          <p:cNvSpPr txBox="1"/>
          <p:nvPr/>
        </p:nvSpPr>
        <p:spPr>
          <a:xfrm>
            <a:off x="548640" y="1325880"/>
            <a:ext cx="11094415" cy="274320"/>
          </a:xfrm>
          <a:prstGeom prst="rect">
            <a:avLst/>
          </a:prstGeom>
          <a:noFill/>
          <a:ln/>
        </p:spPr>
        <p:txBody>
          <a:bodyPr wrap="square" lIns="0" tIns="0" rIns="0" bIns="0" rtlCol="0" anchor="t"/>
          <a:lstStyle/>
          <a:p>
            <a:pPr algn="ctr" indent="0" marL="0">
              <a:buNone/>
            </a:pPr>
            <a:r>
              <a:rPr lang="en-US" sz="1100" b="1" spc="300" kern="0" dirty="0">
                <a:solidFill>
                  <a:srgbClr val="E60012"/>
                </a:solidFill>
                <a:latin typeface="Meiryo" pitchFamily="34" charset="0"/>
                <a:ea typeface="Meiryo" pitchFamily="34" charset="-122"/>
                <a:cs typeface="Meiryo" pitchFamily="34" charset="-120"/>
              </a:rPr>
              <a:t>QUESTION</a:t>
            </a:r>
            <a:endParaRPr lang="en-US" sz="1100" dirty="0"/>
          </a:p>
        </p:txBody>
      </p:sp>
      <p:sp>
        <p:nvSpPr>
          <p:cNvPr id="12" name="Text 10"/>
          <p:cNvSpPr txBox="1"/>
          <p:nvPr/>
        </p:nvSpPr>
        <p:spPr>
          <a:xfrm>
            <a:off x="548640" y="1645920"/>
            <a:ext cx="11094415"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eiryo" pitchFamily="34" charset="0"/>
                <a:ea typeface="Meiryo" pitchFamily="34" charset="-122"/>
                <a:cs typeface="Meiryo" pitchFamily="34" charset="-120"/>
              </a:rPr>
              <a:t>最初に、何を確認しますか？</a:t>
            </a:r>
            <a:endParaRPr lang="en-US" sz="3200" dirty="0"/>
          </a:p>
        </p:txBody>
      </p:sp>
      <p:sp>
        <p:nvSpPr>
          <p:cNvPr id="13" name="Shape 11"/>
          <p:cNvSpPr/>
          <p:nvPr/>
        </p:nvSpPr>
        <p:spPr>
          <a:xfrm>
            <a:off x="883768" y="2880360"/>
            <a:ext cx="3291840" cy="1600200"/>
          </a:xfrm>
          <a:prstGeom prst="rect">
            <a:avLst/>
          </a:prstGeom>
          <a:solidFill>
            <a:srgbClr val="2A2D33"/>
          </a:solidFill>
          <a:ln w="12700">
            <a:solidFill>
              <a:srgbClr val="3A3F46"/>
            </a:solidFill>
            <a:prstDash val="solid"/>
          </a:ln>
        </p:spPr>
      </p:sp>
      <p:sp>
        <p:nvSpPr>
          <p:cNvPr id="14" name="Shape 12"/>
          <p:cNvSpPr/>
          <p:nvPr/>
        </p:nvSpPr>
        <p:spPr>
          <a:xfrm>
            <a:off x="1066648" y="3035808"/>
            <a:ext cx="384048" cy="384048"/>
          </a:xfrm>
          <a:prstGeom prst="rect">
            <a:avLst/>
          </a:prstGeom>
          <a:solidFill>
            <a:srgbClr val="E60012"/>
          </a:solidFill>
          <a:ln/>
        </p:spPr>
      </p:sp>
      <p:sp>
        <p:nvSpPr>
          <p:cNvPr id="15" name="Text 13"/>
          <p:cNvSpPr txBox="1"/>
          <p:nvPr/>
        </p:nvSpPr>
        <p:spPr>
          <a:xfrm>
            <a:off x="1066648" y="3035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a:t>
            </a:r>
            <a:endParaRPr lang="en-US" sz="1500" dirty="0"/>
          </a:p>
        </p:txBody>
      </p:sp>
      <p:sp>
        <p:nvSpPr>
          <p:cNvPr id="16" name="Text 14"/>
          <p:cNvSpPr txBox="1"/>
          <p:nvPr/>
        </p:nvSpPr>
        <p:spPr>
          <a:xfrm>
            <a:off x="1066648" y="3547872"/>
            <a:ext cx="292608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使用しているセンサを確認する</a:t>
            </a:r>
            <a:endParaRPr lang="en-US" sz="1700" dirty="0"/>
          </a:p>
        </p:txBody>
      </p:sp>
      <p:sp>
        <p:nvSpPr>
          <p:cNvPr id="17" name="Shape 15"/>
          <p:cNvSpPr/>
          <p:nvPr/>
        </p:nvSpPr>
        <p:spPr>
          <a:xfrm>
            <a:off x="4449928" y="2880360"/>
            <a:ext cx="3291840" cy="1600200"/>
          </a:xfrm>
          <a:prstGeom prst="rect">
            <a:avLst/>
          </a:prstGeom>
          <a:solidFill>
            <a:srgbClr val="2A2D33"/>
          </a:solidFill>
          <a:ln w="12700">
            <a:solidFill>
              <a:srgbClr val="3A3F46"/>
            </a:solidFill>
            <a:prstDash val="solid"/>
          </a:ln>
        </p:spPr>
      </p:sp>
      <p:sp>
        <p:nvSpPr>
          <p:cNvPr id="18" name="Shape 16"/>
          <p:cNvSpPr/>
          <p:nvPr/>
        </p:nvSpPr>
        <p:spPr>
          <a:xfrm>
            <a:off x="4632808" y="3035808"/>
            <a:ext cx="384048" cy="384048"/>
          </a:xfrm>
          <a:prstGeom prst="rect">
            <a:avLst/>
          </a:prstGeom>
          <a:solidFill>
            <a:srgbClr val="E60012"/>
          </a:solidFill>
          <a:ln/>
        </p:spPr>
      </p:sp>
      <p:sp>
        <p:nvSpPr>
          <p:cNvPr id="19" name="Text 17"/>
          <p:cNvSpPr txBox="1"/>
          <p:nvPr/>
        </p:nvSpPr>
        <p:spPr>
          <a:xfrm>
            <a:off x="4632808" y="3035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B</a:t>
            </a:r>
            <a:endParaRPr lang="en-US" sz="1500" dirty="0"/>
          </a:p>
        </p:txBody>
      </p:sp>
      <p:sp>
        <p:nvSpPr>
          <p:cNvPr id="20" name="Text 18"/>
          <p:cNvSpPr txBox="1"/>
          <p:nvPr/>
        </p:nvSpPr>
        <p:spPr>
          <a:xfrm>
            <a:off x="4632808" y="3547872"/>
            <a:ext cx="292608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いつ、どれくらい多くなるかを確認する</a:t>
            </a:r>
            <a:endParaRPr lang="en-US" sz="1700" dirty="0"/>
          </a:p>
        </p:txBody>
      </p:sp>
      <p:sp>
        <p:nvSpPr>
          <p:cNvPr id="21" name="Shape 19"/>
          <p:cNvSpPr/>
          <p:nvPr/>
        </p:nvSpPr>
        <p:spPr>
          <a:xfrm>
            <a:off x="8016088" y="2880360"/>
            <a:ext cx="3291840" cy="1600200"/>
          </a:xfrm>
          <a:prstGeom prst="rect">
            <a:avLst/>
          </a:prstGeom>
          <a:solidFill>
            <a:srgbClr val="2A2D33"/>
          </a:solidFill>
          <a:ln w="12700">
            <a:solidFill>
              <a:srgbClr val="3A3F46"/>
            </a:solidFill>
            <a:prstDash val="solid"/>
          </a:ln>
        </p:spPr>
      </p:sp>
      <p:sp>
        <p:nvSpPr>
          <p:cNvPr id="22" name="Shape 20"/>
          <p:cNvSpPr/>
          <p:nvPr/>
        </p:nvSpPr>
        <p:spPr>
          <a:xfrm>
            <a:off x="8198968" y="3035808"/>
            <a:ext cx="384048" cy="384048"/>
          </a:xfrm>
          <a:prstGeom prst="rect">
            <a:avLst/>
          </a:prstGeom>
          <a:solidFill>
            <a:srgbClr val="E60012"/>
          </a:solidFill>
          <a:ln/>
        </p:spPr>
      </p:sp>
      <p:sp>
        <p:nvSpPr>
          <p:cNvPr id="23" name="Text 21"/>
          <p:cNvSpPr txBox="1"/>
          <p:nvPr/>
        </p:nvSpPr>
        <p:spPr>
          <a:xfrm>
            <a:off x="8198968" y="3035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C</a:t>
            </a:r>
            <a:endParaRPr lang="en-US" sz="1500" dirty="0"/>
          </a:p>
        </p:txBody>
      </p:sp>
      <p:sp>
        <p:nvSpPr>
          <p:cNvPr id="24" name="Text 22"/>
          <p:cNvSpPr txBox="1"/>
          <p:nvPr/>
        </p:nvSpPr>
        <p:spPr>
          <a:xfrm>
            <a:off x="8198968" y="3547872"/>
            <a:ext cx="292608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センサ交換を提案する</a:t>
            </a:r>
            <a:endParaRPr lang="en-US" sz="1700" dirty="0"/>
          </a:p>
        </p:txBody>
      </p:sp>
      <p:sp>
        <p:nvSpPr>
          <p:cNvPr id="25" name="Shape 23"/>
          <p:cNvSpPr/>
          <p:nvPr/>
        </p:nvSpPr>
        <p:spPr>
          <a:xfrm>
            <a:off x="5661508" y="4800600"/>
            <a:ext cx="868680" cy="868680"/>
          </a:xfrm>
          <a:prstGeom prst="ellipse">
            <a:avLst/>
          </a:prstGeom>
          <a:solidFill>
            <a:srgbClr val="E60012"/>
          </a:solidFill>
          <a:ln/>
        </p:spPr>
      </p:sp>
      <p:sp>
        <p:nvSpPr>
          <p:cNvPr id="26" name="Text 24"/>
          <p:cNvSpPr txBox="1"/>
          <p:nvPr/>
        </p:nvSpPr>
        <p:spPr>
          <a:xfrm>
            <a:off x="5661508" y="4892040"/>
            <a:ext cx="86868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30</a:t>
            </a:r>
            <a:endParaRPr lang="en-US" sz="2400" dirty="0"/>
          </a:p>
          <a:p>
            <a:pPr algn="ctr" indent="0" marL="0">
              <a:buNone/>
            </a:pPr>
            <a:r>
              <a:rPr lang="en-US" sz="1000" dirty="0">
                <a:solidFill>
                  <a:srgbClr val="FFFFFF"/>
                </a:solidFill>
                <a:latin typeface="Meiryo" pitchFamily="34" charset="0"/>
                <a:ea typeface="Meiryo" pitchFamily="34" charset="-122"/>
                <a:cs typeface="Meiryo" pitchFamily="34" charset="-120"/>
              </a:rPr>
              <a:t>秒</a:t>
            </a:r>
            <a:endParaRPr lang="en-US" sz="2400" dirty="0"/>
          </a:p>
        </p:txBody>
      </p:sp>
      <p:sp>
        <p:nvSpPr>
          <p:cNvPr id="27" name="Text 25"/>
          <p:cNvSpPr txBox="1"/>
          <p:nvPr/>
        </p:nvSpPr>
        <p:spPr>
          <a:xfrm>
            <a:off x="5387188" y="5715000"/>
            <a:ext cx="1417320" cy="228600"/>
          </a:xfrm>
          <a:prstGeom prst="rect">
            <a:avLst/>
          </a:prstGeom>
          <a:noFill/>
          <a:ln/>
        </p:spPr>
        <p:txBody>
          <a:bodyPr wrap="square" lIns="0" tIns="0" rIns="0" bIns="0" rtlCol="0" anchor="t"/>
          <a:lstStyle/>
          <a:p>
            <a:pPr algn="ctr" indent="0" marL="0">
              <a:buNone/>
            </a:pPr>
            <a:r>
              <a:rPr lang="en-US" sz="900" dirty="0">
                <a:solidFill>
                  <a:srgbClr val="8A939D"/>
                </a:solidFill>
                <a:latin typeface="Meiryo" pitchFamily="34" charset="0"/>
                <a:ea typeface="Meiryo" pitchFamily="34" charset="-122"/>
                <a:cs typeface="Meiryo" pitchFamily="34" charset="-120"/>
              </a:rPr>
              <a:t>考える時間</a:t>
            </a:r>
            <a:endParaRPr lang="en-US" sz="900" dirty="0"/>
          </a:p>
        </p:txBody>
      </p:sp>
      <p:sp>
        <p:nvSpPr>
          <p:cNvPr id="28" name="Text 26"/>
          <p:cNvSpPr txBox="1"/>
          <p:nvPr/>
        </p:nvSpPr>
        <p:spPr>
          <a:xfrm>
            <a:off x="6918808" y="5074920"/>
            <a:ext cx="3200400" cy="320040"/>
          </a:xfrm>
          <a:prstGeom prst="rect">
            <a:avLst/>
          </a:prstGeom>
          <a:noFill/>
          <a:ln/>
        </p:spPr>
        <p:txBody>
          <a:bodyPr wrap="square" lIns="0" tIns="0" rIns="0" bIns="0" rtlCol="0" anchor="t"/>
          <a:lstStyle/>
          <a:p>
            <a:pPr indent="0" marL="0">
              <a:buNone/>
            </a:pPr>
            <a:r>
              <a:rPr lang="en-US" sz="1200" dirty="0">
                <a:solidFill>
                  <a:srgbClr val="8A939D"/>
                </a:solidFill>
                <a:latin typeface="Meiryo" pitchFamily="34" charset="0"/>
                <a:ea typeface="Meiryo" pitchFamily="34" charset="-122"/>
                <a:cs typeface="Meiryo" pitchFamily="34" charset="-120"/>
              </a:rPr>
              <a:t>選んだら、理由をひとことメモ</a:t>
            </a:r>
            <a:endParaRPr lang="en-US" sz="12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聞く</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聞いてみると　お客様の答え</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280160"/>
            <a:ext cx="3520440" cy="37947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2" name="Shape 10"/>
          <p:cNvSpPr/>
          <p:nvPr/>
        </p:nvSpPr>
        <p:spPr>
          <a:xfrm>
            <a:off x="777240" y="1463040"/>
            <a:ext cx="365760" cy="365760"/>
          </a:xfrm>
          <a:prstGeom prst="rect">
            <a:avLst/>
          </a:prstGeom>
          <a:solidFill>
            <a:srgbClr val="141517"/>
          </a:solidFill>
          <a:ln/>
        </p:spPr>
      </p:sp>
      <p:sp>
        <p:nvSpPr>
          <p:cNvPr id="13" name="Text 11"/>
          <p:cNvSpPr txBox="1"/>
          <p:nvPr/>
        </p:nvSpPr>
        <p:spPr>
          <a:xfrm>
            <a:off x="777240" y="1463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a:t>
            </a:r>
            <a:endParaRPr lang="en-US" sz="1400" dirty="0"/>
          </a:p>
        </p:txBody>
      </p:sp>
      <p:sp>
        <p:nvSpPr>
          <p:cNvPr id="14" name="Text 12"/>
          <p:cNvSpPr txBox="1"/>
          <p:nvPr/>
        </p:nvSpPr>
        <p:spPr>
          <a:xfrm>
            <a:off x="1261872" y="1463040"/>
            <a:ext cx="2606040" cy="365760"/>
          </a:xfrm>
          <a:prstGeom prst="rect">
            <a:avLst/>
          </a:prstGeom>
          <a:noFill/>
          <a:ln/>
        </p:spPr>
        <p:txBody>
          <a:bodyPr wrap="square" lIns="0" tIns="0" rIns="0" bIns="0" rtlCol="0" anchor="ctr"/>
          <a:lstStyle/>
          <a:p>
            <a:pPr indent="0" marL="0">
              <a:buNone/>
            </a:pPr>
            <a:r>
              <a:rPr lang="en-US" sz="1500" b="1" dirty="0">
                <a:solidFill>
                  <a:srgbClr val="1E2126"/>
                </a:solidFill>
                <a:latin typeface="Meiryo" pitchFamily="34" charset="0"/>
                <a:ea typeface="Meiryo" pitchFamily="34" charset="-122"/>
                <a:cs typeface="Meiryo" pitchFamily="34" charset="-120"/>
              </a:rPr>
              <a:t>センサを確認</a:t>
            </a:r>
            <a:endParaRPr lang="en-US" sz="1500" dirty="0"/>
          </a:p>
        </p:txBody>
      </p:sp>
      <p:sp>
        <p:nvSpPr>
          <p:cNvPr id="15" name="Text 13"/>
          <p:cNvSpPr txBox="1"/>
          <p:nvPr/>
        </p:nvSpPr>
        <p:spPr>
          <a:xfrm>
            <a:off x="777240" y="2011680"/>
            <a:ext cx="3063240" cy="228600"/>
          </a:xfrm>
          <a:prstGeom prst="rect">
            <a:avLst/>
          </a:prstGeom>
          <a:noFill/>
          <a:ln/>
        </p:spPr>
        <p:txBody>
          <a:bodyPr wrap="square" lIns="0" tIns="0" rIns="0" bIns="0" rtlCol="0" anchor="t"/>
          <a:lstStyle/>
          <a:p>
            <a:pPr indent="0" marL="0">
              <a:buNone/>
            </a:pPr>
            <a:r>
              <a:rPr lang="en-US" sz="900" b="1" dirty="0">
                <a:solidFill>
                  <a:srgbClr val="5A6470"/>
                </a:solidFill>
                <a:latin typeface="Meiryo" pitchFamily="34" charset="0"/>
                <a:ea typeface="Meiryo" pitchFamily="34" charset="-122"/>
                <a:cs typeface="Meiryo" pitchFamily="34" charset="-120"/>
              </a:rPr>
              <a:t>お客様の答え</a:t>
            </a:r>
            <a:endParaRPr lang="en-US" sz="900" dirty="0"/>
          </a:p>
        </p:txBody>
      </p:sp>
      <p:sp>
        <p:nvSpPr>
          <p:cNvPr id="16" name="Text 14"/>
          <p:cNvSpPr txBox="1"/>
          <p:nvPr/>
        </p:nvSpPr>
        <p:spPr>
          <a:xfrm>
            <a:off x="777240" y="2267712"/>
            <a:ext cx="3063240" cy="1417320"/>
          </a:xfrm>
          <a:prstGeom prst="rect">
            <a:avLst/>
          </a:prstGeom>
          <a:noFill/>
          <a:ln/>
        </p:spPr>
        <p:txBody>
          <a:bodyPr wrap="square" lIns="0" tIns="0" rIns="0" bIns="0" rtlCol="0" anchor="t"/>
          <a:lstStyle/>
          <a:p>
            <a:pPr indent="0" marL="0">
              <a:buNone/>
            </a:pPr>
            <a:r>
              <a:rPr lang="en-US" sz="1300" dirty="0">
                <a:solidFill>
                  <a:srgbClr val="1E2126"/>
                </a:solidFill>
                <a:latin typeface="Meiryo" pitchFamily="34" charset="0"/>
                <a:ea typeface="Meiryo" pitchFamily="34" charset="-122"/>
                <a:cs typeface="Meiryo" pitchFamily="34" charset="-120"/>
              </a:rPr>
              <a:t>「他社製の、回帰反射型の光電センサです。」</a:t>
            </a:r>
            <a:endParaRPr lang="en-US" sz="1300" dirty="0"/>
          </a:p>
        </p:txBody>
      </p:sp>
      <p:sp>
        <p:nvSpPr>
          <p:cNvPr id="17" name="Shape 15"/>
          <p:cNvSpPr/>
          <p:nvPr/>
        </p:nvSpPr>
        <p:spPr>
          <a:xfrm>
            <a:off x="777240" y="3730752"/>
            <a:ext cx="3063240" cy="0"/>
          </a:xfrm>
          <a:prstGeom prst="line">
            <a:avLst/>
          </a:prstGeom>
          <a:noFill/>
          <a:ln w="12700">
            <a:solidFill>
              <a:srgbClr val="E6E8EB"/>
            </a:solidFill>
            <a:prstDash val="solid"/>
          </a:ln>
        </p:spPr>
      </p:sp>
      <p:sp>
        <p:nvSpPr>
          <p:cNvPr id="18" name="Text 16"/>
          <p:cNvSpPr txBox="1"/>
          <p:nvPr/>
        </p:nvSpPr>
        <p:spPr>
          <a:xfrm>
            <a:off x="777240" y="3822192"/>
            <a:ext cx="3063240" cy="228600"/>
          </a:xfrm>
          <a:prstGeom prst="rect">
            <a:avLst/>
          </a:prstGeom>
          <a:noFill/>
          <a:ln/>
        </p:spPr>
        <p:txBody>
          <a:bodyPr wrap="square" lIns="0" tIns="0" rIns="0" bIns="0" rtlCol="0" anchor="t"/>
          <a:lstStyle/>
          <a:p>
            <a:pPr indent="0" marL="0">
              <a:buNone/>
            </a:pPr>
            <a:r>
              <a:rPr lang="en-US" sz="900" b="1" dirty="0">
                <a:solidFill>
                  <a:srgbClr val="5A6470"/>
                </a:solidFill>
                <a:latin typeface="Meiryo" pitchFamily="34" charset="0"/>
                <a:ea typeface="Meiryo" pitchFamily="34" charset="-122"/>
                <a:cs typeface="Meiryo" pitchFamily="34" charset="-120"/>
              </a:rPr>
              <a:t>分かったこと</a:t>
            </a:r>
            <a:endParaRPr lang="en-US" sz="900" dirty="0"/>
          </a:p>
        </p:txBody>
      </p:sp>
      <p:sp>
        <p:nvSpPr>
          <p:cNvPr id="19" name="Text 17"/>
          <p:cNvSpPr txBox="1"/>
          <p:nvPr/>
        </p:nvSpPr>
        <p:spPr>
          <a:xfrm>
            <a:off x="777240" y="4069080"/>
            <a:ext cx="3063240" cy="914400"/>
          </a:xfrm>
          <a:prstGeom prst="rect">
            <a:avLst/>
          </a:prstGeom>
          <a:noFill/>
          <a:ln/>
        </p:spPr>
        <p:txBody>
          <a:bodyPr wrap="square" lIns="0" tIns="0" rIns="0" bIns="0" rtlCol="0" anchor="t"/>
          <a:lstStyle/>
          <a:p>
            <a:pPr indent="0" marL="0">
              <a:buNone/>
            </a:pPr>
            <a:r>
              <a:rPr lang="en-US" sz="1250" b="1" dirty="0">
                <a:solidFill>
                  <a:srgbClr val="1E2126"/>
                </a:solidFill>
                <a:latin typeface="Meiryo" pitchFamily="34" charset="0"/>
                <a:ea typeface="Meiryo" pitchFamily="34" charset="-122"/>
                <a:cs typeface="Meiryo" pitchFamily="34" charset="-120"/>
              </a:rPr>
              <a:t>使っている機器は分かった。困りごとの大きさは、まだ分からない</a:t>
            </a:r>
            <a:endParaRPr lang="en-US" sz="1250" dirty="0"/>
          </a:p>
        </p:txBody>
      </p:sp>
      <p:sp>
        <p:nvSpPr>
          <p:cNvPr id="20" name="Shape 18"/>
          <p:cNvSpPr/>
          <p:nvPr/>
        </p:nvSpPr>
        <p:spPr>
          <a:xfrm>
            <a:off x="4270248" y="1280160"/>
            <a:ext cx="3520440" cy="3794760"/>
          </a:xfrm>
          <a:prstGeom prst="rect">
            <a:avLst/>
          </a:prstGeom>
          <a:solidFill>
            <a:srgbClr val="FFFFFF"/>
          </a:solidFill>
          <a:ln w="31750">
            <a:solidFill>
              <a:srgbClr val="E60012"/>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4498848" y="1463040"/>
            <a:ext cx="365760" cy="365760"/>
          </a:xfrm>
          <a:prstGeom prst="rect">
            <a:avLst/>
          </a:prstGeom>
          <a:solidFill>
            <a:srgbClr val="E60012"/>
          </a:solidFill>
          <a:ln/>
        </p:spPr>
      </p:sp>
      <p:sp>
        <p:nvSpPr>
          <p:cNvPr id="22" name="Text 20"/>
          <p:cNvSpPr txBox="1"/>
          <p:nvPr/>
        </p:nvSpPr>
        <p:spPr>
          <a:xfrm>
            <a:off x="4498848" y="1463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B</a:t>
            </a:r>
            <a:endParaRPr lang="en-US" sz="1400" dirty="0"/>
          </a:p>
        </p:txBody>
      </p:sp>
      <p:sp>
        <p:nvSpPr>
          <p:cNvPr id="23" name="Text 21"/>
          <p:cNvSpPr txBox="1"/>
          <p:nvPr/>
        </p:nvSpPr>
        <p:spPr>
          <a:xfrm>
            <a:off x="4983480" y="1463040"/>
            <a:ext cx="2606040" cy="365760"/>
          </a:xfrm>
          <a:prstGeom prst="rect">
            <a:avLst/>
          </a:prstGeom>
          <a:noFill/>
          <a:ln/>
        </p:spPr>
        <p:txBody>
          <a:bodyPr wrap="square" lIns="0" tIns="0" rIns="0" bIns="0" rtlCol="0" anchor="ctr"/>
          <a:lstStyle/>
          <a:p>
            <a:pPr indent="0" marL="0">
              <a:buNone/>
            </a:pPr>
            <a:r>
              <a:rPr lang="en-US" sz="1500" b="1" dirty="0">
                <a:solidFill>
                  <a:srgbClr val="1E2126"/>
                </a:solidFill>
                <a:latin typeface="Meiryo" pitchFamily="34" charset="0"/>
                <a:ea typeface="Meiryo" pitchFamily="34" charset="-122"/>
                <a:cs typeface="Meiryo" pitchFamily="34" charset="-120"/>
              </a:rPr>
              <a:t>いつ・どれくらい</a:t>
            </a:r>
            <a:endParaRPr lang="en-US" sz="1500" dirty="0"/>
          </a:p>
        </p:txBody>
      </p:sp>
      <p:sp>
        <p:nvSpPr>
          <p:cNvPr id="24" name="Shape 22"/>
          <p:cNvSpPr/>
          <p:nvPr/>
        </p:nvSpPr>
        <p:spPr>
          <a:xfrm>
            <a:off x="6693408" y="1024128"/>
            <a:ext cx="914400" cy="274320"/>
          </a:xfrm>
          <a:prstGeom prst="rect">
            <a:avLst/>
          </a:prstGeom>
          <a:solidFill>
            <a:srgbClr val="E60012"/>
          </a:solidFill>
          <a:ln/>
        </p:spPr>
      </p:sp>
      <p:sp>
        <p:nvSpPr>
          <p:cNvPr id="25" name="Text 23"/>
          <p:cNvSpPr txBox="1"/>
          <p:nvPr/>
        </p:nvSpPr>
        <p:spPr>
          <a:xfrm>
            <a:off x="6693408" y="102412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おすすめ</a:t>
            </a:r>
            <a:endParaRPr lang="en-US" sz="1000" dirty="0"/>
          </a:p>
        </p:txBody>
      </p:sp>
      <p:sp>
        <p:nvSpPr>
          <p:cNvPr id="26" name="Text 24"/>
          <p:cNvSpPr txBox="1"/>
          <p:nvPr/>
        </p:nvSpPr>
        <p:spPr>
          <a:xfrm>
            <a:off x="4498848" y="2011680"/>
            <a:ext cx="3063240" cy="228600"/>
          </a:xfrm>
          <a:prstGeom prst="rect">
            <a:avLst/>
          </a:prstGeom>
          <a:noFill/>
          <a:ln/>
        </p:spPr>
        <p:txBody>
          <a:bodyPr wrap="square" lIns="0" tIns="0" rIns="0" bIns="0" rtlCol="0" anchor="t"/>
          <a:lstStyle/>
          <a:p>
            <a:pPr indent="0" marL="0">
              <a:buNone/>
            </a:pPr>
            <a:r>
              <a:rPr lang="en-US" sz="900" b="1" dirty="0">
                <a:solidFill>
                  <a:srgbClr val="5A6470"/>
                </a:solidFill>
                <a:latin typeface="Meiryo" pitchFamily="34" charset="0"/>
                <a:ea typeface="Meiryo" pitchFamily="34" charset="-122"/>
                <a:cs typeface="Meiryo" pitchFamily="34" charset="-120"/>
              </a:rPr>
              <a:t>お客様の答え</a:t>
            </a:r>
            <a:endParaRPr lang="en-US" sz="900" dirty="0"/>
          </a:p>
        </p:txBody>
      </p:sp>
      <p:sp>
        <p:nvSpPr>
          <p:cNvPr id="27" name="Text 25"/>
          <p:cNvSpPr txBox="1"/>
          <p:nvPr/>
        </p:nvSpPr>
        <p:spPr>
          <a:xfrm>
            <a:off x="4498848" y="2267712"/>
            <a:ext cx="3063240" cy="1417320"/>
          </a:xfrm>
          <a:prstGeom prst="rect">
            <a:avLst/>
          </a:prstGeom>
          <a:noFill/>
          <a:ln/>
        </p:spPr>
        <p:txBody>
          <a:bodyPr wrap="square" lIns="0" tIns="0" rIns="0" bIns="0" rtlCol="0" anchor="t"/>
          <a:lstStyle/>
          <a:p>
            <a:pPr indent="0" marL="0">
              <a:buNone/>
            </a:pPr>
            <a:r>
              <a:rPr lang="en-US" sz="1300" dirty="0">
                <a:solidFill>
                  <a:srgbClr val="1E2126"/>
                </a:solidFill>
                <a:latin typeface="Meiryo" pitchFamily="34" charset="0"/>
                <a:ea typeface="Meiryo" pitchFamily="34" charset="-122"/>
                <a:cs typeface="Meiryo" pitchFamily="34" charset="-120"/>
              </a:rPr>
              <a:t>「通常は0.5〜0.8％ほど多くて、多い週は3％くらい。ボトルの流れが乱れたときに起こる気がします。」</a:t>
            </a:r>
            <a:endParaRPr lang="en-US" sz="1300" dirty="0"/>
          </a:p>
        </p:txBody>
      </p:sp>
      <p:sp>
        <p:nvSpPr>
          <p:cNvPr id="28" name="Shape 26"/>
          <p:cNvSpPr/>
          <p:nvPr/>
        </p:nvSpPr>
        <p:spPr>
          <a:xfrm>
            <a:off x="4498848" y="3730752"/>
            <a:ext cx="3063240" cy="0"/>
          </a:xfrm>
          <a:prstGeom prst="line">
            <a:avLst/>
          </a:prstGeom>
          <a:noFill/>
          <a:ln w="12700">
            <a:solidFill>
              <a:srgbClr val="E6E8EB"/>
            </a:solidFill>
            <a:prstDash val="solid"/>
          </a:ln>
        </p:spPr>
      </p:sp>
      <p:sp>
        <p:nvSpPr>
          <p:cNvPr id="29" name="Text 27"/>
          <p:cNvSpPr txBox="1"/>
          <p:nvPr/>
        </p:nvSpPr>
        <p:spPr>
          <a:xfrm>
            <a:off x="4498848" y="3822192"/>
            <a:ext cx="3063240" cy="228600"/>
          </a:xfrm>
          <a:prstGeom prst="rect">
            <a:avLst/>
          </a:prstGeom>
          <a:noFill/>
          <a:ln/>
        </p:spPr>
        <p:txBody>
          <a:bodyPr wrap="square" lIns="0" tIns="0" rIns="0" bIns="0" rtlCol="0" anchor="t"/>
          <a:lstStyle/>
          <a:p>
            <a:pPr indent="0" marL="0">
              <a:buNone/>
            </a:pPr>
            <a:r>
              <a:rPr lang="en-US" sz="900" b="1" dirty="0">
                <a:solidFill>
                  <a:srgbClr val="E60012"/>
                </a:solidFill>
                <a:latin typeface="Meiryo" pitchFamily="34" charset="0"/>
                <a:ea typeface="Meiryo" pitchFamily="34" charset="-122"/>
                <a:cs typeface="Meiryo" pitchFamily="34" charset="-120"/>
              </a:rPr>
              <a:t>分かったこと</a:t>
            </a:r>
            <a:endParaRPr lang="en-US" sz="900" dirty="0"/>
          </a:p>
        </p:txBody>
      </p:sp>
      <p:sp>
        <p:nvSpPr>
          <p:cNvPr id="30" name="Text 28"/>
          <p:cNvSpPr txBox="1"/>
          <p:nvPr/>
        </p:nvSpPr>
        <p:spPr>
          <a:xfrm>
            <a:off x="4498848" y="4069080"/>
            <a:ext cx="3063240" cy="914400"/>
          </a:xfrm>
          <a:prstGeom prst="rect">
            <a:avLst/>
          </a:prstGeom>
          <a:noFill/>
          <a:ln/>
        </p:spPr>
        <p:txBody>
          <a:bodyPr wrap="square" lIns="0" tIns="0" rIns="0" bIns="0" rtlCol="0" anchor="t"/>
          <a:lstStyle/>
          <a:p>
            <a:pPr indent="0" marL="0">
              <a:buNone/>
            </a:pPr>
            <a:r>
              <a:rPr lang="en-US" sz="1250" b="1" dirty="0">
                <a:solidFill>
                  <a:srgbClr val="1E2126"/>
                </a:solidFill>
                <a:latin typeface="Meiryo" pitchFamily="34" charset="0"/>
                <a:ea typeface="Meiryo" pitchFamily="34" charset="-122"/>
                <a:cs typeface="Meiryo" pitchFamily="34" charset="-120"/>
              </a:rPr>
              <a:t>困りごとの大きさと、起きる条件の手がかりが分かった</a:t>
            </a:r>
            <a:endParaRPr lang="en-US" sz="1250" dirty="0"/>
          </a:p>
        </p:txBody>
      </p:sp>
      <p:sp>
        <p:nvSpPr>
          <p:cNvPr id="31" name="Shape 29"/>
          <p:cNvSpPr/>
          <p:nvPr/>
        </p:nvSpPr>
        <p:spPr>
          <a:xfrm>
            <a:off x="7991856" y="1280160"/>
            <a:ext cx="3520440" cy="37947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32" name="Shape 30"/>
          <p:cNvSpPr/>
          <p:nvPr/>
        </p:nvSpPr>
        <p:spPr>
          <a:xfrm>
            <a:off x="8220456" y="1463040"/>
            <a:ext cx="365760" cy="365760"/>
          </a:xfrm>
          <a:prstGeom prst="rect">
            <a:avLst/>
          </a:prstGeom>
          <a:solidFill>
            <a:srgbClr val="141517"/>
          </a:solidFill>
          <a:ln/>
        </p:spPr>
      </p:sp>
      <p:sp>
        <p:nvSpPr>
          <p:cNvPr id="33" name="Text 31"/>
          <p:cNvSpPr txBox="1"/>
          <p:nvPr/>
        </p:nvSpPr>
        <p:spPr>
          <a:xfrm>
            <a:off x="8220456" y="1463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C</a:t>
            </a:r>
            <a:endParaRPr lang="en-US" sz="1400" dirty="0"/>
          </a:p>
        </p:txBody>
      </p:sp>
      <p:sp>
        <p:nvSpPr>
          <p:cNvPr id="34" name="Text 32"/>
          <p:cNvSpPr txBox="1"/>
          <p:nvPr/>
        </p:nvSpPr>
        <p:spPr>
          <a:xfrm>
            <a:off x="8705088" y="1463040"/>
            <a:ext cx="2606040" cy="365760"/>
          </a:xfrm>
          <a:prstGeom prst="rect">
            <a:avLst/>
          </a:prstGeom>
          <a:noFill/>
          <a:ln/>
        </p:spPr>
        <p:txBody>
          <a:bodyPr wrap="square" lIns="0" tIns="0" rIns="0" bIns="0" rtlCol="0" anchor="ctr"/>
          <a:lstStyle/>
          <a:p>
            <a:pPr indent="0" marL="0">
              <a:buNone/>
            </a:pPr>
            <a:r>
              <a:rPr lang="en-US" sz="1500" b="1" dirty="0">
                <a:solidFill>
                  <a:srgbClr val="1E2126"/>
                </a:solidFill>
                <a:latin typeface="Meiryo" pitchFamily="34" charset="0"/>
                <a:ea typeface="Meiryo" pitchFamily="34" charset="-122"/>
                <a:cs typeface="Meiryo" pitchFamily="34" charset="-120"/>
              </a:rPr>
              <a:t>交換を提案</a:t>
            </a:r>
            <a:endParaRPr lang="en-US" sz="1500" dirty="0"/>
          </a:p>
        </p:txBody>
      </p:sp>
      <p:sp>
        <p:nvSpPr>
          <p:cNvPr id="35" name="Text 33"/>
          <p:cNvSpPr txBox="1"/>
          <p:nvPr/>
        </p:nvSpPr>
        <p:spPr>
          <a:xfrm>
            <a:off x="8220456" y="2011680"/>
            <a:ext cx="3063240" cy="228600"/>
          </a:xfrm>
          <a:prstGeom prst="rect">
            <a:avLst/>
          </a:prstGeom>
          <a:noFill/>
          <a:ln/>
        </p:spPr>
        <p:txBody>
          <a:bodyPr wrap="square" lIns="0" tIns="0" rIns="0" bIns="0" rtlCol="0" anchor="t"/>
          <a:lstStyle/>
          <a:p>
            <a:pPr indent="0" marL="0">
              <a:buNone/>
            </a:pPr>
            <a:r>
              <a:rPr lang="en-US" sz="900" b="1" dirty="0">
                <a:solidFill>
                  <a:srgbClr val="5A6470"/>
                </a:solidFill>
                <a:latin typeface="Meiryo" pitchFamily="34" charset="0"/>
                <a:ea typeface="Meiryo" pitchFamily="34" charset="-122"/>
                <a:cs typeface="Meiryo" pitchFamily="34" charset="-120"/>
              </a:rPr>
              <a:t>お客様の答え</a:t>
            </a:r>
            <a:endParaRPr lang="en-US" sz="900" dirty="0"/>
          </a:p>
        </p:txBody>
      </p:sp>
      <p:sp>
        <p:nvSpPr>
          <p:cNvPr id="36" name="Text 34"/>
          <p:cNvSpPr txBox="1"/>
          <p:nvPr/>
        </p:nvSpPr>
        <p:spPr>
          <a:xfrm>
            <a:off x="8220456" y="2267712"/>
            <a:ext cx="3063240" cy="1417320"/>
          </a:xfrm>
          <a:prstGeom prst="rect">
            <a:avLst/>
          </a:prstGeom>
          <a:noFill/>
          <a:ln/>
        </p:spPr>
        <p:txBody>
          <a:bodyPr wrap="square" lIns="0" tIns="0" rIns="0" bIns="0" rtlCol="0" anchor="t"/>
          <a:lstStyle/>
          <a:p>
            <a:pPr indent="0" marL="0">
              <a:buNone/>
            </a:pPr>
            <a:r>
              <a:rPr lang="en-US" sz="1300" dirty="0">
                <a:solidFill>
                  <a:srgbClr val="1E2126"/>
                </a:solidFill>
                <a:latin typeface="Meiryo" pitchFamily="34" charset="0"/>
                <a:ea typeface="Meiryo" pitchFamily="34" charset="-122"/>
                <a:cs typeface="Meiryo" pitchFamily="34" charset="-120"/>
              </a:rPr>
              <a:t>「まだ原因が分からないので、交換が必要かどうか判断できません。」</a:t>
            </a:r>
            <a:endParaRPr lang="en-US" sz="1300" dirty="0"/>
          </a:p>
        </p:txBody>
      </p:sp>
      <p:sp>
        <p:nvSpPr>
          <p:cNvPr id="37" name="Shape 35"/>
          <p:cNvSpPr/>
          <p:nvPr/>
        </p:nvSpPr>
        <p:spPr>
          <a:xfrm>
            <a:off x="8220456" y="3730752"/>
            <a:ext cx="3063240" cy="0"/>
          </a:xfrm>
          <a:prstGeom prst="line">
            <a:avLst/>
          </a:prstGeom>
          <a:noFill/>
          <a:ln w="12700">
            <a:solidFill>
              <a:srgbClr val="E6E8EB"/>
            </a:solidFill>
            <a:prstDash val="solid"/>
          </a:ln>
        </p:spPr>
      </p:sp>
      <p:sp>
        <p:nvSpPr>
          <p:cNvPr id="38" name="Text 36"/>
          <p:cNvSpPr txBox="1"/>
          <p:nvPr/>
        </p:nvSpPr>
        <p:spPr>
          <a:xfrm>
            <a:off x="8220456" y="3822192"/>
            <a:ext cx="3063240" cy="228600"/>
          </a:xfrm>
          <a:prstGeom prst="rect">
            <a:avLst/>
          </a:prstGeom>
          <a:noFill/>
          <a:ln/>
        </p:spPr>
        <p:txBody>
          <a:bodyPr wrap="square" lIns="0" tIns="0" rIns="0" bIns="0" rtlCol="0" anchor="t"/>
          <a:lstStyle/>
          <a:p>
            <a:pPr indent="0" marL="0">
              <a:buNone/>
            </a:pPr>
            <a:r>
              <a:rPr lang="en-US" sz="900" b="1" dirty="0">
                <a:solidFill>
                  <a:srgbClr val="5A6470"/>
                </a:solidFill>
                <a:latin typeface="Meiryo" pitchFamily="34" charset="0"/>
                <a:ea typeface="Meiryo" pitchFamily="34" charset="-122"/>
                <a:cs typeface="Meiryo" pitchFamily="34" charset="-120"/>
              </a:rPr>
              <a:t>分かったこと</a:t>
            </a:r>
            <a:endParaRPr lang="en-US" sz="900" dirty="0"/>
          </a:p>
        </p:txBody>
      </p:sp>
      <p:sp>
        <p:nvSpPr>
          <p:cNvPr id="39" name="Text 37"/>
          <p:cNvSpPr txBox="1"/>
          <p:nvPr/>
        </p:nvSpPr>
        <p:spPr>
          <a:xfrm>
            <a:off x="8220456" y="4069080"/>
            <a:ext cx="3063240" cy="914400"/>
          </a:xfrm>
          <a:prstGeom prst="rect">
            <a:avLst/>
          </a:prstGeom>
          <a:noFill/>
          <a:ln/>
        </p:spPr>
        <p:txBody>
          <a:bodyPr wrap="square" lIns="0" tIns="0" rIns="0" bIns="0" rtlCol="0" anchor="t"/>
          <a:lstStyle/>
          <a:p>
            <a:pPr indent="0" marL="0">
              <a:buNone/>
            </a:pPr>
            <a:r>
              <a:rPr lang="en-US" sz="1250" b="1" dirty="0">
                <a:solidFill>
                  <a:srgbClr val="1E2126"/>
                </a:solidFill>
                <a:latin typeface="Meiryo" pitchFamily="34" charset="0"/>
                <a:ea typeface="Meiryo" pitchFamily="34" charset="-122"/>
                <a:cs typeface="Meiryo" pitchFamily="34" charset="-120"/>
              </a:rPr>
              <a:t>原因が分からないままでは、お客様は判断できない</a:t>
            </a:r>
            <a:endParaRPr lang="en-US" sz="1250" dirty="0"/>
          </a:p>
        </p:txBody>
      </p:sp>
      <p:sp>
        <p:nvSpPr>
          <p:cNvPr id="40" name="Shape 38"/>
          <p:cNvSpPr/>
          <p:nvPr/>
        </p:nvSpPr>
        <p:spPr>
          <a:xfrm>
            <a:off x="548640" y="5349240"/>
            <a:ext cx="11094415" cy="731520"/>
          </a:xfrm>
          <a:prstGeom prst="rect">
            <a:avLst/>
          </a:prstGeom>
          <a:solidFill>
            <a:srgbClr val="141517"/>
          </a:solidFill>
          <a:ln/>
        </p:spPr>
      </p:sp>
      <p:sp>
        <p:nvSpPr>
          <p:cNvPr id="41" name="Text 39"/>
          <p:cNvSpPr txBox="1"/>
          <p:nvPr/>
        </p:nvSpPr>
        <p:spPr>
          <a:xfrm>
            <a:off x="822960" y="5349240"/>
            <a:ext cx="10545775" cy="731520"/>
          </a:xfrm>
          <a:prstGeom prst="rect">
            <a:avLst/>
          </a:prstGeom>
          <a:noFill/>
          <a:ln/>
        </p:spPr>
        <p:txBody>
          <a:bodyPr wrap="square" lIns="0" tIns="0" rIns="0" bIns="0" rtlCol="0" anchor="ctr"/>
          <a:lstStyle/>
          <a:p>
            <a:pPr indent="0" marL="0">
              <a:buNone/>
            </a:pPr>
            <a:r>
              <a:rPr lang="en-US" sz="1200" b="1" dirty="0">
                <a:solidFill>
                  <a:srgbClr val="E60012"/>
                </a:solidFill>
                <a:latin typeface="Meiryo" pitchFamily="34" charset="0"/>
                <a:ea typeface="Meiryo" pitchFamily="34" charset="-122"/>
                <a:cs typeface="Meiryo" pitchFamily="34" charset="-120"/>
              </a:rPr>
              <a:t>POINT　</a:t>
            </a:r>
            <a:pPr indent="0" marL="0">
              <a:buNone/>
            </a:pPr>
            <a:r>
              <a:rPr lang="en-US" sz="1900" b="1" dirty="0">
                <a:solidFill>
                  <a:srgbClr val="FFFFFF"/>
                </a:solidFill>
                <a:latin typeface="Meiryo" pitchFamily="34" charset="0"/>
                <a:ea typeface="Meiryo" pitchFamily="34" charset="-122"/>
                <a:cs typeface="Meiryo" pitchFamily="34" charset="-120"/>
              </a:rPr>
              <a:t>売る前に、困りごとを「数字」と「条件」で具体的にする</a:t>
            </a:r>
            <a:endParaRPr lang="en-US" sz="12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聞く</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この1か月のカウント記録</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234440"/>
            <a:ext cx="6675120" cy="44805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2" name="Text 10"/>
          <p:cNvSpPr txBox="1"/>
          <p:nvPr/>
        </p:nvSpPr>
        <p:spPr>
          <a:xfrm>
            <a:off x="822960" y="1371600"/>
            <a:ext cx="6217920" cy="274320"/>
          </a:xfrm>
          <a:prstGeom prst="rect">
            <a:avLst/>
          </a:prstGeom>
          <a:noFill/>
          <a:ln/>
        </p:spPr>
        <p:txBody>
          <a:bodyPr wrap="square" lIns="0" tIns="0" rIns="0" bIns="0" rtlCol="0" anchor="t"/>
          <a:lstStyle/>
          <a:p>
            <a:pPr indent="0" marL="0">
              <a:buNone/>
            </a:pPr>
            <a:r>
              <a:rPr lang="en-US" sz="1100" b="1" dirty="0">
                <a:solidFill>
                  <a:srgbClr val="1E2126"/>
                </a:solidFill>
                <a:latin typeface="Meiryo" pitchFamily="34" charset="0"/>
                <a:ea typeface="Meiryo" pitchFamily="34" charset="-122"/>
                <a:cs typeface="Meiryo" pitchFamily="34" charset="-120"/>
              </a:rPr>
              <a:t>週ごとの誤カウント率（表示本数 − 実際の本数）÷ 実際の本数</a:t>
            </a:r>
            <a:endParaRPr lang="en-US" sz="1100" dirty="0"/>
          </a:p>
        </p:txBody>
      </p:sp>
      <p:graphicFrame>
        <p:nvGraphicFramePr>
          <p:cNvPr id="13" name="Chart 0" descr=""/>
          <p:cNvGraphicFramePr/>
          <p:nvPr/>
        </p:nvGraphicFramePr>
        <p:xfrm>
          <a:off x="731520" y="1691640"/>
          <a:ext cx="6309360" cy="388620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7543800" y="1280160"/>
            <a:ext cx="4023360" cy="274320"/>
          </a:xfrm>
          <a:prstGeom prst="rect">
            <a:avLst/>
          </a:prstGeom>
          <a:noFill/>
          <a:ln/>
        </p:spPr>
        <p:txBody>
          <a:bodyPr wrap="square" lIns="0" tIns="0" rIns="0" bIns="0" rtlCol="0" anchor="t"/>
          <a:lstStyle/>
          <a:p>
            <a:pPr indent="0" marL="0">
              <a:buNone/>
            </a:pPr>
            <a:r>
              <a:rPr lang="en-US" sz="1100" b="1" dirty="0">
                <a:solidFill>
                  <a:srgbClr val="5A6470"/>
                </a:solidFill>
                <a:latin typeface="Meiryo" pitchFamily="34" charset="0"/>
                <a:ea typeface="Meiryo" pitchFamily="34" charset="-122"/>
                <a:cs typeface="Meiryo" pitchFamily="34" charset="-120"/>
              </a:rPr>
              <a:t>1万本あたり</a:t>
            </a:r>
            <a:endParaRPr lang="en-US" sz="1100" dirty="0"/>
          </a:p>
        </p:txBody>
      </p:sp>
      <p:sp>
        <p:nvSpPr>
          <p:cNvPr id="15" name="Shape 12"/>
          <p:cNvSpPr/>
          <p:nvPr/>
        </p:nvSpPr>
        <p:spPr>
          <a:xfrm>
            <a:off x="7543800" y="1627632"/>
            <a:ext cx="4096512" cy="822960"/>
          </a:xfrm>
          <a:prstGeom prst="rect">
            <a:avLst/>
          </a:prstGeom>
          <a:solidFill>
            <a:srgbClr val="FFFFFF"/>
          </a:solidFill>
          <a:ln/>
        </p:spPr>
      </p:sp>
      <p:sp>
        <p:nvSpPr>
          <p:cNvPr id="16" name="Text 13"/>
          <p:cNvSpPr txBox="1"/>
          <p:nvPr/>
        </p:nvSpPr>
        <p:spPr>
          <a:xfrm>
            <a:off x="7699248" y="1700784"/>
            <a:ext cx="3749040" cy="228600"/>
          </a:xfrm>
          <a:prstGeom prst="rect">
            <a:avLst/>
          </a:prstGeom>
          <a:noFill/>
          <a:ln/>
        </p:spPr>
        <p:txBody>
          <a:bodyPr wrap="square" lIns="0" tIns="0" rIns="0" bIns="0" rtlCol="0" anchor="t"/>
          <a:lstStyle/>
          <a:p>
            <a:pPr indent="0" marL="0">
              <a:buNone/>
            </a:pPr>
            <a:r>
              <a:rPr lang="en-US" sz="1000" dirty="0">
                <a:solidFill>
                  <a:srgbClr val="5A6470"/>
                </a:solidFill>
                <a:latin typeface="Meiryo" pitchFamily="34" charset="0"/>
                <a:ea typeface="Meiryo" pitchFamily="34" charset="-122"/>
                <a:cs typeface="Meiryo" pitchFamily="34" charset="-120"/>
              </a:rPr>
              <a:t>実際に通ったボトル</a:t>
            </a:r>
            <a:endParaRPr lang="en-US" sz="1000" dirty="0"/>
          </a:p>
        </p:txBody>
      </p:sp>
      <p:sp>
        <p:nvSpPr>
          <p:cNvPr id="17" name="Text 14"/>
          <p:cNvSpPr txBox="1"/>
          <p:nvPr/>
        </p:nvSpPr>
        <p:spPr>
          <a:xfrm>
            <a:off x="7699248" y="1947672"/>
            <a:ext cx="3840480" cy="41148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10,000本</a:t>
            </a:r>
            <a:endParaRPr lang="en-US" sz="1500" dirty="0"/>
          </a:p>
        </p:txBody>
      </p:sp>
      <p:sp>
        <p:nvSpPr>
          <p:cNvPr id="18" name="Shape 15"/>
          <p:cNvSpPr/>
          <p:nvPr/>
        </p:nvSpPr>
        <p:spPr>
          <a:xfrm>
            <a:off x="7543800" y="2560320"/>
            <a:ext cx="4096512" cy="822960"/>
          </a:xfrm>
          <a:prstGeom prst="rect">
            <a:avLst/>
          </a:prstGeom>
          <a:solidFill>
            <a:srgbClr val="FFFFFF"/>
          </a:solidFill>
          <a:ln/>
        </p:spPr>
      </p:sp>
      <p:sp>
        <p:nvSpPr>
          <p:cNvPr id="19" name="Text 16"/>
          <p:cNvSpPr txBox="1"/>
          <p:nvPr/>
        </p:nvSpPr>
        <p:spPr>
          <a:xfrm>
            <a:off x="7699248" y="2633472"/>
            <a:ext cx="3749040" cy="228600"/>
          </a:xfrm>
          <a:prstGeom prst="rect">
            <a:avLst/>
          </a:prstGeom>
          <a:noFill/>
          <a:ln/>
        </p:spPr>
        <p:txBody>
          <a:bodyPr wrap="square" lIns="0" tIns="0" rIns="0" bIns="0" rtlCol="0" anchor="t"/>
          <a:lstStyle/>
          <a:p>
            <a:pPr indent="0" marL="0">
              <a:buNone/>
            </a:pPr>
            <a:r>
              <a:rPr lang="en-US" sz="1000" dirty="0">
                <a:solidFill>
                  <a:srgbClr val="5A6470"/>
                </a:solidFill>
                <a:latin typeface="Meiryo" pitchFamily="34" charset="0"/>
                <a:ea typeface="Meiryo" pitchFamily="34" charset="-122"/>
                <a:cs typeface="Meiryo" pitchFamily="34" charset="-120"/>
              </a:rPr>
              <a:t>通常の表示</a:t>
            </a:r>
            <a:endParaRPr lang="en-US" sz="1000" dirty="0"/>
          </a:p>
        </p:txBody>
      </p:sp>
      <p:sp>
        <p:nvSpPr>
          <p:cNvPr id="20" name="Text 17"/>
          <p:cNvSpPr txBox="1"/>
          <p:nvPr/>
        </p:nvSpPr>
        <p:spPr>
          <a:xfrm>
            <a:off x="7699248" y="2880360"/>
            <a:ext cx="3840480" cy="41148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10,050〜10,080本（＋0.5〜0.8％）</a:t>
            </a:r>
            <a:endParaRPr lang="en-US" sz="1500" dirty="0"/>
          </a:p>
        </p:txBody>
      </p:sp>
      <p:sp>
        <p:nvSpPr>
          <p:cNvPr id="21" name="Shape 18"/>
          <p:cNvSpPr/>
          <p:nvPr/>
        </p:nvSpPr>
        <p:spPr>
          <a:xfrm>
            <a:off x="7543800" y="3493008"/>
            <a:ext cx="4096512" cy="822960"/>
          </a:xfrm>
          <a:prstGeom prst="rect">
            <a:avLst/>
          </a:prstGeom>
          <a:solidFill>
            <a:srgbClr val="FDECEE"/>
          </a:solidFill>
          <a:ln/>
        </p:spPr>
      </p:sp>
      <p:sp>
        <p:nvSpPr>
          <p:cNvPr id="22" name="Text 19"/>
          <p:cNvSpPr txBox="1"/>
          <p:nvPr/>
        </p:nvSpPr>
        <p:spPr>
          <a:xfrm>
            <a:off x="7699248" y="3566160"/>
            <a:ext cx="3749040" cy="228600"/>
          </a:xfrm>
          <a:prstGeom prst="rect">
            <a:avLst/>
          </a:prstGeom>
          <a:noFill/>
          <a:ln/>
        </p:spPr>
        <p:txBody>
          <a:bodyPr wrap="square" lIns="0" tIns="0" rIns="0" bIns="0" rtlCol="0" anchor="t"/>
          <a:lstStyle/>
          <a:p>
            <a:pPr indent="0" marL="0">
              <a:buNone/>
            </a:pPr>
            <a:r>
              <a:rPr lang="en-US" sz="1000" dirty="0">
                <a:solidFill>
                  <a:srgbClr val="5A6470"/>
                </a:solidFill>
                <a:latin typeface="Meiryo" pitchFamily="34" charset="0"/>
                <a:ea typeface="Meiryo" pitchFamily="34" charset="-122"/>
                <a:cs typeface="Meiryo" pitchFamily="34" charset="-120"/>
              </a:rPr>
              <a:t>多い週の表示</a:t>
            </a:r>
            <a:endParaRPr lang="en-US" sz="1000" dirty="0"/>
          </a:p>
        </p:txBody>
      </p:sp>
      <p:sp>
        <p:nvSpPr>
          <p:cNvPr id="23" name="Text 20"/>
          <p:cNvSpPr txBox="1"/>
          <p:nvPr/>
        </p:nvSpPr>
        <p:spPr>
          <a:xfrm>
            <a:off x="7699248" y="3813048"/>
            <a:ext cx="3840480" cy="411480"/>
          </a:xfrm>
          <a:prstGeom prst="rect">
            <a:avLst/>
          </a:prstGeom>
          <a:noFill/>
          <a:ln/>
        </p:spPr>
        <p:txBody>
          <a:bodyPr wrap="square" lIns="0" tIns="0" rIns="0" bIns="0" rtlCol="0" anchor="t"/>
          <a:lstStyle/>
          <a:p>
            <a:pPr indent="0" marL="0">
              <a:buNone/>
            </a:pPr>
            <a:r>
              <a:rPr lang="en-US" sz="1500" b="1" dirty="0">
                <a:solidFill>
                  <a:srgbClr val="E60012"/>
                </a:solidFill>
                <a:latin typeface="Meiryo" pitchFamily="34" charset="0"/>
                <a:ea typeface="Meiryo" pitchFamily="34" charset="-122"/>
                <a:cs typeface="Meiryo" pitchFamily="34" charset="-120"/>
              </a:rPr>
              <a:t>10,300本（＋3.0％）</a:t>
            </a:r>
            <a:endParaRPr lang="en-US" sz="1500" dirty="0"/>
          </a:p>
        </p:txBody>
      </p:sp>
      <p:sp>
        <p:nvSpPr>
          <p:cNvPr id="24" name="Shape 21"/>
          <p:cNvSpPr/>
          <p:nvPr/>
        </p:nvSpPr>
        <p:spPr>
          <a:xfrm>
            <a:off x="7543800" y="4526280"/>
            <a:ext cx="4096512" cy="1188720"/>
          </a:xfrm>
          <a:prstGeom prst="rect">
            <a:avLst/>
          </a:prstGeom>
          <a:solidFill>
            <a:srgbClr val="141517"/>
          </a:solidFill>
          <a:ln/>
        </p:spPr>
      </p:sp>
      <p:sp>
        <p:nvSpPr>
          <p:cNvPr id="25" name="Text 22"/>
          <p:cNvSpPr txBox="1"/>
          <p:nvPr/>
        </p:nvSpPr>
        <p:spPr>
          <a:xfrm>
            <a:off x="7726680" y="4526280"/>
            <a:ext cx="3749040" cy="118872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毎週3％ではない。何かの条件で増えている</a:t>
            </a:r>
            <a:endParaRPr lang="en-US" sz="1700" dirty="0"/>
          </a:p>
        </p:txBody>
      </p:sp>
      <p:sp>
        <p:nvSpPr>
          <p:cNvPr id="26" name="Text 23"/>
          <p:cNvSpPr txBox="1"/>
          <p:nvPr/>
        </p:nvSpPr>
        <p:spPr>
          <a:xfrm>
            <a:off x="548640" y="5852160"/>
            <a:ext cx="7315200" cy="274320"/>
          </a:xfrm>
          <a:prstGeom prst="rect">
            <a:avLst/>
          </a:prstGeom>
          <a:noFill/>
          <a:ln/>
        </p:spPr>
        <p:txBody>
          <a:bodyPr wrap="square" lIns="0" tIns="0" rIns="0" bIns="0" rtlCol="0" anchor="t"/>
          <a:lstStyle/>
          <a:p>
            <a:pPr indent="0" marL="0">
              <a:buNone/>
            </a:pPr>
            <a:r>
              <a:rPr lang="en-US" sz="1000" b="1" dirty="0">
                <a:solidFill>
                  <a:srgbClr val="E60012"/>
                </a:solidFill>
                <a:latin typeface="Meiryo" pitchFamily="34" charset="0"/>
                <a:ea typeface="Meiryo" pitchFamily="34" charset="-122"/>
                <a:cs typeface="Meiryo" pitchFamily="34" charset="-120"/>
              </a:rPr>
              <a:t>※ 数値はすべて演習用の設定値です（実測データではありません）</a:t>
            </a:r>
            <a:endParaRPr lang="en-US" sz="10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聞く</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ことば　光電センサと回帰反射型</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280160"/>
            <a:ext cx="6035040" cy="132588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2" name="Text 10"/>
          <p:cNvSpPr txBox="1"/>
          <p:nvPr/>
        </p:nvSpPr>
        <p:spPr>
          <a:xfrm>
            <a:off x="777240" y="1417320"/>
            <a:ext cx="2011680" cy="365760"/>
          </a:xfrm>
          <a:prstGeom prst="rect">
            <a:avLst/>
          </a:prstGeom>
          <a:noFill/>
          <a:ln/>
        </p:spPr>
        <p:txBody>
          <a:bodyPr wrap="square" lIns="0" tIns="0" rIns="0" bIns="0" rtlCol="0" anchor="t"/>
          <a:lstStyle/>
          <a:p>
            <a:pPr indent="0" marL="0">
              <a:buNone/>
            </a:pPr>
            <a:r>
              <a:rPr lang="en-US" sz="1700" b="1" dirty="0">
                <a:solidFill>
                  <a:srgbClr val="E60012"/>
                </a:solidFill>
                <a:latin typeface="Meiryo" pitchFamily="34" charset="0"/>
                <a:ea typeface="Meiryo" pitchFamily="34" charset="-122"/>
                <a:cs typeface="Meiryo" pitchFamily="34" charset="-120"/>
              </a:rPr>
              <a:t>光電センサ</a:t>
            </a:r>
            <a:endParaRPr lang="en-US" sz="1700" dirty="0"/>
          </a:p>
        </p:txBody>
      </p:sp>
      <p:sp>
        <p:nvSpPr>
          <p:cNvPr id="13" name="Text 11"/>
          <p:cNvSpPr txBox="1"/>
          <p:nvPr/>
        </p:nvSpPr>
        <p:spPr>
          <a:xfrm>
            <a:off x="2788920" y="1417320"/>
            <a:ext cx="3657600" cy="36576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光で「物が来た」を知らせる目</a:t>
            </a:r>
            <a:endParaRPr lang="en-US" sz="1500" dirty="0"/>
          </a:p>
        </p:txBody>
      </p:sp>
      <p:sp>
        <p:nvSpPr>
          <p:cNvPr id="14" name="Text 12"/>
          <p:cNvSpPr txBox="1"/>
          <p:nvPr/>
        </p:nvSpPr>
        <p:spPr>
          <a:xfrm>
            <a:off x="777240" y="1874520"/>
            <a:ext cx="5623560" cy="685800"/>
          </a:xfrm>
          <a:prstGeom prst="rect">
            <a:avLst/>
          </a:prstGeom>
          <a:noFill/>
          <a:ln/>
        </p:spPr>
        <p:txBody>
          <a:bodyPr wrap="square" lIns="0" tIns="0" rIns="0" bIns="0" rtlCol="0" anchor="t"/>
          <a:lstStyle/>
          <a:p>
            <a:pPr indent="0" marL="0">
              <a:buNone/>
            </a:pPr>
            <a:r>
              <a:rPr lang="en-US" sz="1200" dirty="0">
                <a:solidFill>
                  <a:srgbClr val="5A6470"/>
                </a:solidFill>
                <a:latin typeface="Meiryo" pitchFamily="34" charset="0"/>
                <a:ea typeface="Meiryo" pitchFamily="34" charset="-122"/>
                <a:cs typeface="Meiryo" pitchFamily="34" charset="-120"/>
              </a:rPr>
              <a:t>光を出し、物が光をさえぎると反応する。</a:t>
            </a:r>
            <a:endParaRPr lang="en-US" sz="1200" dirty="0"/>
          </a:p>
        </p:txBody>
      </p:sp>
      <p:sp>
        <p:nvSpPr>
          <p:cNvPr id="15" name="Shape 13"/>
          <p:cNvSpPr/>
          <p:nvPr/>
        </p:nvSpPr>
        <p:spPr>
          <a:xfrm>
            <a:off x="548640" y="2743200"/>
            <a:ext cx="6035040" cy="132588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6" name="Text 14"/>
          <p:cNvSpPr txBox="1"/>
          <p:nvPr/>
        </p:nvSpPr>
        <p:spPr>
          <a:xfrm>
            <a:off x="777240" y="2880360"/>
            <a:ext cx="2011680" cy="365760"/>
          </a:xfrm>
          <a:prstGeom prst="rect">
            <a:avLst/>
          </a:prstGeom>
          <a:noFill/>
          <a:ln/>
        </p:spPr>
        <p:txBody>
          <a:bodyPr wrap="square" lIns="0" tIns="0" rIns="0" bIns="0" rtlCol="0" anchor="t"/>
          <a:lstStyle/>
          <a:p>
            <a:pPr indent="0" marL="0">
              <a:buNone/>
            </a:pPr>
            <a:r>
              <a:rPr lang="en-US" sz="1700" b="1" dirty="0">
                <a:solidFill>
                  <a:srgbClr val="E60012"/>
                </a:solidFill>
                <a:latin typeface="Meiryo" pitchFamily="34" charset="0"/>
                <a:ea typeface="Meiryo" pitchFamily="34" charset="-122"/>
                <a:cs typeface="Meiryo" pitchFamily="34" charset="-120"/>
              </a:rPr>
              <a:t>回帰反射型</a:t>
            </a:r>
            <a:endParaRPr lang="en-US" sz="1700" dirty="0"/>
          </a:p>
        </p:txBody>
      </p:sp>
      <p:sp>
        <p:nvSpPr>
          <p:cNvPr id="17" name="Text 15"/>
          <p:cNvSpPr txBox="1"/>
          <p:nvPr/>
        </p:nvSpPr>
        <p:spPr>
          <a:xfrm>
            <a:off x="2788920" y="2880360"/>
            <a:ext cx="3657600" cy="36576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自転車の反射板と同じしくみ</a:t>
            </a:r>
            <a:endParaRPr lang="en-US" sz="1500" dirty="0"/>
          </a:p>
        </p:txBody>
      </p:sp>
      <p:sp>
        <p:nvSpPr>
          <p:cNvPr id="18" name="Text 16"/>
          <p:cNvSpPr txBox="1"/>
          <p:nvPr/>
        </p:nvSpPr>
        <p:spPr>
          <a:xfrm>
            <a:off x="777240" y="3337560"/>
            <a:ext cx="5623560" cy="685800"/>
          </a:xfrm>
          <a:prstGeom prst="rect">
            <a:avLst/>
          </a:prstGeom>
          <a:noFill/>
          <a:ln/>
        </p:spPr>
        <p:txBody>
          <a:bodyPr wrap="square" lIns="0" tIns="0" rIns="0" bIns="0" rtlCol="0" anchor="t"/>
          <a:lstStyle/>
          <a:p>
            <a:pPr indent="0" marL="0">
              <a:buNone/>
            </a:pPr>
            <a:r>
              <a:rPr lang="en-US" sz="1200" dirty="0">
                <a:solidFill>
                  <a:srgbClr val="5A6470"/>
                </a:solidFill>
                <a:latin typeface="Meiryo" pitchFamily="34" charset="0"/>
                <a:ea typeface="Meiryo" pitchFamily="34" charset="-122"/>
                <a:cs typeface="Meiryo" pitchFamily="34" charset="-120"/>
              </a:rPr>
              <a:t>センサが出した光を反射板が送り返し、同じセンサが受け取る。ボトルが通ると、戻る光が変わる。</a:t>
            </a:r>
            <a:endParaRPr lang="en-US" sz="1200" dirty="0"/>
          </a:p>
        </p:txBody>
      </p:sp>
      <p:sp>
        <p:nvSpPr>
          <p:cNvPr id="19" name="Shape 17"/>
          <p:cNvSpPr/>
          <p:nvPr/>
        </p:nvSpPr>
        <p:spPr>
          <a:xfrm>
            <a:off x="548640" y="4206240"/>
            <a:ext cx="6035040" cy="132588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0" name="Text 18"/>
          <p:cNvSpPr txBox="1"/>
          <p:nvPr/>
        </p:nvSpPr>
        <p:spPr>
          <a:xfrm>
            <a:off x="777240" y="4343400"/>
            <a:ext cx="2011680" cy="365760"/>
          </a:xfrm>
          <a:prstGeom prst="rect">
            <a:avLst/>
          </a:prstGeom>
          <a:noFill/>
          <a:ln/>
        </p:spPr>
        <p:txBody>
          <a:bodyPr wrap="square" lIns="0" tIns="0" rIns="0" bIns="0" rtlCol="0" anchor="t"/>
          <a:lstStyle/>
          <a:p>
            <a:pPr indent="0" marL="0">
              <a:buNone/>
            </a:pPr>
            <a:r>
              <a:rPr lang="en-US" sz="1700" b="1" dirty="0">
                <a:solidFill>
                  <a:srgbClr val="E60012"/>
                </a:solidFill>
                <a:latin typeface="Meiryo" pitchFamily="34" charset="0"/>
                <a:ea typeface="Meiryo" pitchFamily="34" charset="-122"/>
                <a:cs typeface="Meiryo" pitchFamily="34" charset="-120"/>
              </a:rPr>
              <a:t>反射板</a:t>
            </a:r>
            <a:endParaRPr lang="en-US" sz="1700" dirty="0"/>
          </a:p>
        </p:txBody>
      </p:sp>
      <p:sp>
        <p:nvSpPr>
          <p:cNvPr id="21" name="Text 19"/>
          <p:cNvSpPr txBox="1"/>
          <p:nvPr/>
        </p:nvSpPr>
        <p:spPr>
          <a:xfrm>
            <a:off x="2788920" y="4343400"/>
            <a:ext cx="3657600" cy="36576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光を来た方向へ返す板</a:t>
            </a:r>
            <a:endParaRPr lang="en-US" sz="1500" dirty="0"/>
          </a:p>
        </p:txBody>
      </p:sp>
      <p:sp>
        <p:nvSpPr>
          <p:cNvPr id="22" name="Text 20"/>
          <p:cNvSpPr txBox="1"/>
          <p:nvPr/>
        </p:nvSpPr>
        <p:spPr>
          <a:xfrm>
            <a:off x="777240" y="4800600"/>
            <a:ext cx="5623560" cy="685800"/>
          </a:xfrm>
          <a:prstGeom prst="rect">
            <a:avLst/>
          </a:prstGeom>
          <a:noFill/>
          <a:ln/>
        </p:spPr>
        <p:txBody>
          <a:bodyPr wrap="square" lIns="0" tIns="0" rIns="0" bIns="0" rtlCol="0" anchor="t"/>
          <a:lstStyle/>
          <a:p>
            <a:pPr indent="0" marL="0">
              <a:buNone/>
            </a:pPr>
            <a:r>
              <a:rPr lang="en-US" sz="1200" dirty="0">
                <a:solidFill>
                  <a:srgbClr val="5A6470"/>
                </a:solidFill>
                <a:latin typeface="Meiryo" pitchFamily="34" charset="0"/>
                <a:ea typeface="Meiryo" pitchFamily="34" charset="-122"/>
                <a:cs typeface="Meiryo" pitchFamily="34" charset="-120"/>
              </a:rPr>
              <a:t>コンベアをはさんで、センサの反対側に取り付ける。</a:t>
            </a:r>
            <a:endParaRPr lang="en-US" sz="1200" dirty="0"/>
          </a:p>
        </p:txBody>
      </p:sp>
      <p:sp>
        <p:nvSpPr>
          <p:cNvPr id="23" name="IMAGE_PLACEHOLDER_02_frame"/>
          <p:cNvSpPr/>
          <p:nvPr/>
        </p:nvSpPr>
        <p:spPr>
          <a:xfrm>
            <a:off x="6903720" y="1280160"/>
            <a:ext cx="4736592" cy="4251960"/>
          </a:xfrm>
          <a:prstGeom prst="rect">
            <a:avLst/>
          </a:prstGeom>
          <a:solidFill>
            <a:srgbClr val="E6E8EB"/>
          </a:solidFill>
          <a:ln/>
        </p:spPr>
      </p:sp>
      <p:pic>
        <p:nvPicPr>
          <p:cNvPr id="24" name="IMAGE_PLACEHOLDER_02" descr="【IMAGE_PLACEHOLDER_02】既設の回帰反射型センサ（仮画像）">    </p:cNvPr>
          <p:cNvPicPr>
            <a:picLocks noChangeAspect="1"/>
          </p:cNvPicPr>
          <p:nvPr/>
        </p:nvPicPr>
        <p:blipFill>
          <a:blip r:embed="rId1"/>
          <a:stretch>
            <a:fillRect/>
          </a:stretch>
        </p:blipFill>
        <p:spPr>
          <a:xfrm>
            <a:off x="6903720" y="2066798"/>
            <a:ext cx="4736592" cy="2678683"/>
          </a:xfrm>
          <a:prstGeom prst="rect">
            <a:avLst/>
          </a:prstGeom>
        </p:spPr>
      </p:pic>
      <p:sp>
        <p:nvSpPr>
          <p:cNvPr id="25" name="Shape 22"/>
          <p:cNvSpPr/>
          <p:nvPr/>
        </p:nvSpPr>
        <p:spPr>
          <a:xfrm>
            <a:off x="6903720" y="4434586"/>
            <a:ext cx="4736592" cy="310896"/>
          </a:xfrm>
          <a:prstGeom prst="rect">
            <a:avLst/>
          </a:prstGeom>
          <a:solidFill>
            <a:srgbClr val="000000"/>
          </a:solidFill>
          <a:ln/>
        </p:spPr>
      </p:sp>
      <p:sp>
        <p:nvSpPr>
          <p:cNvPr id="26" name="Shape 23"/>
          <p:cNvSpPr/>
          <p:nvPr/>
        </p:nvSpPr>
        <p:spPr>
          <a:xfrm>
            <a:off x="6976872" y="4471162"/>
            <a:ext cx="274320" cy="237744"/>
          </a:xfrm>
          <a:prstGeom prst="rect">
            <a:avLst/>
          </a:prstGeom>
          <a:solidFill>
            <a:srgbClr val="E60012"/>
          </a:solidFill>
          <a:ln/>
        </p:spPr>
      </p:sp>
      <p:sp>
        <p:nvSpPr>
          <p:cNvPr id="27" name="Text 24"/>
          <p:cNvSpPr txBox="1"/>
          <p:nvPr/>
        </p:nvSpPr>
        <p:spPr>
          <a:xfrm>
            <a:off x="6976872" y="4471162"/>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28" name="Text 25"/>
          <p:cNvSpPr txBox="1"/>
          <p:nvPr/>
        </p:nvSpPr>
        <p:spPr>
          <a:xfrm>
            <a:off x="7315200" y="4434586"/>
            <a:ext cx="4279392" cy="310896"/>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【IMAGE_PLACEHOLDER_02】既設の回帰反射型センサ　後日指定画像に差し替え</a:t>
            </a:r>
            <a:endParaRPr lang="en-US" sz="8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聞く</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問い2　次に、何をお願いしますか？</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Text 9"/>
          <p:cNvSpPr txBox="1"/>
          <p:nvPr/>
        </p:nvSpPr>
        <p:spPr>
          <a:xfrm>
            <a:off x="548640" y="1325880"/>
            <a:ext cx="11094415" cy="274320"/>
          </a:xfrm>
          <a:prstGeom prst="rect">
            <a:avLst/>
          </a:prstGeom>
          <a:noFill/>
          <a:ln/>
        </p:spPr>
        <p:txBody>
          <a:bodyPr wrap="square" lIns="0" tIns="0" rIns="0" bIns="0" rtlCol="0" anchor="t"/>
          <a:lstStyle/>
          <a:p>
            <a:pPr algn="ctr" indent="0" marL="0">
              <a:buNone/>
            </a:pPr>
            <a:r>
              <a:rPr lang="en-US" sz="1100" b="1" spc="300" kern="0" dirty="0">
                <a:solidFill>
                  <a:srgbClr val="E60012"/>
                </a:solidFill>
                <a:latin typeface="Meiryo" pitchFamily="34" charset="0"/>
                <a:ea typeface="Meiryo" pitchFamily="34" charset="-122"/>
                <a:cs typeface="Meiryo" pitchFamily="34" charset="-120"/>
              </a:rPr>
              <a:t>QUESTION</a:t>
            </a:r>
            <a:endParaRPr lang="en-US" sz="1100" dirty="0"/>
          </a:p>
        </p:txBody>
      </p:sp>
      <p:sp>
        <p:nvSpPr>
          <p:cNvPr id="12" name="Text 10"/>
          <p:cNvSpPr txBox="1"/>
          <p:nvPr/>
        </p:nvSpPr>
        <p:spPr>
          <a:xfrm>
            <a:off x="548640" y="1645920"/>
            <a:ext cx="11094415"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eiryo" pitchFamily="34" charset="0"/>
                <a:ea typeface="Meiryo" pitchFamily="34" charset="-122"/>
                <a:cs typeface="Meiryo" pitchFamily="34" charset="-120"/>
              </a:rPr>
              <a:t>次に、何をお願いしますか？</a:t>
            </a:r>
            <a:endParaRPr lang="en-US" sz="3200" dirty="0"/>
          </a:p>
        </p:txBody>
      </p:sp>
      <p:sp>
        <p:nvSpPr>
          <p:cNvPr id="13" name="Shape 11"/>
          <p:cNvSpPr/>
          <p:nvPr/>
        </p:nvSpPr>
        <p:spPr>
          <a:xfrm>
            <a:off x="883768" y="2880360"/>
            <a:ext cx="3291840" cy="1600200"/>
          </a:xfrm>
          <a:prstGeom prst="rect">
            <a:avLst/>
          </a:prstGeom>
          <a:solidFill>
            <a:srgbClr val="2A2D33"/>
          </a:solidFill>
          <a:ln w="12700">
            <a:solidFill>
              <a:srgbClr val="3A3F46"/>
            </a:solidFill>
            <a:prstDash val="solid"/>
          </a:ln>
        </p:spPr>
      </p:sp>
      <p:sp>
        <p:nvSpPr>
          <p:cNvPr id="14" name="Shape 12"/>
          <p:cNvSpPr/>
          <p:nvPr/>
        </p:nvSpPr>
        <p:spPr>
          <a:xfrm>
            <a:off x="1066648" y="3035808"/>
            <a:ext cx="384048" cy="384048"/>
          </a:xfrm>
          <a:prstGeom prst="rect">
            <a:avLst/>
          </a:prstGeom>
          <a:solidFill>
            <a:srgbClr val="E60012"/>
          </a:solidFill>
          <a:ln/>
        </p:spPr>
      </p:sp>
      <p:sp>
        <p:nvSpPr>
          <p:cNvPr id="15" name="Text 13"/>
          <p:cNvSpPr txBox="1"/>
          <p:nvPr/>
        </p:nvSpPr>
        <p:spPr>
          <a:xfrm>
            <a:off x="1066648" y="3035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a:t>
            </a:r>
            <a:endParaRPr lang="en-US" sz="1500" dirty="0"/>
          </a:p>
        </p:txBody>
      </p:sp>
      <p:sp>
        <p:nvSpPr>
          <p:cNvPr id="16" name="Text 14"/>
          <p:cNvSpPr txBox="1"/>
          <p:nvPr/>
        </p:nvSpPr>
        <p:spPr>
          <a:xfrm>
            <a:off x="1066648" y="3547872"/>
            <a:ext cx="292608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実際のラインを見せてもらう</a:t>
            </a:r>
            <a:endParaRPr lang="en-US" sz="1700" dirty="0"/>
          </a:p>
        </p:txBody>
      </p:sp>
      <p:sp>
        <p:nvSpPr>
          <p:cNvPr id="17" name="Shape 15"/>
          <p:cNvSpPr/>
          <p:nvPr/>
        </p:nvSpPr>
        <p:spPr>
          <a:xfrm>
            <a:off x="4449928" y="2880360"/>
            <a:ext cx="3291840" cy="1600200"/>
          </a:xfrm>
          <a:prstGeom prst="rect">
            <a:avLst/>
          </a:prstGeom>
          <a:solidFill>
            <a:srgbClr val="2A2D33"/>
          </a:solidFill>
          <a:ln w="12700">
            <a:solidFill>
              <a:srgbClr val="3A3F46"/>
            </a:solidFill>
            <a:prstDash val="solid"/>
          </a:ln>
        </p:spPr>
      </p:sp>
      <p:sp>
        <p:nvSpPr>
          <p:cNvPr id="18" name="Shape 16"/>
          <p:cNvSpPr/>
          <p:nvPr/>
        </p:nvSpPr>
        <p:spPr>
          <a:xfrm>
            <a:off x="4632808" y="3035808"/>
            <a:ext cx="384048" cy="384048"/>
          </a:xfrm>
          <a:prstGeom prst="rect">
            <a:avLst/>
          </a:prstGeom>
          <a:solidFill>
            <a:srgbClr val="E60012"/>
          </a:solidFill>
          <a:ln/>
        </p:spPr>
      </p:sp>
      <p:sp>
        <p:nvSpPr>
          <p:cNvPr id="19" name="Text 17"/>
          <p:cNvSpPr txBox="1"/>
          <p:nvPr/>
        </p:nvSpPr>
        <p:spPr>
          <a:xfrm>
            <a:off x="4632808" y="3035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B</a:t>
            </a:r>
            <a:endParaRPr lang="en-US" sz="1500" dirty="0"/>
          </a:p>
        </p:txBody>
      </p:sp>
      <p:sp>
        <p:nvSpPr>
          <p:cNvPr id="20" name="Text 18"/>
          <p:cNvSpPr txBox="1"/>
          <p:nvPr/>
        </p:nvSpPr>
        <p:spPr>
          <a:xfrm>
            <a:off x="4632808" y="3547872"/>
            <a:ext cx="292608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予算を聞く</a:t>
            </a:r>
            <a:endParaRPr lang="en-US" sz="1700" dirty="0"/>
          </a:p>
        </p:txBody>
      </p:sp>
      <p:sp>
        <p:nvSpPr>
          <p:cNvPr id="21" name="Shape 19"/>
          <p:cNvSpPr/>
          <p:nvPr/>
        </p:nvSpPr>
        <p:spPr>
          <a:xfrm>
            <a:off x="8016088" y="2880360"/>
            <a:ext cx="3291840" cy="1600200"/>
          </a:xfrm>
          <a:prstGeom prst="rect">
            <a:avLst/>
          </a:prstGeom>
          <a:solidFill>
            <a:srgbClr val="2A2D33"/>
          </a:solidFill>
          <a:ln w="12700">
            <a:solidFill>
              <a:srgbClr val="3A3F46"/>
            </a:solidFill>
            <a:prstDash val="solid"/>
          </a:ln>
        </p:spPr>
      </p:sp>
      <p:sp>
        <p:nvSpPr>
          <p:cNvPr id="22" name="Shape 20"/>
          <p:cNvSpPr/>
          <p:nvPr/>
        </p:nvSpPr>
        <p:spPr>
          <a:xfrm>
            <a:off x="8198968" y="3035808"/>
            <a:ext cx="384048" cy="384048"/>
          </a:xfrm>
          <a:prstGeom prst="rect">
            <a:avLst/>
          </a:prstGeom>
          <a:solidFill>
            <a:srgbClr val="E60012"/>
          </a:solidFill>
          <a:ln/>
        </p:spPr>
      </p:sp>
      <p:sp>
        <p:nvSpPr>
          <p:cNvPr id="23" name="Text 21"/>
          <p:cNvSpPr txBox="1"/>
          <p:nvPr/>
        </p:nvSpPr>
        <p:spPr>
          <a:xfrm>
            <a:off x="8198968" y="3035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C</a:t>
            </a:r>
            <a:endParaRPr lang="en-US" sz="1500" dirty="0"/>
          </a:p>
        </p:txBody>
      </p:sp>
      <p:sp>
        <p:nvSpPr>
          <p:cNvPr id="24" name="Text 22"/>
          <p:cNvSpPr txBox="1"/>
          <p:nvPr/>
        </p:nvSpPr>
        <p:spPr>
          <a:xfrm>
            <a:off x="8198968" y="3547872"/>
            <a:ext cx="292608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設備の使用年数を聞く</a:t>
            </a:r>
            <a:endParaRPr lang="en-US" sz="1700" dirty="0"/>
          </a:p>
        </p:txBody>
      </p:sp>
      <p:sp>
        <p:nvSpPr>
          <p:cNvPr id="25" name="Shape 23"/>
          <p:cNvSpPr/>
          <p:nvPr/>
        </p:nvSpPr>
        <p:spPr>
          <a:xfrm>
            <a:off x="5661508" y="4800600"/>
            <a:ext cx="868680" cy="868680"/>
          </a:xfrm>
          <a:prstGeom prst="ellipse">
            <a:avLst/>
          </a:prstGeom>
          <a:solidFill>
            <a:srgbClr val="E60012"/>
          </a:solidFill>
          <a:ln/>
        </p:spPr>
      </p:sp>
      <p:sp>
        <p:nvSpPr>
          <p:cNvPr id="26" name="Text 24"/>
          <p:cNvSpPr txBox="1"/>
          <p:nvPr/>
        </p:nvSpPr>
        <p:spPr>
          <a:xfrm>
            <a:off x="5661508" y="4892040"/>
            <a:ext cx="86868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30</a:t>
            </a:r>
            <a:endParaRPr lang="en-US" sz="2400" dirty="0"/>
          </a:p>
          <a:p>
            <a:pPr algn="ctr" indent="0" marL="0">
              <a:buNone/>
            </a:pPr>
            <a:r>
              <a:rPr lang="en-US" sz="1000" dirty="0">
                <a:solidFill>
                  <a:srgbClr val="FFFFFF"/>
                </a:solidFill>
                <a:latin typeface="Meiryo" pitchFamily="34" charset="0"/>
                <a:ea typeface="Meiryo" pitchFamily="34" charset="-122"/>
                <a:cs typeface="Meiryo" pitchFamily="34" charset="-120"/>
              </a:rPr>
              <a:t>秒</a:t>
            </a:r>
            <a:endParaRPr lang="en-US" sz="2400" dirty="0"/>
          </a:p>
        </p:txBody>
      </p:sp>
      <p:sp>
        <p:nvSpPr>
          <p:cNvPr id="27" name="Text 25"/>
          <p:cNvSpPr txBox="1"/>
          <p:nvPr/>
        </p:nvSpPr>
        <p:spPr>
          <a:xfrm>
            <a:off x="5387188" y="5715000"/>
            <a:ext cx="1417320" cy="228600"/>
          </a:xfrm>
          <a:prstGeom prst="rect">
            <a:avLst/>
          </a:prstGeom>
          <a:noFill/>
          <a:ln/>
        </p:spPr>
        <p:txBody>
          <a:bodyPr wrap="square" lIns="0" tIns="0" rIns="0" bIns="0" rtlCol="0" anchor="t"/>
          <a:lstStyle/>
          <a:p>
            <a:pPr algn="ctr" indent="0" marL="0">
              <a:buNone/>
            </a:pPr>
            <a:r>
              <a:rPr lang="en-US" sz="900" dirty="0">
                <a:solidFill>
                  <a:srgbClr val="8A939D"/>
                </a:solidFill>
                <a:latin typeface="Meiryo" pitchFamily="34" charset="0"/>
                <a:ea typeface="Meiryo" pitchFamily="34" charset="-122"/>
                <a:cs typeface="Meiryo" pitchFamily="34" charset="-120"/>
              </a:rPr>
              <a:t>考える時間</a:t>
            </a:r>
            <a:endParaRPr lang="en-US" sz="900" dirty="0"/>
          </a:p>
        </p:txBody>
      </p:sp>
      <p:sp>
        <p:nvSpPr>
          <p:cNvPr id="28" name="Text 26"/>
          <p:cNvSpPr txBox="1"/>
          <p:nvPr/>
        </p:nvSpPr>
        <p:spPr>
          <a:xfrm>
            <a:off x="6918808" y="5074920"/>
            <a:ext cx="3200400" cy="320040"/>
          </a:xfrm>
          <a:prstGeom prst="rect">
            <a:avLst/>
          </a:prstGeom>
          <a:noFill/>
          <a:ln/>
        </p:spPr>
        <p:txBody>
          <a:bodyPr wrap="square" lIns="0" tIns="0" rIns="0" bIns="0" rtlCol="0" anchor="t"/>
          <a:lstStyle/>
          <a:p>
            <a:pPr indent="0" marL="0">
              <a:buNone/>
            </a:pPr>
            <a:r>
              <a:rPr lang="en-US" sz="1200" dirty="0">
                <a:solidFill>
                  <a:srgbClr val="8A939D"/>
                </a:solidFill>
                <a:latin typeface="Meiryo" pitchFamily="34" charset="0"/>
                <a:ea typeface="Meiryo" pitchFamily="34" charset="-122"/>
                <a:cs typeface="Meiryo" pitchFamily="34" charset="-120"/>
              </a:rPr>
              <a:t>選んだら、理由をひとことメモ</a:t>
            </a:r>
            <a:endParaRPr lang="en-US" sz="12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聞く</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聞いてみると　お客様の答え</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280160"/>
            <a:ext cx="3520440" cy="3794760"/>
          </a:xfrm>
          <a:prstGeom prst="rect">
            <a:avLst/>
          </a:prstGeom>
          <a:solidFill>
            <a:srgbClr val="FFFFFF"/>
          </a:solidFill>
          <a:ln w="31750">
            <a:solidFill>
              <a:srgbClr val="E60012"/>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77240" y="1463040"/>
            <a:ext cx="365760" cy="365760"/>
          </a:xfrm>
          <a:prstGeom prst="rect">
            <a:avLst/>
          </a:prstGeom>
          <a:solidFill>
            <a:srgbClr val="E60012"/>
          </a:solidFill>
          <a:ln/>
        </p:spPr>
      </p:sp>
      <p:sp>
        <p:nvSpPr>
          <p:cNvPr id="13" name="Text 11"/>
          <p:cNvSpPr txBox="1"/>
          <p:nvPr/>
        </p:nvSpPr>
        <p:spPr>
          <a:xfrm>
            <a:off x="777240" y="1463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a:t>
            </a:r>
            <a:endParaRPr lang="en-US" sz="1400" dirty="0"/>
          </a:p>
        </p:txBody>
      </p:sp>
      <p:sp>
        <p:nvSpPr>
          <p:cNvPr id="14" name="Text 12"/>
          <p:cNvSpPr txBox="1"/>
          <p:nvPr/>
        </p:nvSpPr>
        <p:spPr>
          <a:xfrm>
            <a:off x="1261872" y="1463040"/>
            <a:ext cx="2606040" cy="365760"/>
          </a:xfrm>
          <a:prstGeom prst="rect">
            <a:avLst/>
          </a:prstGeom>
          <a:noFill/>
          <a:ln/>
        </p:spPr>
        <p:txBody>
          <a:bodyPr wrap="square" lIns="0" tIns="0" rIns="0" bIns="0" rtlCol="0" anchor="ctr"/>
          <a:lstStyle/>
          <a:p>
            <a:pPr indent="0" marL="0">
              <a:buNone/>
            </a:pPr>
            <a:r>
              <a:rPr lang="en-US" sz="1500" b="1" dirty="0">
                <a:solidFill>
                  <a:srgbClr val="1E2126"/>
                </a:solidFill>
                <a:latin typeface="Meiryo" pitchFamily="34" charset="0"/>
                <a:ea typeface="Meiryo" pitchFamily="34" charset="-122"/>
                <a:cs typeface="Meiryo" pitchFamily="34" charset="-120"/>
              </a:rPr>
              <a:t>ラインを見る</a:t>
            </a:r>
            <a:endParaRPr lang="en-US" sz="1500" dirty="0"/>
          </a:p>
        </p:txBody>
      </p:sp>
      <p:sp>
        <p:nvSpPr>
          <p:cNvPr id="15" name="Shape 13"/>
          <p:cNvSpPr/>
          <p:nvPr/>
        </p:nvSpPr>
        <p:spPr>
          <a:xfrm>
            <a:off x="2971800" y="1024128"/>
            <a:ext cx="914400" cy="274320"/>
          </a:xfrm>
          <a:prstGeom prst="rect">
            <a:avLst/>
          </a:prstGeom>
          <a:solidFill>
            <a:srgbClr val="E60012"/>
          </a:solidFill>
          <a:ln/>
        </p:spPr>
      </p:sp>
      <p:sp>
        <p:nvSpPr>
          <p:cNvPr id="16" name="Text 14"/>
          <p:cNvSpPr txBox="1"/>
          <p:nvPr/>
        </p:nvSpPr>
        <p:spPr>
          <a:xfrm>
            <a:off x="2971800" y="102412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おすすめ</a:t>
            </a:r>
            <a:endParaRPr lang="en-US" sz="1000" dirty="0"/>
          </a:p>
        </p:txBody>
      </p:sp>
      <p:sp>
        <p:nvSpPr>
          <p:cNvPr id="17" name="Text 15"/>
          <p:cNvSpPr txBox="1"/>
          <p:nvPr/>
        </p:nvSpPr>
        <p:spPr>
          <a:xfrm>
            <a:off x="777240" y="2011680"/>
            <a:ext cx="3063240" cy="228600"/>
          </a:xfrm>
          <a:prstGeom prst="rect">
            <a:avLst/>
          </a:prstGeom>
          <a:noFill/>
          <a:ln/>
        </p:spPr>
        <p:txBody>
          <a:bodyPr wrap="square" lIns="0" tIns="0" rIns="0" bIns="0" rtlCol="0" anchor="t"/>
          <a:lstStyle/>
          <a:p>
            <a:pPr indent="0" marL="0">
              <a:buNone/>
            </a:pPr>
            <a:r>
              <a:rPr lang="en-US" sz="900" b="1" dirty="0">
                <a:solidFill>
                  <a:srgbClr val="5A6470"/>
                </a:solidFill>
                <a:latin typeface="Meiryo" pitchFamily="34" charset="0"/>
                <a:ea typeface="Meiryo" pitchFamily="34" charset="-122"/>
                <a:cs typeface="Meiryo" pitchFamily="34" charset="-120"/>
              </a:rPr>
              <a:t>お客様の答え</a:t>
            </a:r>
            <a:endParaRPr lang="en-US" sz="900" dirty="0"/>
          </a:p>
        </p:txBody>
      </p:sp>
      <p:sp>
        <p:nvSpPr>
          <p:cNvPr id="18" name="Text 16"/>
          <p:cNvSpPr txBox="1"/>
          <p:nvPr/>
        </p:nvSpPr>
        <p:spPr>
          <a:xfrm>
            <a:off x="777240" y="2267712"/>
            <a:ext cx="3063240" cy="1417320"/>
          </a:xfrm>
          <a:prstGeom prst="rect">
            <a:avLst/>
          </a:prstGeom>
          <a:noFill/>
          <a:ln/>
        </p:spPr>
        <p:txBody>
          <a:bodyPr wrap="square" lIns="0" tIns="0" rIns="0" bIns="0" rtlCol="0" anchor="t"/>
          <a:lstStyle/>
          <a:p>
            <a:pPr indent="0" marL="0">
              <a:buNone/>
            </a:pPr>
            <a:r>
              <a:rPr lang="en-US" sz="1300" dirty="0">
                <a:solidFill>
                  <a:srgbClr val="1E2126"/>
                </a:solidFill>
                <a:latin typeface="Meiryo" pitchFamily="34" charset="0"/>
                <a:ea typeface="Meiryo" pitchFamily="34" charset="-122"/>
                <a:cs typeface="Meiryo" pitchFamily="34" charset="-120"/>
              </a:rPr>
              <a:t>「どうぞ。センサは、ボトルの下のほうを横から見ています。」</a:t>
            </a:r>
            <a:endParaRPr lang="en-US" sz="1300" dirty="0"/>
          </a:p>
        </p:txBody>
      </p:sp>
      <p:sp>
        <p:nvSpPr>
          <p:cNvPr id="19" name="Shape 17"/>
          <p:cNvSpPr/>
          <p:nvPr/>
        </p:nvSpPr>
        <p:spPr>
          <a:xfrm>
            <a:off x="777240" y="3730752"/>
            <a:ext cx="3063240" cy="0"/>
          </a:xfrm>
          <a:prstGeom prst="line">
            <a:avLst/>
          </a:prstGeom>
          <a:noFill/>
          <a:ln w="12700">
            <a:solidFill>
              <a:srgbClr val="E6E8EB"/>
            </a:solidFill>
            <a:prstDash val="solid"/>
          </a:ln>
        </p:spPr>
      </p:sp>
      <p:sp>
        <p:nvSpPr>
          <p:cNvPr id="20" name="Text 18"/>
          <p:cNvSpPr txBox="1"/>
          <p:nvPr/>
        </p:nvSpPr>
        <p:spPr>
          <a:xfrm>
            <a:off x="777240" y="3822192"/>
            <a:ext cx="3063240" cy="228600"/>
          </a:xfrm>
          <a:prstGeom prst="rect">
            <a:avLst/>
          </a:prstGeom>
          <a:noFill/>
          <a:ln/>
        </p:spPr>
        <p:txBody>
          <a:bodyPr wrap="square" lIns="0" tIns="0" rIns="0" bIns="0" rtlCol="0" anchor="t"/>
          <a:lstStyle/>
          <a:p>
            <a:pPr indent="0" marL="0">
              <a:buNone/>
            </a:pPr>
            <a:r>
              <a:rPr lang="en-US" sz="900" b="1" dirty="0">
                <a:solidFill>
                  <a:srgbClr val="E60012"/>
                </a:solidFill>
                <a:latin typeface="Meiryo" pitchFamily="34" charset="0"/>
                <a:ea typeface="Meiryo" pitchFamily="34" charset="-122"/>
                <a:cs typeface="Meiryo" pitchFamily="34" charset="-120"/>
              </a:rPr>
              <a:t>分かったこと</a:t>
            </a:r>
            <a:endParaRPr lang="en-US" sz="900" dirty="0"/>
          </a:p>
        </p:txBody>
      </p:sp>
      <p:sp>
        <p:nvSpPr>
          <p:cNvPr id="21" name="Text 19"/>
          <p:cNvSpPr txBox="1"/>
          <p:nvPr/>
        </p:nvSpPr>
        <p:spPr>
          <a:xfrm>
            <a:off x="777240" y="4069080"/>
            <a:ext cx="3063240" cy="914400"/>
          </a:xfrm>
          <a:prstGeom prst="rect">
            <a:avLst/>
          </a:prstGeom>
          <a:noFill/>
          <a:ln/>
        </p:spPr>
        <p:txBody>
          <a:bodyPr wrap="square" lIns="0" tIns="0" rIns="0" bIns="0" rtlCol="0" anchor="t"/>
          <a:lstStyle/>
          <a:p>
            <a:pPr indent="0" marL="0">
              <a:buNone/>
            </a:pPr>
            <a:r>
              <a:rPr lang="en-US" sz="1250" b="1" dirty="0">
                <a:solidFill>
                  <a:srgbClr val="1E2126"/>
                </a:solidFill>
                <a:latin typeface="Meiryo" pitchFamily="34" charset="0"/>
                <a:ea typeface="Meiryo" pitchFamily="34" charset="-122"/>
                <a:cs typeface="Meiryo" pitchFamily="34" charset="-120"/>
              </a:rPr>
              <a:t>話だけでは分からない、現場の手がかりが得られた</a:t>
            </a:r>
            <a:endParaRPr lang="en-US" sz="1250" dirty="0"/>
          </a:p>
        </p:txBody>
      </p:sp>
      <p:sp>
        <p:nvSpPr>
          <p:cNvPr id="22" name="Shape 20"/>
          <p:cNvSpPr/>
          <p:nvPr/>
        </p:nvSpPr>
        <p:spPr>
          <a:xfrm>
            <a:off x="4270248" y="1280160"/>
            <a:ext cx="3520440" cy="37947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3" name="Shape 21"/>
          <p:cNvSpPr/>
          <p:nvPr/>
        </p:nvSpPr>
        <p:spPr>
          <a:xfrm>
            <a:off x="4498848" y="1463040"/>
            <a:ext cx="365760" cy="365760"/>
          </a:xfrm>
          <a:prstGeom prst="rect">
            <a:avLst/>
          </a:prstGeom>
          <a:solidFill>
            <a:srgbClr val="141517"/>
          </a:solidFill>
          <a:ln/>
        </p:spPr>
      </p:sp>
      <p:sp>
        <p:nvSpPr>
          <p:cNvPr id="24" name="Text 22"/>
          <p:cNvSpPr txBox="1"/>
          <p:nvPr/>
        </p:nvSpPr>
        <p:spPr>
          <a:xfrm>
            <a:off x="4498848" y="1463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B</a:t>
            </a:r>
            <a:endParaRPr lang="en-US" sz="1400" dirty="0"/>
          </a:p>
        </p:txBody>
      </p:sp>
      <p:sp>
        <p:nvSpPr>
          <p:cNvPr id="25" name="Text 23"/>
          <p:cNvSpPr txBox="1"/>
          <p:nvPr/>
        </p:nvSpPr>
        <p:spPr>
          <a:xfrm>
            <a:off x="4983480" y="1463040"/>
            <a:ext cx="2606040" cy="365760"/>
          </a:xfrm>
          <a:prstGeom prst="rect">
            <a:avLst/>
          </a:prstGeom>
          <a:noFill/>
          <a:ln/>
        </p:spPr>
        <p:txBody>
          <a:bodyPr wrap="square" lIns="0" tIns="0" rIns="0" bIns="0" rtlCol="0" anchor="ctr"/>
          <a:lstStyle/>
          <a:p>
            <a:pPr indent="0" marL="0">
              <a:buNone/>
            </a:pPr>
            <a:r>
              <a:rPr lang="en-US" sz="1500" b="1" dirty="0">
                <a:solidFill>
                  <a:srgbClr val="1E2126"/>
                </a:solidFill>
                <a:latin typeface="Meiryo" pitchFamily="34" charset="0"/>
                <a:ea typeface="Meiryo" pitchFamily="34" charset="-122"/>
                <a:cs typeface="Meiryo" pitchFamily="34" charset="-120"/>
              </a:rPr>
              <a:t>予算を聞く</a:t>
            </a:r>
            <a:endParaRPr lang="en-US" sz="1500" dirty="0"/>
          </a:p>
        </p:txBody>
      </p:sp>
      <p:sp>
        <p:nvSpPr>
          <p:cNvPr id="26" name="Text 24"/>
          <p:cNvSpPr txBox="1"/>
          <p:nvPr/>
        </p:nvSpPr>
        <p:spPr>
          <a:xfrm>
            <a:off x="4498848" y="2011680"/>
            <a:ext cx="3063240" cy="228600"/>
          </a:xfrm>
          <a:prstGeom prst="rect">
            <a:avLst/>
          </a:prstGeom>
          <a:noFill/>
          <a:ln/>
        </p:spPr>
        <p:txBody>
          <a:bodyPr wrap="square" lIns="0" tIns="0" rIns="0" bIns="0" rtlCol="0" anchor="t"/>
          <a:lstStyle/>
          <a:p>
            <a:pPr indent="0" marL="0">
              <a:buNone/>
            </a:pPr>
            <a:r>
              <a:rPr lang="en-US" sz="900" b="1" dirty="0">
                <a:solidFill>
                  <a:srgbClr val="5A6470"/>
                </a:solidFill>
                <a:latin typeface="Meiryo" pitchFamily="34" charset="0"/>
                <a:ea typeface="Meiryo" pitchFamily="34" charset="-122"/>
                <a:cs typeface="Meiryo" pitchFamily="34" charset="-120"/>
              </a:rPr>
              <a:t>お客様の答え</a:t>
            </a:r>
            <a:endParaRPr lang="en-US" sz="900" dirty="0"/>
          </a:p>
        </p:txBody>
      </p:sp>
      <p:sp>
        <p:nvSpPr>
          <p:cNvPr id="27" name="Text 25"/>
          <p:cNvSpPr txBox="1"/>
          <p:nvPr/>
        </p:nvSpPr>
        <p:spPr>
          <a:xfrm>
            <a:off x="4498848" y="2267712"/>
            <a:ext cx="3063240" cy="1417320"/>
          </a:xfrm>
          <a:prstGeom prst="rect">
            <a:avLst/>
          </a:prstGeom>
          <a:noFill/>
          <a:ln/>
        </p:spPr>
        <p:txBody>
          <a:bodyPr wrap="square" lIns="0" tIns="0" rIns="0" bIns="0" rtlCol="0" anchor="t"/>
          <a:lstStyle/>
          <a:p>
            <a:pPr indent="0" marL="0">
              <a:buNone/>
            </a:pPr>
            <a:r>
              <a:rPr lang="en-US" sz="1300" dirty="0">
                <a:solidFill>
                  <a:srgbClr val="1E2126"/>
                </a:solidFill>
                <a:latin typeface="Meiryo" pitchFamily="34" charset="0"/>
                <a:ea typeface="Meiryo" pitchFamily="34" charset="-122"/>
                <a:cs typeface="Meiryo" pitchFamily="34" charset="-120"/>
              </a:rPr>
              <a:t>「まだ原因も分からないので、予算の話は早いですね…。」</a:t>
            </a:r>
            <a:endParaRPr lang="en-US" sz="1300" dirty="0"/>
          </a:p>
        </p:txBody>
      </p:sp>
      <p:sp>
        <p:nvSpPr>
          <p:cNvPr id="28" name="Shape 26"/>
          <p:cNvSpPr/>
          <p:nvPr/>
        </p:nvSpPr>
        <p:spPr>
          <a:xfrm>
            <a:off x="4498848" y="3730752"/>
            <a:ext cx="3063240" cy="0"/>
          </a:xfrm>
          <a:prstGeom prst="line">
            <a:avLst/>
          </a:prstGeom>
          <a:noFill/>
          <a:ln w="12700">
            <a:solidFill>
              <a:srgbClr val="E6E8EB"/>
            </a:solidFill>
            <a:prstDash val="solid"/>
          </a:ln>
        </p:spPr>
      </p:sp>
      <p:sp>
        <p:nvSpPr>
          <p:cNvPr id="29" name="Text 27"/>
          <p:cNvSpPr txBox="1"/>
          <p:nvPr/>
        </p:nvSpPr>
        <p:spPr>
          <a:xfrm>
            <a:off x="4498848" y="3822192"/>
            <a:ext cx="3063240" cy="228600"/>
          </a:xfrm>
          <a:prstGeom prst="rect">
            <a:avLst/>
          </a:prstGeom>
          <a:noFill/>
          <a:ln/>
        </p:spPr>
        <p:txBody>
          <a:bodyPr wrap="square" lIns="0" tIns="0" rIns="0" bIns="0" rtlCol="0" anchor="t"/>
          <a:lstStyle/>
          <a:p>
            <a:pPr indent="0" marL="0">
              <a:buNone/>
            </a:pPr>
            <a:r>
              <a:rPr lang="en-US" sz="900" b="1" dirty="0">
                <a:solidFill>
                  <a:srgbClr val="5A6470"/>
                </a:solidFill>
                <a:latin typeface="Meiryo" pitchFamily="34" charset="0"/>
                <a:ea typeface="Meiryo" pitchFamily="34" charset="-122"/>
                <a:cs typeface="Meiryo" pitchFamily="34" charset="-120"/>
              </a:rPr>
              <a:t>分かったこと</a:t>
            </a:r>
            <a:endParaRPr lang="en-US" sz="900" dirty="0"/>
          </a:p>
        </p:txBody>
      </p:sp>
      <p:sp>
        <p:nvSpPr>
          <p:cNvPr id="30" name="Text 28"/>
          <p:cNvSpPr txBox="1"/>
          <p:nvPr/>
        </p:nvSpPr>
        <p:spPr>
          <a:xfrm>
            <a:off x="4498848" y="4069080"/>
            <a:ext cx="3063240" cy="914400"/>
          </a:xfrm>
          <a:prstGeom prst="rect">
            <a:avLst/>
          </a:prstGeom>
          <a:noFill/>
          <a:ln/>
        </p:spPr>
        <p:txBody>
          <a:bodyPr wrap="square" lIns="0" tIns="0" rIns="0" bIns="0" rtlCol="0" anchor="t"/>
          <a:lstStyle/>
          <a:p>
            <a:pPr indent="0" marL="0">
              <a:buNone/>
            </a:pPr>
            <a:r>
              <a:rPr lang="en-US" sz="1250" b="1" dirty="0">
                <a:solidFill>
                  <a:srgbClr val="1E2126"/>
                </a:solidFill>
                <a:latin typeface="Meiryo" pitchFamily="34" charset="0"/>
                <a:ea typeface="Meiryo" pitchFamily="34" charset="-122"/>
                <a:cs typeface="Meiryo" pitchFamily="34" charset="-120"/>
              </a:rPr>
              <a:t>原因が分かる前のお金の話は、お客様を構えさせる</a:t>
            </a:r>
            <a:endParaRPr lang="en-US" sz="1250" dirty="0"/>
          </a:p>
        </p:txBody>
      </p:sp>
      <p:sp>
        <p:nvSpPr>
          <p:cNvPr id="31" name="Shape 29"/>
          <p:cNvSpPr/>
          <p:nvPr/>
        </p:nvSpPr>
        <p:spPr>
          <a:xfrm>
            <a:off x="7991856" y="1280160"/>
            <a:ext cx="3520440" cy="37947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32" name="Shape 30"/>
          <p:cNvSpPr/>
          <p:nvPr/>
        </p:nvSpPr>
        <p:spPr>
          <a:xfrm>
            <a:off x="8220456" y="1463040"/>
            <a:ext cx="365760" cy="365760"/>
          </a:xfrm>
          <a:prstGeom prst="rect">
            <a:avLst/>
          </a:prstGeom>
          <a:solidFill>
            <a:srgbClr val="141517"/>
          </a:solidFill>
          <a:ln/>
        </p:spPr>
      </p:sp>
      <p:sp>
        <p:nvSpPr>
          <p:cNvPr id="33" name="Text 31"/>
          <p:cNvSpPr txBox="1"/>
          <p:nvPr/>
        </p:nvSpPr>
        <p:spPr>
          <a:xfrm>
            <a:off x="8220456" y="1463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C</a:t>
            </a:r>
            <a:endParaRPr lang="en-US" sz="1400" dirty="0"/>
          </a:p>
        </p:txBody>
      </p:sp>
      <p:sp>
        <p:nvSpPr>
          <p:cNvPr id="34" name="Text 32"/>
          <p:cNvSpPr txBox="1"/>
          <p:nvPr/>
        </p:nvSpPr>
        <p:spPr>
          <a:xfrm>
            <a:off x="8705088" y="1463040"/>
            <a:ext cx="2606040" cy="365760"/>
          </a:xfrm>
          <a:prstGeom prst="rect">
            <a:avLst/>
          </a:prstGeom>
          <a:noFill/>
          <a:ln/>
        </p:spPr>
        <p:txBody>
          <a:bodyPr wrap="square" lIns="0" tIns="0" rIns="0" bIns="0" rtlCol="0" anchor="ctr"/>
          <a:lstStyle/>
          <a:p>
            <a:pPr indent="0" marL="0">
              <a:buNone/>
            </a:pPr>
            <a:r>
              <a:rPr lang="en-US" sz="1500" b="1" dirty="0">
                <a:solidFill>
                  <a:srgbClr val="1E2126"/>
                </a:solidFill>
                <a:latin typeface="Meiryo" pitchFamily="34" charset="0"/>
                <a:ea typeface="Meiryo" pitchFamily="34" charset="-122"/>
                <a:cs typeface="Meiryo" pitchFamily="34" charset="-120"/>
              </a:rPr>
              <a:t>使用年数を聞く</a:t>
            </a:r>
            <a:endParaRPr lang="en-US" sz="1500" dirty="0"/>
          </a:p>
        </p:txBody>
      </p:sp>
      <p:sp>
        <p:nvSpPr>
          <p:cNvPr id="35" name="Text 33"/>
          <p:cNvSpPr txBox="1"/>
          <p:nvPr/>
        </p:nvSpPr>
        <p:spPr>
          <a:xfrm>
            <a:off x="8220456" y="2011680"/>
            <a:ext cx="3063240" cy="228600"/>
          </a:xfrm>
          <a:prstGeom prst="rect">
            <a:avLst/>
          </a:prstGeom>
          <a:noFill/>
          <a:ln/>
        </p:spPr>
        <p:txBody>
          <a:bodyPr wrap="square" lIns="0" tIns="0" rIns="0" bIns="0" rtlCol="0" anchor="t"/>
          <a:lstStyle/>
          <a:p>
            <a:pPr indent="0" marL="0">
              <a:buNone/>
            </a:pPr>
            <a:r>
              <a:rPr lang="en-US" sz="900" b="1" dirty="0">
                <a:solidFill>
                  <a:srgbClr val="5A6470"/>
                </a:solidFill>
                <a:latin typeface="Meiryo" pitchFamily="34" charset="0"/>
                <a:ea typeface="Meiryo" pitchFamily="34" charset="-122"/>
                <a:cs typeface="Meiryo" pitchFamily="34" charset="-120"/>
              </a:rPr>
              <a:t>お客様の答え</a:t>
            </a:r>
            <a:endParaRPr lang="en-US" sz="900" dirty="0"/>
          </a:p>
        </p:txBody>
      </p:sp>
      <p:sp>
        <p:nvSpPr>
          <p:cNvPr id="36" name="Text 34"/>
          <p:cNvSpPr txBox="1"/>
          <p:nvPr/>
        </p:nvSpPr>
        <p:spPr>
          <a:xfrm>
            <a:off x="8220456" y="2267712"/>
            <a:ext cx="3063240" cy="1417320"/>
          </a:xfrm>
          <a:prstGeom prst="rect">
            <a:avLst/>
          </a:prstGeom>
          <a:noFill/>
          <a:ln/>
        </p:spPr>
        <p:txBody>
          <a:bodyPr wrap="square" lIns="0" tIns="0" rIns="0" bIns="0" rtlCol="0" anchor="t"/>
          <a:lstStyle/>
          <a:p>
            <a:pPr indent="0" marL="0">
              <a:buNone/>
            </a:pPr>
            <a:r>
              <a:rPr lang="en-US" sz="1300" dirty="0">
                <a:solidFill>
                  <a:srgbClr val="1E2126"/>
                </a:solidFill>
                <a:latin typeface="Meiryo" pitchFamily="34" charset="0"/>
                <a:ea typeface="Meiryo" pitchFamily="34" charset="-122"/>
                <a:cs typeface="Meiryo" pitchFamily="34" charset="-120"/>
              </a:rPr>
              <a:t>「導入して3年ほどです。故障の記録はありません。」</a:t>
            </a:r>
            <a:endParaRPr lang="en-US" sz="1300" dirty="0"/>
          </a:p>
        </p:txBody>
      </p:sp>
      <p:sp>
        <p:nvSpPr>
          <p:cNvPr id="37" name="Shape 35"/>
          <p:cNvSpPr/>
          <p:nvPr/>
        </p:nvSpPr>
        <p:spPr>
          <a:xfrm>
            <a:off x="8220456" y="3730752"/>
            <a:ext cx="3063240" cy="0"/>
          </a:xfrm>
          <a:prstGeom prst="line">
            <a:avLst/>
          </a:prstGeom>
          <a:noFill/>
          <a:ln w="12700">
            <a:solidFill>
              <a:srgbClr val="E6E8EB"/>
            </a:solidFill>
            <a:prstDash val="solid"/>
          </a:ln>
        </p:spPr>
      </p:sp>
      <p:sp>
        <p:nvSpPr>
          <p:cNvPr id="38" name="Text 36"/>
          <p:cNvSpPr txBox="1"/>
          <p:nvPr/>
        </p:nvSpPr>
        <p:spPr>
          <a:xfrm>
            <a:off x="8220456" y="3822192"/>
            <a:ext cx="3063240" cy="228600"/>
          </a:xfrm>
          <a:prstGeom prst="rect">
            <a:avLst/>
          </a:prstGeom>
          <a:noFill/>
          <a:ln/>
        </p:spPr>
        <p:txBody>
          <a:bodyPr wrap="square" lIns="0" tIns="0" rIns="0" bIns="0" rtlCol="0" anchor="t"/>
          <a:lstStyle/>
          <a:p>
            <a:pPr indent="0" marL="0">
              <a:buNone/>
            </a:pPr>
            <a:r>
              <a:rPr lang="en-US" sz="900" b="1" dirty="0">
                <a:solidFill>
                  <a:srgbClr val="5A6470"/>
                </a:solidFill>
                <a:latin typeface="Meiryo" pitchFamily="34" charset="0"/>
                <a:ea typeface="Meiryo" pitchFamily="34" charset="-122"/>
                <a:cs typeface="Meiryo" pitchFamily="34" charset="-120"/>
              </a:rPr>
              <a:t>分かったこと</a:t>
            </a:r>
            <a:endParaRPr lang="en-US" sz="900" dirty="0"/>
          </a:p>
        </p:txBody>
      </p:sp>
      <p:sp>
        <p:nvSpPr>
          <p:cNvPr id="39" name="Text 37"/>
          <p:cNvSpPr txBox="1"/>
          <p:nvPr/>
        </p:nvSpPr>
        <p:spPr>
          <a:xfrm>
            <a:off x="8220456" y="4069080"/>
            <a:ext cx="3063240" cy="914400"/>
          </a:xfrm>
          <a:prstGeom prst="rect">
            <a:avLst/>
          </a:prstGeom>
          <a:noFill/>
          <a:ln/>
        </p:spPr>
        <p:txBody>
          <a:bodyPr wrap="square" lIns="0" tIns="0" rIns="0" bIns="0" rtlCol="0" anchor="t"/>
          <a:lstStyle/>
          <a:p>
            <a:pPr indent="0" marL="0">
              <a:buNone/>
            </a:pPr>
            <a:r>
              <a:rPr lang="en-US" sz="1250" b="1" dirty="0">
                <a:solidFill>
                  <a:srgbClr val="1E2126"/>
                </a:solidFill>
                <a:latin typeface="Meiryo" pitchFamily="34" charset="0"/>
                <a:ea typeface="Meiryo" pitchFamily="34" charset="-122"/>
                <a:cs typeface="Meiryo" pitchFamily="34" charset="-120"/>
              </a:rPr>
              <a:t>役立つ情報。ただ、どこで数が増えるかはまだ分からない</a:t>
            </a:r>
            <a:endParaRPr lang="en-US" sz="1250" dirty="0"/>
          </a:p>
        </p:txBody>
      </p:sp>
      <p:sp>
        <p:nvSpPr>
          <p:cNvPr id="40" name="Shape 38"/>
          <p:cNvSpPr/>
          <p:nvPr/>
        </p:nvSpPr>
        <p:spPr>
          <a:xfrm>
            <a:off x="548640" y="5349240"/>
            <a:ext cx="11094415" cy="731520"/>
          </a:xfrm>
          <a:prstGeom prst="rect">
            <a:avLst/>
          </a:prstGeom>
          <a:solidFill>
            <a:srgbClr val="141517"/>
          </a:solidFill>
          <a:ln/>
        </p:spPr>
      </p:sp>
      <p:sp>
        <p:nvSpPr>
          <p:cNvPr id="41" name="Text 39"/>
          <p:cNvSpPr txBox="1"/>
          <p:nvPr/>
        </p:nvSpPr>
        <p:spPr>
          <a:xfrm>
            <a:off x="822960" y="5349240"/>
            <a:ext cx="10545775" cy="731520"/>
          </a:xfrm>
          <a:prstGeom prst="rect">
            <a:avLst/>
          </a:prstGeom>
          <a:noFill/>
          <a:ln/>
        </p:spPr>
        <p:txBody>
          <a:bodyPr wrap="square" lIns="0" tIns="0" rIns="0" bIns="0" rtlCol="0" anchor="ctr"/>
          <a:lstStyle/>
          <a:p>
            <a:pPr indent="0" marL="0">
              <a:buNone/>
            </a:pPr>
            <a:r>
              <a:rPr lang="en-US" sz="1200" b="1" dirty="0">
                <a:solidFill>
                  <a:srgbClr val="E60012"/>
                </a:solidFill>
                <a:latin typeface="Meiryo" pitchFamily="34" charset="0"/>
                <a:ea typeface="Meiryo" pitchFamily="34" charset="-122"/>
                <a:cs typeface="Meiryo" pitchFamily="34" charset="-120"/>
              </a:rPr>
              <a:t>POINT　</a:t>
            </a:r>
            <a:pPr indent="0" marL="0">
              <a:buNone/>
            </a:pPr>
            <a:r>
              <a:rPr lang="en-US" sz="1900" b="1" dirty="0">
                <a:solidFill>
                  <a:srgbClr val="FFFFFF"/>
                </a:solidFill>
                <a:latin typeface="Meiryo" pitchFamily="34" charset="0"/>
                <a:ea typeface="Meiryo" pitchFamily="34" charset="-122"/>
                <a:cs typeface="Meiryo" pitchFamily="34" charset="-120"/>
              </a:rPr>
              <a:t>起きている場所に、手がかりがある</a:t>
            </a:r>
            <a:endParaRPr lang="en-US" sz="12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聞く</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HEARINGで分かったこと</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Text 9"/>
          <p:cNvSpPr txBox="1"/>
          <p:nvPr/>
        </p:nvSpPr>
        <p:spPr>
          <a:xfrm>
            <a:off x="548640" y="1234440"/>
            <a:ext cx="4572000" cy="274320"/>
          </a:xfrm>
          <a:prstGeom prst="rect">
            <a:avLst/>
          </a:prstGeom>
          <a:noFill/>
          <a:ln/>
        </p:spPr>
        <p:txBody>
          <a:bodyPr wrap="square" lIns="0" tIns="0" rIns="0" bIns="0" rtlCol="0" anchor="t"/>
          <a:lstStyle/>
          <a:p>
            <a:pPr indent="0" marL="0">
              <a:buNone/>
            </a:pPr>
            <a:r>
              <a:rPr lang="en-US" sz="1200" b="1" dirty="0">
                <a:solidFill>
                  <a:srgbClr val="5A6470"/>
                </a:solidFill>
                <a:latin typeface="Meiryo" pitchFamily="34" charset="0"/>
                <a:ea typeface="Meiryo" pitchFamily="34" charset="-122"/>
                <a:cs typeface="Meiryo" pitchFamily="34" charset="-120"/>
              </a:rPr>
              <a:t>確認できた事実</a:t>
            </a:r>
            <a:endParaRPr lang="en-US" sz="1200" dirty="0"/>
          </a:p>
        </p:txBody>
      </p:sp>
      <p:sp>
        <p:nvSpPr>
          <p:cNvPr id="12" name="Shape 10"/>
          <p:cNvSpPr/>
          <p:nvPr/>
        </p:nvSpPr>
        <p:spPr>
          <a:xfrm>
            <a:off x="548640" y="1572768"/>
            <a:ext cx="6400800" cy="530352"/>
          </a:xfrm>
          <a:prstGeom prst="rect">
            <a:avLst/>
          </a:prstGeom>
          <a:solidFill>
            <a:srgbClr val="FFFFFF"/>
          </a:solidFill>
          <a:ln/>
        </p:spPr>
      </p:sp>
      <p:sp>
        <p:nvSpPr>
          <p:cNvPr id="13" name="Shape 11"/>
          <p:cNvSpPr/>
          <p:nvPr/>
        </p:nvSpPr>
        <p:spPr>
          <a:xfrm>
            <a:off x="658368" y="1700784"/>
            <a:ext cx="502920" cy="274320"/>
          </a:xfrm>
          <a:prstGeom prst="rect">
            <a:avLst/>
          </a:prstGeom>
          <a:solidFill>
            <a:srgbClr val="141517"/>
          </a:solidFill>
          <a:ln/>
        </p:spPr>
      </p:sp>
      <p:sp>
        <p:nvSpPr>
          <p:cNvPr id="14" name="Text 12"/>
          <p:cNvSpPr txBox="1"/>
          <p:nvPr/>
        </p:nvSpPr>
        <p:spPr>
          <a:xfrm>
            <a:off x="658368" y="1700784"/>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事実</a:t>
            </a:r>
            <a:endParaRPr lang="en-US" sz="900" dirty="0"/>
          </a:p>
        </p:txBody>
      </p:sp>
      <p:sp>
        <p:nvSpPr>
          <p:cNvPr id="15" name="Text 13"/>
          <p:cNvSpPr txBox="1"/>
          <p:nvPr/>
        </p:nvSpPr>
        <p:spPr>
          <a:xfrm>
            <a:off x="1298448" y="1572768"/>
            <a:ext cx="5577840" cy="530352"/>
          </a:xfrm>
          <a:prstGeom prst="rect">
            <a:avLst/>
          </a:prstGeom>
          <a:noFill/>
          <a:ln/>
        </p:spPr>
        <p:txBody>
          <a:bodyPr wrap="square" lIns="0" tIns="0" rIns="0" bIns="0" rtlCol="0" anchor="ctr"/>
          <a:lstStyle/>
          <a:p>
            <a:pPr indent="0" marL="0">
              <a:buNone/>
            </a:pPr>
            <a:r>
              <a:rPr lang="en-US" sz="1350" b="1" dirty="0">
                <a:solidFill>
                  <a:srgbClr val="1E2126"/>
                </a:solidFill>
                <a:latin typeface="Meiryo" pitchFamily="34" charset="0"/>
                <a:ea typeface="Meiryo" pitchFamily="34" charset="-122"/>
                <a:cs typeface="Meiryo" pitchFamily="34" charset="-120"/>
              </a:rPr>
              <a:t>他社製の回帰反射型の光電センサで、ボトルを数えている</a:t>
            </a:r>
            <a:endParaRPr lang="en-US" sz="1350" dirty="0"/>
          </a:p>
        </p:txBody>
      </p:sp>
      <p:sp>
        <p:nvSpPr>
          <p:cNvPr id="16" name="Shape 14"/>
          <p:cNvSpPr/>
          <p:nvPr/>
        </p:nvSpPr>
        <p:spPr>
          <a:xfrm>
            <a:off x="548640" y="2194560"/>
            <a:ext cx="6400800" cy="530352"/>
          </a:xfrm>
          <a:prstGeom prst="rect">
            <a:avLst/>
          </a:prstGeom>
          <a:solidFill>
            <a:srgbClr val="FFFFFF"/>
          </a:solidFill>
          <a:ln/>
        </p:spPr>
      </p:sp>
      <p:sp>
        <p:nvSpPr>
          <p:cNvPr id="17" name="Shape 15"/>
          <p:cNvSpPr/>
          <p:nvPr/>
        </p:nvSpPr>
        <p:spPr>
          <a:xfrm>
            <a:off x="658368" y="2322576"/>
            <a:ext cx="502920" cy="274320"/>
          </a:xfrm>
          <a:prstGeom prst="rect">
            <a:avLst/>
          </a:prstGeom>
          <a:solidFill>
            <a:srgbClr val="141517"/>
          </a:solidFill>
          <a:ln/>
        </p:spPr>
      </p:sp>
      <p:sp>
        <p:nvSpPr>
          <p:cNvPr id="18" name="Text 16"/>
          <p:cNvSpPr txBox="1"/>
          <p:nvPr/>
        </p:nvSpPr>
        <p:spPr>
          <a:xfrm>
            <a:off x="658368" y="2322576"/>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事実</a:t>
            </a:r>
            <a:endParaRPr lang="en-US" sz="900" dirty="0"/>
          </a:p>
        </p:txBody>
      </p:sp>
      <p:sp>
        <p:nvSpPr>
          <p:cNvPr id="19" name="Text 17"/>
          <p:cNvSpPr txBox="1"/>
          <p:nvPr/>
        </p:nvSpPr>
        <p:spPr>
          <a:xfrm>
            <a:off x="1298448" y="2194560"/>
            <a:ext cx="5577840" cy="530352"/>
          </a:xfrm>
          <a:prstGeom prst="rect">
            <a:avLst/>
          </a:prstGeom>
          <a:noFill/>
          <a:ln/>
        </p:spPr>
        <p:txBody>
          <a:bodyPr wrap="square" lIns="0" tIns="0" rIns="0" bIns="0" rtlCol="0" anchor="ctr"/>
          <a:lstStyle/>
          <a:p>
            <a:pPr indent="0" marL="0">
              <a:buNone/>
            </a:pPr>
            <a:r>
              <a:rPr lang="en-US" sz="1350" b="1" dirty="0">
                <a:solidFill>
                  <a:srgbClr val="1E2126"/>
                </a:solidFill>
                <a:latin typeface="Meiryo" pitchFamily="34" charset="0"/>
                <a:ea typeface="Meiryo" pitchFamily="34" charset="-122"/>
                <a:cs typeface="Meiryo" pitchFamily="34" charset="-120"/>
              </a:rPr>
              <a:t>通常は＋0.5〜0.8％、多い週だけ＋3.0％（毎週ではない）</a:t>
            </a:r>
            <a:endParaRPr lang="en-US" sz="1350" dirty="0"/>
          </a:p>
        </p:txBody>
      </p:sp>
      <p:sp>
        <p:nvSpPr>
          <p:cNvPr id="20" name="Shape 18"/>
          <p:cNvSpPr/>
          <p:nvPr/>
        </p:nvSpPr>
        <p:spPr>
          <a:xfrm>
            <a:off x="548640" y="2816352"/>
            <a:ext cx="6400800" cy="530352"/>
          </a:xfrm>
          <a:prstGeom prst="rect">
            <a:avLst/>
          </a:prstGeom>
          <a:solidFill>
            <a:srgbClr val="FFFFFF"/>
          </a:solidFill>
          <a:ln/>
        </p:spPr>
      </p:sp>
      <p:sp>
        <p:nvSpPr>
          <p:cNvPr id="21" name="Shape 19"/>
          <p:cNvSpPr/>
          <p:nvPr/>
        </p:nvSpPr>
        <p:spPr>
          <a:xfrm>
            <a:off x="658368" y="2944368"/>
            <a:ext cx="502920" cy="274320"/>
          </a:xfrm>
          <a:prstGeom prst="rect">
            <a:avLst/>
          </a:prstGeom>
          <a:solidFill>
            <a:srgbClr val="141517"/>
          </a:solidFill>
          <a:ln/>
        </p:spPr>
      </p:sp>
      <p:sp>
        <p:nvSpPr>
          <p:cNvPr id="22" name="Text 20"/>
          <p:cNvSpPr txBox="1"/>
          <p:nvPr/>
        </p:nvSpPr>
        <p:spPr>
          <a:xfrm>
            <a:off x="658368" y="2944368"/>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事実</a:t>
            </a:r>
            <a:endParaRPr lang="en-US" sz="900" dirty="0"/>
          </a:p>
        </p:txBody>
      </p:sp>
      <p:sp>
        <p:nvSpPr>
          <p:cNvPr id="23" name="Text 21"/>
          <p:cNvSpPr txBox="1"/>
          <p:nvPr/>
        </p:nvSpPr>
        <p:spPr>
          <a:xfrm>
            <a:off x="1298448" y="2816352"/>
            <a:ext cx="5577840" cy="530352"/>
          </a:xfrm>
          <a:prstGeom prst="rect">
            <a:avLst/>
          </a:prstGeom>
          <a:noFill/>
          <a:ln/>
        </p:spPr>
        <p:txBody>
          <a:bodyPr wrap="square" lIns="0" tIns="0" rIns="0" bIns="0" rtlCol="0" anchor="ctr"/>
          <a:lstStyle/>
          <a:p>
            <a:pPr indent="0" marL="0">
              <a:buNone/>
            </a:pPr>
            <a:r>
              <a:rPr lang="en-US" sz="1350" b="1" dirty="0">
                <a:solidFill>
                  <a:srgbClr val="1E2126"/>
                </a:solidFill>
                <a:latin typeface="Meiryo" pitchFamily="34" charset="0"/>
                <a:ea typeface="Meiryo" pitchFamily="34" charset="-122"/>
                <a:cs typeface="Meiryo" pitchFamily="34" charset="-120"/>
              </a:rPr>
              <a:t>お客様は「流れが乱れたとき」に起きる気がしている</a:t>
            </a:r>
            <a:endParaRPr lang="en-US" sz="1350" dirty="0"/>
          </a:p>
        </p:txBody>
      </p:sp>
      <p:sp>
        <p:nvSpPr>
          <p:cNvPr id="24" name="Shape 22"/>
          <p:cNvSpPr/>
          <p:nvPr/>
        </p:nvSpPr>
        <p:spPr>
          <a:xfrm>
            <a:off x="548640" y="3438144"/>
            <a:ext cx="6400800" cy="530352"/>
          </a:xfrm>
          <a:prstGeom prst="rect">
            <a:avLst/>
          </a:prstGeom>
          <a:solidFill>
            <a:srgbClr val="FFFFFF"/>
          </a:solidFill>
          <a:ln/>
        </p:spPr>
      </p:sp>
      <p:sp>
        <p:nvSpPr>
          <p:cNvPr id="25" name="Shape 23"/>
          <p:cNvSpPr/>
          <p:nvPr/>
        </p:nvSpPr>
        <p:spPr>
          <a:xfrm>
            <a:off x="658368" y="3566160"/>
            <a:ext cx="502920" cy="274320"/>
          </a:xfrm>
          <a:prstGeom prst="rect">
            <a:avLst/>
          </a:prstGeom>
          <a:solidFill>
            <a:srgbClr val="141517"/>
          </a:solidFill>
          <a:ln/>
        </p:spPr>
      </p:sp>
      <p:sp>
        <p:nvSpPr>
          <p:cNvPr id="26" name="Text 24"/>
          <p:cNvSpPr txBox="1"/>
          <p:nvPr/>
        </p:nvSpPr>
        <p:spPr>
          <a:xfrm>
            <a:off x="658368" y="3566160"/>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事実</a:t>
            </a:r>
            <a:endParaRPr lang="en-US" sz="900" dirty="0"/>
          </a:p>
        </p:txBody>
      </p:sp>
      <p:sp>
        <p:nvSpPr>
          <p:cNvPr id="27" name="Text 25"/>
          <p:cNvSpPr txBox="1"/>
          <p:nvPr/>
        </p:nvSpPr>
        <p:spPr>
          <a:xfrm>
            <a:off x="1298448" y="3438144"/>
            <a:ext cx="5577840" cy="530352"/>
          </a:xfrm>
          <a:prstGeom prst="rect">
            <a:avLst/>
          </a:prstGeom>
          <a:noFill/>
          <a:ln/>
        </p:spPr>
        <p:txBody>
          <a:bodyPr wrap="square" lIns="0" tIns="0" rIns="0" bIns="0" rtlCol="0" anchor="ctr"/>
          <a:lstStyle/>
          <a:p>
            <a:pPr indent="0" marL="0">
              <a:buNone/>
            </a:pPr>
            <a:r>
              <a:rPr lang="en-US" sz="1350" b="1" dirty="0">
                <a:solidFill>
                  <a:srgbClr val="1E2126"/>
                </a:solidFill>
                <a:latin typeface="Meiryo" pitchFamily="34" charset="0"/>
                <a:ea typeface="Meiryo" pitchFamily="34" charset="-122"/>
                <a:cs typeface="Meiryo" pitchFamily="34" charset="-120"/>
              </a:rPr>
              <a:t>センサは、ボトルの下のほうを横から見ている</a:t>
            </a:r>
            <a:endParaRPr lang="en-US" sz="1350" dirty="0"/>
          </a:p>
        </p:txBody>
      </p:sp>
      <p:sp>
        <p:nvSpPr>
          <p:cNvPr id="28" name="Shape 26"/>
          <p:cNvSpPr/>
          <p:nvPr/>
        </p:nvSpPr>
        <p:spPr>
          <a:xfrm>
            <a:off x="548640" y="4059936"/>
            <a:ext cx="6400800" cy="530352"/>
          </a:xfrm>
          <a:prstGeom prst="rect">
            <a:avLst/>
          </a:prstGeom>
          <a:solidFill>
            <a:srgbClr val="FFFFFF"/>
          </a:solidFill>
          <a:ln/>
        </p:spPr>
      </p:sp>
      <p:sp>
        <p:nvSpPr>
          <p:cNvPr id="29" name="Shape 27"/>
          <p:cNvSpPr/>
          <p:nvPr/>
        </p:nvSpPr>
        <p:spPr>
          <a:xfrm>
            <a:off x="658368" y="4187952"/>
            <a:ext cx="502920" cy="274320"/>
          </a:xfrm>
          <a:prstGeom prst="rect">
            <a:avLst/>
          </a:prstGeom>
          <a:solidFill>
            <a:srgbClr val="141517"/>
          </a:solidFill>
          <a:ln/>
        </p:spPr>
      </p:sp>
      <p:sp>
        <p:nvSpPr>
          <p:cNvPr id="30" name="Text 28"/>
          <p:cNvSpPr txBox="1"/>
          <p:nvPr/>
        </p:nvSpPr>
        <p:spPr>
          <a:xfrm>
            <a:off x="658368" y="4187952"/>
            <a:ext cx="5029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事実</a:t>
            </a:r>
            <a:endParaRPr lang="en-US" sz="900" dirty="0"/>
          </a:p>
        </p:txBody>
      </p:sp>
      <p:sp>
        <p:nvSpPr>
          <p:cNvPr id="31" name="Text 29"/>
          <p:cNvSpPr txBox="1"/>
          <p:nvPr/>
        </p:nvSpPr>
        <p:spPr>
          <a:xfrm>
            <a:off x="1298448" y="4059936"/>
            <a:ext cx="5577840" cy="530352"/>
          </a:xfrm>
          <a:prstGeom prst="rect">
            <a:avLst/>
          </a:prstGeom>
          <a:noFill/>
          <a:ln/>
        </p:spPr>
        <p:txBody>
          <a:bodyPr wrap="square" lIns="0" tIns="0" rIns="0" bIns="0" rtlCol="0" anchor="ctr"/>
          <a:lstStyle/>
          <a:p>
            <a:pPr indent="0" marL="0">
              <a:buNone/>
            </a:pPr>
            <a:r>
              <a:rPr lang="en-US" sz="1350" b="1" dirty="0">
                <a:solidFill>
                  <a:srgbClr val="1E2126"/>
                </a:solidFill>
                <a:latin typeface="Meiryo" pitchFamily="34" charset="0"/>
                <a:ea typeface="Meiryo" pitchFamily="34" charset="-122"/>
                <a:cs typeface="Meiryo" pitchFamily="34" charset="-120"/>
              </a:rPr>
              <a:t>導入して3年。故障の記録はない</a:t>
            </a:r>
            <a:endParaRPr lang="en-US" sz="1350" dirty="0"/>
          </a:p>
        </p:txBody>
      </p:sp>
      <p:sp>
        <p:nvSpPr>
          <p:cNvPr id="32" name="Shape 30"/>
          <p:cNvSpPr/>
          <p:nvPr/>
        </p:nvSpPr>
        <p:spPr>
          <a:xfrm>
            <a:off x="548640" y="4846320"/>
            <a:ext cx="6400800" cy="868680"/>
          </a:xfrm>
          <a:prstGeom prst="rect">
            <a:avLst/>
          </a:prstGeom>
          <a:solidFill>
            <a:srgbClr val="FDECEE"/>
          </a:solidFill>
          <a:ln w="12700">
            <a:solidFill>
              <a:srgbClr val="E60012"/>
            </a:solidFill>
            <a:prstDash val="dash"/>
          </a:ln>
        </p:spPr>
      </p:sp>
      <p:sp>
        <p:nvSpPr>
          <p:cNvPr id="33" name="Text 31"/>
          <p:cNvSpPr txBox="1"/>
          <p:nvPr/>
        </p:nvSpPr>
        <p:spPr>
          <a:xfrm>
            <a:off x="777240" y="4846320"/>
            <a:ext cx="6035040" cy="868680"/>
          </a:xfrm>
          <a:prstGeom prst="rect">
            <a:avLst/>
          </a:prstGeom>
          <a:noFill/>
          <a:ln/>
        </p:spPr>
        <p:txBody>
          <a:bodyPr wrap="square" lIns="0" tIns="0" rIns="0" bIns="0" rtlCol="0" anchor="ctr"/>
          <a:lstStyle/>
          <a:p>
            <a:pPr indent="0" marL="0">
              <a:buNone/>
            </a:pPr>
            <a:r>
              <a:rPr lang="en-US" sz="1100" b="1" dirty="0">
                <a:solidFill>
                  <a:srgbClr val="E60012"/>
                </a:solidFill>
                <a:latin typeface="Meiryo" pitchFamily="34" charset="0"/>
                <a:ea typeface="Meiryo" pitchFamily="34" charset="-122"/>
                <a:cs typeface="Meiryo" pitchFamily="34" charset="-120"/>
              </a:rPr>
              <a:t>まだ分からないこと　</a:t>
            </a:r>
            <a:pPr indent="0" marL="0">
              <a:buNone/>
            </a:pPr>
            <a:r>
              <a:rPr lang="en-US" sz="1800" b="1" dirty="0">
                <a:solidFill>
                  <a:srgbClr val="1E2126"/>
                </a:solidFill>
                <a:latin typeface="Meiryo" pitchFamily="34" charset="0"/>
                <a:ea typeface="Meiryo" pitchFamily="34" charset="-122"/>
                <a:cs typeface="Meiryo" pitchFamily="34" charset="-120"/>
              </a:rPr>
              <a:t>どこで、なぜ数が増えているのか</a:t>
            </a:r>
            <a:endParaRPr lang="en-US" sz="1100" dirty="0"/>
          </a:p>
        </p:txBody>
      </p:sp>
      <p:sp>
        <p:nvSpPr>
          <p:cNvPr id="34" name="IMAGE_PLACEHOLDER_01_frame"/>
          <p:cNvSpPr/>
          <p:nvPr/>
        </p:nvSpPr>
        <p:spPr>
          <a:xfrm>
            <a:off x="7269480" y="1572768"/>
            <a:ext cx="4370832" cy="2459736"/>
          </a:xfrm>
          <a:prstGeom prst="rect">
            <a:avLst/>
          </a:prstGeom>
          <a:solidFill>
            <a:srgbClr val="E6E8EB"/>
          </a:solidFill>
          <a:ln/>
        </p:spPr>
      </p:sp>
      <p:pic>
        <p:nvPicPr>
          <p:cNvPr id="35" name="IMAGE_PLACEHOLDER_01" descr="【IMAGE_PLACEHOLDER_01】PETボトル搬送ライン（仮画像）">    </p:cNvPr>
          <p:cNvPicPr>
            <a:picLocks noChangeAspect="1"/>
          </p:cNvPicPr>
          <p:nvPr/>
        </p:nvPicPr>
        <p:blipFill>
          <a:blip r:embed="rId1"/>
          <a:stretch>
            <a:fillRect/>
          </a:stretch>
        </p:blipFill>
        <p:spPr>
          <a:xfrm>
            <a:off x="7270949" y="1572768"/>
            <a:ext cx="4367895" cy="2459736"/>
          </a:xfrm>
          <a:prstGeom prst="rect">
            <a:avLst/>
          </a:prstGeom>
        </p:spPr>
      </p:pic>
      <p:sp>
        <p:nvSpPr>
          <p:cNvPr id="36" name="Shape 33"/>
          <p:cNvSpPr/>
          <p:nvPr/>
        </p:nvSpPr>
        <p:spPr>
          <a:xfrm>
            <a:off x="7270949" y="3721608"/>
            <a:ext cx="4367895" cy="310896"/>
          </a:xfrm>
          <a:prstGeom prst="rect">
            <a:avLst/>
          </a:prstGeom>
          <a:solidFill>
            <a:srgbClr val="000000"/>
          </a:solidFill>
          <a:ln/>
        </p:spPr>
      </p:sp>
      <p:sp>
        <p:nvSpPr>
          <p:cNvPr id="37" name="Shape 34"/>
          <p:cNvSpPr/>
          <p:nvPr/>
        </p:nvSpPr>
        <p:spPr>
          <a:xfrm>
            <a:off x="7344101" y="3758184"/>
            <a:ext cx="274320" cy="237744"/>
          </a:xfrm>
          <a:prstGeom prst="rect">
            <a:avLst/>
          </a:prstGeom>
          <a:solidFill>
            <a:srgbClr val="E60012"/>
          </a:solidFill>
          <a:ln/>
        </p:spPr>
      </p:sp>
      <p:sp>
        <p:nvSpPr>
          <p:cNvPr id="38" name="Text 35"/>
          <p:cNvSpPr txBox="1"/>
          <p:nvPr/>
        </p:nvSpPr>
        <p:spPr>
          <a:xfrm>
            <a:off x="7344101" y="3758184"/>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39" name="Text 36"/>
          <p:cNvSpPr txBox="1"/>
          <p:nvPr/>
        </p:nvSpPr>
        <p:spPr>
          <a:xfrm>
            <a:off x="7682429" y="3721608"/>
            <a:ext cx="3910695" cy="310896"/>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【IMAGE_PLACEHOLDER_01】PETボトル搬送ライン　後日指定画像に差し替え</a:t>
            </a:r>
            <a:endParaRPr lang="en-US" sz="800" dirty="0"/>
          </a:p>
        </p:txBody>
      </p:sp>
      <p:sp>
        <p:nvSpPr>
          <p:cNvPr id="40" name="Text 37"/>
          <p:cNvSpPr txBox="1"/>
          <p:nvPr/>
        </p:nvSpPr>
        <p:spPr>
          <a:xfrm>
            <a:off x="7269480" y="4160520"/>
            <a:ext cx="4370832" cy="548640"/>
          </a:xfrm>
          <a:prstGeom prst="rect">
            <a:avLst/>
          </a:prstGeom>
          <a:noFill/>
          <a:ln/>
        </p:spPr>
        <p:txBody>
          <a:bodyPr wrap="square" lIns="0" tIns="0" rIns="0" bIns="0" rtlCol="0" anchor="t"/>
          <a:lstStyle/>
          <a:p>
            <a:pPr indent="0" marL="0">
              <a:buNone/>
            </a:pPr>
            <a:r>
              <a:rPr lang="en-US" sz="1200" b="1" dirty="0">
                <a:solidFill>
                  <a:srgbClr val="1E2126"/>
                </a:solidFill>
                <a:latin typeface="Meiryo" pitchFamily="34" charset="0"/>
                <a:ea typeface="Meiryo" pitchFamily="34" charset="-122"/>
                <a:cs typeface="Meiryo" pitchFamily="34" charset="-120"/>
              </a:rPr>
              <a:t>センサは、ボトルの下のほうを横から見ている（お客様の説明）</a:t>
            </a:r>
            <a:endParaRPr lang="en-US" sz="12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flipH="1">
            <a:off x="9052560" y="0"/>
            <a:ext cx="1463040" cy="6858000"/>
          </a:xfrm>
          <a:prstGeom prst="rtTriangle">
            <a:avLst/>
          </a:prstGeom>
          <a:solidFill>
            <a:srgbClr val="E60012"/>
          </a:solidFill>
          <a:ln/>
        </p:spPr>
      </p:sp>
      <p:sp>
        <p:nvSpPr>
          <p:cNvPr id="3" name="Shape 1"/>
          <p:cNvSpPr/>
          <p:nvPr/>
        </p:nvSpPr>
        <p:spPr>
          <a:xfrm>
            <a:off x="10515600" y="0"/>
            <a:ext cx="1676095" cy="6858000"/>
          </a:xfrm>
          <a:prstGeom prst="rect">
            <a:avLst/>
          </a:prstGeom>
          <a:solidFill>
            <a:srgbClr val="E60012"/>
          </a:solidFill>
          <a:ln/>
        </p:spPr>
      </p:sp>
      <p:sp>
        <p:nvSpPr>
          <p:cNvPr id="4" name="Text 2"/>
          <p:cNvSpPr txBox="1"/>
          <p:nvPr/>
        </p:nvSpPr>
        <p:spPr>
          <a:xfrm>
            <a:off x="548640" y="1920240"/>
            <a:ext cx="7315200"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PHASE 3 / 6　｜　15〜30分</a:t>
            </a:r>
            <a:endParaRPr lang="en-US" sz="1400" dirty="0"/>
          </a:p>
        </p:txBody>
      </p:sp>
      <p:sp>
        <p:nvSpPr>
          <p:cNvPr id="5" name="Text 3"/>
          <p:cNvSpPr txBox="1"/>
          <p:nvPr/>
        </p:nvSpPr>
        <p:spPr>
          <a:xfrm>
            <a:off x="548640" y="2377440"/>
            <a:ext cx="8229600" cy="1005840"/>
          </a:xfrm>
          <a:prstGeom prst="rect">
            <a:avLst/>
          </a:prstGeom>
          <a:noFill/>
          <a:ln/>
        </p:spPr>
        <p:txBody>
          <a:bodyPr wrap="square" lIns="0" tIns="0" rIns="0" bIns="0" rtlCol="0" anchor="t"/>
          <a:lstStyle/>
          <a:p>
            <a:pPr indent="0" marL="0">
              <a:buNone/>
            </a:pPr>
            <a:r>
              <a:rPr lang="en-US" sz="6000" b="1" dirty="0">
                <a:solidFill>
                  <a:srgbClr val="E60012"/>
                </a:solidFill>
                <a:latin typeface="Arial Black" pitchFamily="34" charset="0"/>
                <a:ea typeface="Arial Black" pitchFamily="34" charset="-122"/>
                <a:cs typeface="Arial Black" pitchFamily="34" charset="-120"/>
              </a:rPr>
              <a:t>ANALYSIS</a:t>
            </a:r>
            <a:endParaRPr lang="en-US" sz="6000" dirty="0"/>
          </a:p>
        </p:txBody>
      </p:sp>
      <p:sp>
        <p:nvSpPr>
          <p:cNvPr id="6" name="Text 4"/>
          <p:cNvSpPr txBox="1"/>
          <p:nvPr/>
        </p:nvSpPr>
        <p:spPr>
          <a:xfrm>
            <a:off x="548640" y="3429000"/>
            <a:ext cx="8229600" cy="640080"/>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考える</a:t>
            </a:r>
            <a:endParaRPr lang="en-US" sz="3000" dirty="0"/>
          </a:p>
        </p:txBody>
      </p:sp>
      <p:sp>
        <p:nvSpPr>
          <p:cNvPr id="7" name="Text 5"/>
          <p:cNvSpPr txBox="1"/>
          <p:nvPr/>
        </p:nvSpPr>
        <p:spPr>
          <a:xfrm>
            <a:off x="548640" y="4160520"/>
            <a:ext cx="8229600" cy="457200"/>
          </a:xfrm>
          <a:prstGeom prst="rect">
            <a:avLst/>
          </a:prstGeom>
          <a:noFill/>
          <a:ln/>
        </p:spPr>
        <p:txBody>
          <a:bodyPr wrap="square" lIns="0" tIns="0" rIns="0" bIns="0" rtlCol="0" anchor="t"/>
          <a:lstStyle/>
          <a:p>
            <a:pPr indent="0" marL="0">
              <a:buNone/>
            </a:pPr>
            <a:r>
              <a:rPr lang="en-US" sz="1700" dirty="0">
                <a:solidFill>
                  <a:srgbClr val="C9CED4"/>
                </a:solidFill>
                <a:latin typeface="Meiryo" pitchFamily="34" charset="0"/>
                <a:ea typeface="Meiryo" pitchFamily="34" charset="-122"/>
                <a:cs typeface="Meiryo" pitchFamily="34" charset="-120"/>
              </a:rPr>
              <a:t>原因の仮説を立て、確かめ方を考える</a:t>
            </a:r>
            <a:endParaRPr lang="en-US" sz="17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566928"/>
            <a:ext cx="658368" cy="329184"/>
          </a:xfrm>
          <a:prstGeom prst="rect">
            <a:avLst/>
          </a:prstGeom>
          <a:solidFill>
            <a:srgbClr val="E60012"/>
          </a:solidFill>
          <a:ln/>
        </p:spPr>
      </p:sp>
      <p:sp>
        <p:nvSpPr>
          <p:cNvPr id="3" name="Text 1"/>
          <p:cNvSpPr txBox="1"/>
          <p:nvPr/>
        </p:nvSpPr>
        <p:spPr>
          <a:xfrm>
            <a:off x="548640" y="566928"/>
            <a:ext cx="6583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考える</a:t>
            </a:r>
            <a:endParaRPr lang="en-US" sz="1100" dirty="0"/>
          </a:p>
        </p:txBody>
      </p:sp>
      <p:sp>
        <p:nvSpPr>
          <p:cNvPr id="4" name="Text 2"/>
          <p:cNvSpPr txBox="1"/>
          <p:nvPr/>
        </p:nvSpPr>
        <p:spPr>
          <a:xfrm>
            <a:off x="1371600" y="530352"/>
            <a:ext cx="10253167"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現場をよく見てみよう</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VIDEO_PLACEHOLDER_02_frame"/>
          <p:cNvSpPr/>
          <p:nvPr/>
        </p:nvSpPr>
        <p:spPr>
          <a:xfrm>
            <a:off x="548640" y="1280160"/>
            <a:ext cx="6766560" cy="3803904"/>
          </a:xfrm>
          <a:prstGeom prst="rect">
            <a:avLst/>
          </a:prstGeom>
          <a:solidFill>
            <a:srgbClr val="0B0C0D"/>
          </a:solidFill>
          <a:ln/>
        </p:spPr>
      </p:sp>
      <p:pic>
        <p:nvPicPr>
          <p:cNvPr id="12" name="VIDEO_PLACEHOLDER_02" descr="【VIDEO_PLACEHOLDER_02】映像②　現場の観察（揺れ・間隔の詰まり）（仮画像）">    </p:cNvPr>
          <p:cNvPicPr>
            <a:picLocks noChangeAspect="1"/>
          </p:cNvPicPr>
          <p:nvPr/>
        </p:nvPicPr>
        <p:blipFill>
          <a:blip r:embed="rId1"/>
          <a:stretch>
            <a:fillRect/>
          </a:stretch>
        </p:blipFill>
        <p:spPr>
          <a:xfrm>
            <a:off x="550672" y="1280160"/>
            <a:ext cx="6762496" cy="3803904"/>
          </a:xfrm>
          <a:prstGeom prst="rect">
            <a:avLst/>
          </a:prstGeom>
        </p:spPr>
      </p:pic>
      <p:sp>
        <p:nvSpPr>
          <p:cNvPr id="13" name="Shape 10"/>
          <p:cNvSpPr/>
          <p:nvPr/>
        </p:nvSpPr>
        <p:spPr>
          <a:xfrm>
            <a:off x="3520440" y="2770632"/>
            <a:ext cx="822960" cy="822960"/>
          </a:xfrm>
          <a:prstGeom prst="ellipse">
            <a:avLst/>
          </a:prstGeom>
          <a:solidFill>
            <a:srgbClr val="E60012">
              <a:alpha val="90000"/>
            </a:srgbClr>
          </a:solidFill>
          <a:ln w="19050">
            <a:solidFill>
              <a:srgbClr val="FFFFFF"/>
            </a:solidFill>
            <a:prstDash val="solid"/>
          </a:ln>
        </p:spPr>
      </p:sp>
      <p:sp>
        <p:nvSpPr>
          <p:cNvPr id="14" name="Shape 11"/>
          <p:cNvSpPr/>
          <p:nvPr/>
        </p:nvSpPr>
        <p:spPr>
          <a:xfrm rot="5400000">
            <a:off x="3813048" y="2999232"/>
            <a:ext cx="365760" cy="365760"/>
          </a:xfrm>
          <a:prstGeom prst="triangle">
            <a:avLst/>
          </a:prstGeom>
          <a:solidFill>
            <a:srgbClr val="FFFFFF"/>
          </a:solidFill>
          <a:ln/>
        </p:spPr>
      </p:sp>
      <p:sp>
        <p:nvSpPr>
          <p:cNvPr id="15" name="Shape 12"/>
          <p:cNvSpPr/>
          <p:nvPr/>
        </p:nvSpPr>
        <p:spPr>
          <a:xfrm>
            <a:off x="550672" y="4773168"/>
            <a:ext cx="6762496" cy="310896"/>
          </a:xfrm>
          <a:prstGeom prst="rect">
            <a:avLst/>
          </a:prstGeom>
          <a:solidFill>
            <a:srgbClr val="000000"/>
          </a:solidFill>
          <a:ln/>
        </p:spPr>
      </p:sp>
      <p:sp>
        <p:nvSpPr>
          <p:cNvPr id="16" name="Shape 13"/>
          <p:cNvSpPr/>
          <p:nvPr/>
        </p:nvSpPr>
        <p:spPr>
          <a:xfrm>
            <a:off x="623824" y="4809744"/>
            <a:ext cx="274320" cy="237744"/>
          </a:xfrm>
          <a:prstGeom prst="rect">
            <a:avLst/>
          </a:prstGeom>
          <a:solidFill>
            <a:srgbClr val="E60012"/>
          </a:solidFill>
          <a:ln/>
        </p:spPr>
      </p:sp>
      <p:sp>
        <p:nvSpPr>
          <p:cNvPr id="17" name="Text 14"/>
          <p:cNvSpPr txBox="1"/>
          <p:nvPr/>
        </p:nvSpPr>
        <p:spPr>
          <a:xfrm>
            <a:off x="623824" y="4809744"/>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18" name="Text 15"/>
          <p:cNvSpPr txBox="1"/>
          <p:nvPr/>
        </p:nvSpPr>
        <p:spPr>
          <a:xfrm>
            <a:off x="962152" y="4773168"/>
            <a:ext cx="6305296" cy="310896"/>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【VIDEO_PLACEHOLDER_02】映像②　現場の観察（揺れ・間隔の詰まり）　後日指定動画に差し替え</a:t>
            </a:r>
            <a:endParaRPr lang="en-US" sz="800" dirty="0"/>
          </a:p>
        </p:txBody>
      </p:sp>
      <p:sp>
        <p:nvSpPr>
          <p:cNvPr id="19" name="Shape 16"/>
          <p:cNvSpPr/>
          <p:nvPr/>
        </p:nvSpPr>
        <p:spPr>
          <a:xfrm>
            <a:off x="7680960" y="1325880"/>
            <a:ext cx="658368" cy="237744"/>
          </a:xfrm>
          <a:prstGeom prst="rect">
            <a:avLst/>
          </a:prstGeom>
          <a:solidFill>
            <a:srgbClr val="E60012"/>
          </a:solidFill>
          <a:ln/>
        </p:spPr>
      </p:sp>
      <p:sp>
        <p:nvSpPr>
          <p:cNvPr id="20" name="Text 17"/>
          <p:cNvSpPr txBox="1"/>
          <p:nvPr/>
        </p:nvSpPr>
        <p:spPr>
          <a:xfrm>
            <a:off x="7680960" y="1325880"/>
            <a:ext cx="6583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お客様</a:t>
            </a:r>
            <a:endParaRPr lang="en-US" sz="850" dirty="0"/>
          </a:p>
        </p:txBody>
      </p:sp>
      <p:sp>
        <p:nvSpPr>
          <p:cNvPr id="21" name="Text 18"/>
          <p:cNvSpPr txBox="1"/>
          <p:nvPr/>
        </p:nvSpPr>
        <p:spPr>
          <a:xfrm>
            <a:off x="8549640" y="1325880"/>
            <a:ext cx="3017520" cy="237744"/>
          </a:xfrm>
          <a:prstGeom prst="rect">
            <a:avLst/>
          </a:prstGeom>
          <a:noFill/>
          <a:ln/>
        </p:spPr>
        <p:txBody>
          <a:bodyPr wrap="square" lIns="0" tIns="0" rIns="0" bIns="0" rtlCol="0" anchor="ctr"/>
          <a:lstStyle/>
          <a:p>
            <a:pPr indent="0" marL="0">
              <a:buNone/>
            </a:pPr>
            <a:r>
              <a:rPr lang="en-US" sz="900" dirty="0">
                <a:solidFill>
                  <a:srgbClr val="8A939D"/>
                </a:solidFill>
                <a:latin typeface="Meiryo" pitchFamily="34" charset="0"/>
                <a:ea typeface="Meiryo" pitchFamily="34" charset="-122"/>
                <a:cs typeface="Meiryo" pitchFamily="34" charset="-120"/>
              </a:rPr>
              <a:t>飲料工場 設備課</a:t>
            </a:r>
            <a:endParaRPr lang="en-US" sz="900" dirty="0"/>
          </a:p>
        </p:txBody>
      </p:sp>
      <p:sp>
        <p:nvSpPr>
          <p:cNvPr id="22" name="Text 19"/>
          <p:cNvSpPr txBox="1"/>
          <p:nvPr/>
        </p:nvSpPr>
        <p:spPr>
          <a:xfrm>
            <a:off x="7680960" y="1618488"/>
            <a:ext cx="3931920" cy="329184"/>
          </a:xfrm>
          <a:prstGeom prst="rect">
            <a:avLst/>
          </a:prstGeom>
          <a:noFill/>
          <a:ln/>
        </p:spPr>
        <p:txBody>
          <a:bodyPr wrap="square" lIns="0" tIns="0" rIns="0" bIns="0" rtlCol="0" anchor="t"/>
          <a:lstStyle/>
          <a:p>
            <a:pPr indent="0" marL="0">
              <a:buNone/>
            </a:pPr>
            <a:r>
              <a:rPr lang="en-US" sz="1500" b="1" dirty="0">
                <a:solidFill>
                  <a:srgbClr val="FFFFFF"/>
                </a:solidFill>
                <a:latin typeface="Meiryo" pitchFamily="34" charset="0"/>
                <a:ea typeface="Meiryo" pitchFamily="34" charset="-122"/>
                <a:cs typeface="Meiryo" pitchFamily="34" charset="-120"/>
              </a:rPr>
              <a:t>佐藤さん</a:t>
            </a:r>
            <a:endParaRPr lang="en-US" sz="1500" dirty="0"/>
          </a:p>
        </p:txBody>
      </p:sp>
      <p:sp>
        <p:nvSpPr>
          <p:cNvPr id="23" name="Text 20"/>
          <p:cNvSpPr txBox="1"/>
          <p:nvPr/>
        </p:nvSpPr>
        <p:spPr>
          <a:xfrm>
            <a:off x="7680960" y="1984248"/>
            <a:ext cx="393192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このあたりで、ボトルが少し揺れたり、間隔が詰まったりします。</a:t>
            </a:r>
            <a:endParaRPr lang="en-US" sz="1700" dirty="0"/>
          </a:p>
        </p:txBody>
      </p:sp>
      <p:sp>
        <p:nvSpPr>
          <p:cNvPr id="24" name="Shape 21"/>
          <p:cNvSpPr/>
          <p:nvPr/>
        </p:nvSpPr>
        <p:spPr>
          <a:xfrm>
            <a:off x="7680960" y="3749040"/>
            <a:ext cx="3931920" cy="1335024"/>
          </a:xfrm>
          <a:prstGeom prst="rect">
            <a:avLst/>
          </a:prstGeom>
          <a:solidFill>
            <a:srgbClr val="2A2D33"/>
          </a:solidFill>
          <a:ln/>
        </p:spPr>
      </p:sp>
      <p:sp>
        <p:nvSpPr>
          <p:cNvPr id="25" name="Text 22"/>
          <p:cNvSpPr txBox="1"/>
          <p:nvPr/>
        </p:nvSpPr>
        <p:spPr>
          <a:xfrm>
            <a:off x="7863840" y="3858768"/>
            <a:ext cx="3566160" cy="228600"/>
          </a:xfrm>
          <a:prstGeom prst="rect">
            <a:avLst/>
          </a:prstGeom>
          <a:noFill/>
          <a:ln/>
        </p:spPr>
        <p:txBody>
          <a:bodyPr wrap="square" lIns="0" tIns="0" rIns="0" bIns="0" rtlCol="0" anchor="t"/>
          <a:lstStyle/>
          <a:p>
            <a:pPr indent="0" marL="0">
              <a:buNone/>
            </a:pPr>
            <a:r>
              <a:rPr lang="en-US" sz="950" b="1" dirty="0">
                <a:solidFill>
                  <a:srgbClr val="E60012"/>
                </a:solidFill>
                <a:latin typeface="Meiryo" pitchFamily="34" charset="0"/>
                <a:ea typeface="Meiryo" pitchFamily="34" charset="-122"/>
                <a:cs typeface="Meiryo" pitchFamily="34" charset="-120"/>
              </a:rPr>
              <a:t>映像のあとで</a:t>
            </a:r>
            <a:endParaRPr lang="en-US" sz="950" dirty="0"/>
          </a:p>
        </p:txBody>
      </p:sp>
      <p:sp>
        <p:nvSpPr>
          <p:cNvPr id="26" name="Text 23"/>
          <p:cNvSpPr txBox="1"/>
          <p:nvPr/>
        </p:nvSpPr>
        <p:spPr>
          <a:xfrm>
            <a:off x="7863840" y="4133088"/>
            <a:ext cx="356616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映像の中で、気になったことは何ですか？</a:t>
            </a:r>
            <a:endParaRPr lang="en-US" sz="1700" dirty="0"/>
          </a:p>
        </p:txBody>
      </p:sp>
      <p:sp>
        <p:nvSpPr>
          <p:cNvPr id="27" name="Text 24"/>
          <p:cNvSpPr txBox="1"/>
          <p:nvPr/>
        </p:nvSpPr>
        <p:spPr>
          <a:xfrm>
            <a:off x="548640" y="5257800"/>
            <a:ext cx="6766560" cy="274320"/>
          </a:xfrm>
          <a:prstGeom prst="rect">
            <a:avLst/>
          </a:prstGeom>
          <a:noFill/>
          <a:ln/>
        </p:spPr>
        <p:txBody>
          <a:bodyPr wrap="square" lIns="0" tIns="0" rIns="0" bIns="0" rtlCol="0" anchor="t"/>
          <a:lstStyle/>
          <a:p>
            <a:pPr indent="0" marL="0">
              <a:buNone/>
            </a:pPr>
            <a:r>
              <a:rPr lang="en-US" sz="950" dirty="0">
                <a:solidFill>
                  <a:srgbClr val="8A939D"/>
                </a:solidFill>
                <a:latin typeface="Meiryo" pitchFamily="34" charset="0"/>
                <a:ea typeface="Meiryo" pitchFamily="34" charset="-122"/>
                <a:cs typeface="Meiryo" pitchFamily="34" charset="-120"/>
              </a:rPr>
              <a:t>映像は30秒以内。視聴だけで終わらせず、直後に問いかける</a:t>
            </a:r>
            <a:endParaRPr lang="en-US" sz="95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566928"/>
            <a:ext cx="658368" cy="329184"/>
          </a:xfrm>
          <a:prstGeom prst="rect">
            <a:avLst/>
          </a:prstGeom>
          <a:solidFill>
            <a:srgbClr val="E60012"/>
          </a:solidFill>
          <a:ln/>
        </p:spPr>
      </p:sp>
      <p:sp>
        <p:nvSpPr>
          <p:cNvPr id="3" name="Text 1"/>
          <p:cNvSpPr txBox="1"/>
          <p:nvPr/>
        </p:nvSpPr>
        <p:spPr>
          <a:xfrm>
            <a:off x="548640" y="566928"/>
            <a:ext cx="6583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考える</a:t>
            </a:r>
            <a:endParaRPr lang="en-US" sz="1100" dirty="0"/>
          </a:p>
        </p:txBody>
      </p:sp>
      <p:sp>
        <p:nvSpPr>
          <p:cNvPr id="4" name="Text 2"/>
          <p:cNvSpPr txBox="1"/>
          <p:nvPr/>
        </p:nvSpPr>
        <p:spPr>
          <a:xfrm>
            <a:off x="1371600" y="530352"/>
            <a:ext cx="10253167"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本数を数えるしくみ</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280160"/>
            <a:ext cx="2971800" cy="233172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2" name="Text 10"/>
          <p:cNvSpPr txBox="1"/>
          <p:nvPr/>
        </p:nvSpPr>
        <p:spPr>
          <a:xfrm>
            <a:off x="777240" y="1417320"/>
            <a:ext cx="2560320" cy="411480"/>
          </a:xfrm>
          <a:prstGeom prst="rect">
            <a:avLst/>
          </a:prstGeom>
          <a:noFill/>
          <a:ln/>
        </p:spPr>
        <p:txBody>
          <a:bodyPr wrap="square" lIns="0" tIns="0" rIns="0" bIns="0" rtlCol="0" anchor="t"/>
          <a:lstStyle/>
          <a:p>
            <a:pPr indent="0" marL="0">
              <a:buNone/>
            </a:pPr>
            <a:r>
              <a:rPr lang="en-US" sz="2200" b="1" dirty="0">
                <a:solidFill>
                  <a:srgbClr val="E60012"/>
                </a:solidFill>
                <a:latin typeface="Meiryo" pitchFamily="34" charset="0"/>
                <a:ea typeface="Meiryo" pitchFamily="34" charset="-122"/>
                <a:cs typeface="Meiryo" pitchFamily="34" charset="-120"/>
              </a:rPr>
              <a:t>センサ</a:t>
            </a:r>
            <a:endParaRPr lang="en-US" sz="2200" dirty="0"/>
          </a:p>
        </p:txBody>
      </p:sp>
      <p:sp>
        <p:nvSpPr>
          <p:cNvPr id="13" name="Text 11"/>
          <p:cNvSpPr txBox="1"/>
          <p:nvPr/>
        </p:nvSpPr>
        <p:spPr>
          <a:xfrm>
            <a:off x="777240" y="1874520"/>
            <a:ext cx="2560320" cy="685800"/>
          </a:xfrm>
          <a:prstGeom prst="rect">
            <a:avLst/>
          </a:prstGeom>
          <a:noFill/>
          <a:ln/>
        </p:spPr>
        <p:txBody>
          <a:bodyPr wrap="square" lIns="0" tIns="0" rIns="0" bIns="0" rtlCol="0" anchor="t"/>
          <a:lstStyle/>
          <a:p>
            <a:pPr indent="0" marL="0">
              <a:buNone/>
            </a:pPr>
            <a:r>
              <a:rPr lang="en-US" sz="1600" b="1" dirty="0">
                <a:solidFill>
                  <a:srgbClr val="1E2126"/>
                </a:solidFill>
                <a:latin typeface="Meiryo" pitchFamily="34" charset="0"/>
                <a:ea typeface="Meiryo" pitchFamily="34" charset="-122"/>
                <a:cs typeface="Meiryo" pitchFamily="34" charset="-120"/>
              </a:rPr>
              <a:t>「来た！」と合図する係</a:t>
            </a:r>
            <a:endParaRPr lang="en-US" sz="1600" dirty="0"/>
          </a:p>
        </p:txBody>
      </p:sp>
      <p:sp>
        <p:nvSpPr>
          <p:cNvPr id="14" name="Text 12"/>
          <p:cNvSpPr txBox="1"/>
          <p:nvPr/>
        </p:nvSpPr>
        <p:spPr>
          <a:xfrm>
            <a:off x="777240" y="2606040"/>
            <a:ext cx="2560320" cy="914400"/>
          </a:xfrm>
          <a:prstGeom prst="rect">
            <a:avLst/>
          </a:prstGeom>
          <a:noFill/>
          <a:ln/>
        </p:spPr>
        <p:txBody>
          <a:bodyPr wrap="square" lIns="0" tIns="0" rIns="0" bIns="0" rtlCol="0" anchor="t"/>
          <a:lstStyle/>
          <a:p>
            <a:pPr indent="0" marL="0">
              <a:buNone/>
            </a:pPr>
            <a:r>
              <a:rPr lang="en-US" sz="1150" dirty="0">
                <a:solidFill>
                  <a:srgbClr val="5A6470"/>
                </a:solidFill>
                <a:latin typeface="Meiryo" pitchFamily="34" charset="0"/>
                <a:ea typeface="Meiryo" pitchFamily="34" charset="-122"/>
                <a:cs typeface="Meiryo" pitchFamily="34" charset="-120"/>
              </a:rPr>
              <a:t>ボトルが通るたびに合図を出す。これを「センサ出力」と呼ぶ</a:t>
            </a:r>
            <a:endParaRPr lang="en-US" sz="1150" dirty="0"/>
          </a:p>
        </p:txBody>
      </p:sp>
      <p:sp>
        <p:nvSpPr>
          <p:cNvPr id="15" name="Shape 13"/>
          <p:cNvSpPr/>
          <p:nvPr/>
        </p:nvSpPr>
        <p:spPr>
          <a:xfrm>
            <a:off x="3703320" y="1280160"/>
            <a:ext cx="2971800" cy="233172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6" name="Text 14"/>
          <p:cNvSpPr txBox="1"/>
          <p:nvPr/>
        </p:nvSpPr>
        <p:spPr>
          <a:xfrm>
            <a:off x="3931920" y="1417320"/>
            <a:ext cx="2560320" cy="411480"/>
          </a:xfrm>
          <a:prstGeom prst="rect">
            <a:avLst/>
          </a:prstGeom>
          <a:noFill/>
          <a:ln/>
        </p:spPr>
        <p:txBody>
          <a:bodyPr wrap="square" lIns="0" tIns="0" rIns="0" bIns="0" rtlCol="0" anchor="t"/>
          <a:lstStyle/>
          <a:p>
            <a:pPr indent="0" marL="0">
              <a:buNone/>
            </a:pPr>
            <a:r>
              <a:rPr lang="en-US" sz="2200" b="1" dirty="0">
                <a:solidFill>
                  <a:srgbClr val="E60012"/>
                </a:solidFill>
                <a:latin typeface="Meiryo" pitchFamily="34" charset="0"/>
                <a:ea typeface="Meiryo" pitchFamily="34" charset="-122"/>
                <a:cs typeface="Meiryo" pitchFamily="34" charset="-120"/>
              </a:rPr>
              <a:t>PLC</a:t>
            </a:r>
            <a:endParaRPr lang="en-US" sz="2200" dirty="0"/>
          </a:p>
        </p:txBody>
      </p:sp>
      <p:sp>
        <p:nvSpPr>
          <p:cNvPr id="17" name="Text 15"/>
          <p:cNvSpPr txBox="1"/>
          <p:nvPr/>
        </p:nvSpPr>
        <p:spPr>
          <a:xfrm>
            <a:off x="3931920" y="1874520"/>
            <a:ext cx="2560320" cy="685800"/>
          </a:xfrm>
          <a:prstGeom prst="rect">
            <a:avLst/>
          </a:prstGeom>
          <a:noFill/>
          <a:ln/>
        </p:spPr>
        <p:txBody>
          <a:bodyPr wrap="square" lIns="0" tIns="0" rIns="0" bIns="0" rtlCol="0" anchor="t"/>
          <a:lstStyle/>
          <a:p>
            <a:pPr indent="0" marL="0">
              <a:buNone/>
            </a:pPr>
            <a:r>
              <a:rPr lang="en-US" sz="1600" b="1" dirty="0">
                <a:solidFill>
                  <a:srgbClr val="1E2126"/>
                </a:solidFill>
                <a:latin typeface="Meiryo" pitchFamily="34" charset="0"/>
                <a:ea typeface="Meiryo" pitchFamily="34" charset="-122"/>
                <a:cs typeface="Meiryo" pitchFamily="34" charset="-120"/>
              </a:rPr>
              <a:t>合図の回数を数える係</a:t>
            </a:r>
            <a:endParaRPr lang="en-US" sz="1600" dirty="0"/>
          </a:p>
        </p:txBody>
      </p:sp>
      <p:sp>
        <p:nvSpPr>
          <p:cNvPr id="18" name="Text 16"/>
          <p:cNvSpPr txBox="1"/>
          <p:nvPr/>
        </p:nvSpPr>
        <p:spPr>
          <a:xfrm>
            <a:off x="3931920" y="2606040"/>
            <a:ext cx="2560320" cy="914400"/>
          </a:xfrm>
          <a:prstGeom prst="rect">
            <a:avLst/>
          </a:prstGeom>
          <a:noFill/>
          <a:ln/>
        </p:spPr>
        <p:txBody>
          <a:bodyPr wrap="square" lIns="0" tIns="0" rIns="0" bIns="0" rtlCol="0" anchor="t"/>
          <a:lstStyle/>
          <a:p>
            <a:pPr indent="0" marL="0">
              <a:buNone/>
            </a:pPr>
            <a:r>
              <a:rPr lang="en-US" sz="1150" dirty="0">
                <a:solidFill>
                  <a:srgbClr val="5A6470"/>
                </a:solidFill>
                <a:latin typeface="Meiryo" pitchFamily="34" charset="0"/>
                <a:ea typeface="Meiryo" pitchFamily="34" charset="-122"/>
                <a:cs typeface="Meiryo" pitchFamily="34" charset="-120"/>
              </a:rPr>
              <a:t>センサからの合図を受け取り、本数を数える装置</a:t>
            </a:r>
            <a:endParaRPr lang="en-US" sz="1150" dirty="0"/>
          </a:p>
        </p:txBody>
      </p:sp>
      <p:sp>
        <p:nvSpPr>
          <p:cNvPr id="19" name="Shape 17"/>
          <p:cNvSpPr/>
          <p:nvPr/>
        </p:nvSpPr>
        <p:spPr>
          <a:xfrm>
            <a:off x="3538728" y="2286000"/>
            <a:ext cx="182880" cy="320040"/>
          </a:xfrm>
          <a:prstGeom prst="rightArrow">
            <a:avLst/>
          </a:prstGeom>
          <a:solidFill>
            <a:srgbClr val="E60012"/>
          </a:solidFill>
          <a:ln/>
        </p:spPr>
      </p:sp>
      <p:sp>
        <p:nvSpPr>
          <p:cNvPr id="20" name="Shape 18"/>
          <p:cNvSpPr/>
          <p:nvPr/>
        </p:nvSpPr>
        <p:spPr>
          <a:xfrm>
            <a:off x="6995160" y="1280160"/>
            <a:ext cx="4645152" cy="233172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1" name="Text 19"/>
          <p:cNvSpPr txBox="1"/>
          <p:nvPr/>
        </p:nvSpPr>
        <p:spPr>
          <a:xfrm>
            <a:off x="7178040" y="1389888"/>
            <a:ext cx="4297680" cy="274320"/>
          </a:xfrm>
          <a:prstGeom prst="rect">
            <a:avLst/>
          </a:prstGeom>
          <a:noFill/>
          <a:ln/>
        </p:spPr>
        <p:txBody>
          <a:bodyPr wrap="square" lIns="0" tIns="0" rIns="0" bIns="0" rtlCol="0" anchor="t"/>
          <a:lstStyle/>
          <a:p>
            <a:pPr indent="0" marL="0">
              <a:buNone/>
            </a:pPr>
            <a:r>
              <a:rPr lang="en-US" sz="1100" b="1" dirty="0">
                <a:solidFill>
                  <a:srgbClr val="1E2126"/>
                </a:solidFill>
                <a:latin typeface="Meiryo" pitchFamily="34" charset="0"/>
                <a:ea typeface="Meiryo" pitchFamily="34" charset="-122"/>
                <a:cs typeface="Meiryo" pitchFamily="34" charset="-120"/>
              </a:rPr>
              <a:t>ボトル1本が通るあいだの合図（センサ出力）</a:t>
            </a:r>
            <a:endParaRPr lang="en-US" sz="1100" dirty="0"/>
          </a:p>
        </p:txBody>
      </p:sp>
      <p:sp>
        <p:nvSpPr>
          <p:cNvPr id="22" name="Shape 20"/>
          <p:cNvSpPr/>
          <p:nvPr/>
        </p:nvSpPr>
        <p:spPr>
          <a:xfrm>
            <a:off x="7818120" y="2880360"/>
            <a:ext cx="1248156" cy="0"/>
          </a:xfrm>
          <a:prstGeom prst="line">
            <a:avLst/>
          </a:prstGeom>
          <a:noFill/>
          <a:ln w="31750">
            <a:solidFill>
              <a:srgbClr val="141517"/>
            </a:solidFill>
            <a:prstDash val="solid"/>
          </a:ln>
        </p:spPr>
      </p:sp>
      <p:sp>
        <p:nvSpPr>
          <p:cNvPr id="23" name="Shape 21"/>
          <p:cNvSpPr/>
          <p:nvPr/>
        </p:nvSpPr>
        <p:spPr>
          <a:xfrm>
            <a:off x="9066276" y="1965960"/>
            <a:ext cx="0" cy="914400"/>
          </a:xfrm>
          <a:prstGeom prst="line">
            <a:avLst/>
          </a:prstGeom>
          <a:noFill/>
          <a:ln w="31750">
            <a:solidFill>
              <a:srgbClr val="141517"/>
            </a:solidFill>
            <a:prstDash val="solid"/>
          </a:ln>
        </p:spPr>
      </p:sp>
      <p:sp>
        <p:nvSpPr>
          <p:cNvPr id="24" name="Shape 22"/>
          <p:cNvSpPr/>
          <p:nvPr/>
        </p:nvSpPr>
        <p:spPr>
          <a:xfrm>
            <a:off x="9066276" y="1965960"/>
            <a:ext cx="1069848" cy="0"/>
          </a:xfrm>
          <a:prstGeom prst="line">
            <a:avLst/>
          </a:prstGeom>
          <a:noFill/>
          <a:ln w="31750">
            <a:solidFill>
              <a:srgbClr val="141517"/>
            </a:solidFill>
            <a:prstDash val="solid"/>
          </a:ln>
        </p:spPr>
      </p:sp>
      <p:sp>
        <p:nvSpPr>
          <p:cNvPr id="25" name="Shape 23"/>
          <p:cNvSpPr/>
          <p:nvPr/>
        </p:nvSpPr>
        <p:spPr>
          <a:xfrm>
            <a:off x="10136124" y="1965960"/>
            <a:ext cx="0" cy="914400"/>
          </a:xfrm>
          <a:prstGeom prst="line">
            <a:avLst/>
          </a:prstGeom>
          <a:noFill/>
          <a:ln w="31750">
            <a:solidFill>
              <a:srgbClr val="141517"/>
            </a:solidFill>
            <a:prstDash val="solid"/>
          </a:ln>
        </p:spPr>
      </p:sp>
      <p:sp>
        <p:nvSpPr>
          <p:cNvPr id="26" name="Shape 24"/>
          <p:cNvSpPr/>
          <p:nvPr/>
        </p:nvSpPr>
        <p:spPr>
          <a:xfrm>
            <a:off x="10136124" y="2880360"/>
            <a:ext cx="1248156" cy="0"/>
          </a:xfrm>
          <a:prstGeom prst="line">
            <a:avLst/>
          </a:prstGeom>
          <a:noFill/>
          <a:ln w="31750">
            <a:solidFill>
              <a:srgbClr val="141517"/>
            </a:solidFill>
            <a:prstDash val="solid"/>
          </a:ln>
        </p:spPr>
      </p:sp>
      <p:sp>
        <p:nvSpPr>
          <p:cNvPr id="27" name="Text 25"/>
          <p:cNvSpPr txBox="1"/>
          <p:nvPr/>
        </p:nvSpPr>
        <p:spPr>
          <a:xfrm>
            <a:off x="7315200" y="1874520"/>
            <a:ext cx="411480" cy="228600"/>
          </a:xfrm>
          <a:prstGeom prst="rect">
            <a:avLst/>
          </a:prstGeom>
          <a:noFill/>
          <a:ln/>
        </p:spPr>
        <p:txBody>
          <a:bodyPr wrap="square" lIns="0" tIns="0" rIns="0" bIns="0" rtlCol="0" anchor="t"/>
          <a:lstStyle/>
          <a:p>
            <a:pPr algn="r" indent="0" marL="0">
              <a:buNone/>
            </a:pPr>
            <a:r>
              <a:rPr lang="en-US" sz="900" dirty="0">
                <a:solidFill>
                  <a:srgbClr val="5A6470"/>
                </a:solidFill>
                <a:latin typeface="Meiryo" pitchFamily="34" charset="0"/>
                <a:ea typeface="Meiryo" pitchFamily="34" charset="-122"/>
                <a:cs typeface="Meiryo" pitchFamily="34" charset="-120"/>
              </a:rPr>
              <a:t>ON</a:t>
            </a:r>
            <a:endParaRPr lang="en-US" sz="900" dirty="0"/>
          </a:p>
        </p:txBody>
      </p:sp>
      <p:sp>
        <p:nvSpPr>
          <p:cNvPr id="28" name="Text 26"/>
          <p:cNvSpPr txBox="1"/>
          <p:nvPr/>
        </p:nvSpPr>
        <p:spPr>
          <a:xfrm>
            <a:off x="7315200" y="2770632"/>
            <a:ext cx="411480" cy="228600"/>
          </a:xfrm>
          <a:prstGeom prst="rect">
            <a:avLst/>
          </a:prstGeom>
          <a:noFill/>
          <a:ln/>
        </p:spPr>
        <p:txBody>
          <a:bodyPr wrap="square" lIns="0" tIns="0" rIns="0" bIns="0" rtlCol="0" anchor="t"/>
          <a:lstStyle/>
          <a:p>
            <a:pPr algn="r" indent="0" marL="0">
              <a:buNone/>
            </a:pPr>
            <a:r>
              <a:rPr lang="en-US" sz="900" dirty="0">
                <a:solidFill>
                  <a:srgbClr val="5A6470"/>
                </a:solidFill>
                <a:latin typeface="Meiryo" pitchFamily="34" charset="0"/>
                <a:ea typeface="Meiryo" pitchFamily="34" charset="-122"/>
                <a:cs typeface="Meiryo" pitchFamily="34" charset="-120"/>
              </a:rPr>
              <a:t>OFF</a:t>
            </a:r>
            <a:endParaRPr lang="en-US" sz="900" dirty="0"/>
          </a:p>
        </p:txBody>
      </p:sp>
      <p:sp>
        <p:nvSpPr>
          <p:cNvPr id="29" name="Text 27"/>
          <p:cNvSpPr txBox="1"/>
          <p:nvPr/>
        </p:nvSpPr>
        <p:spPr>
          <a:xfrm>
            <a:off x="7178040" y="3108960"/>
            <a:ext cx="4297680" cy="365760"/>
          </a:xfrm>
          <a:prstGeom prst="rect">
            <a:avLst/>
          </a:prstGeom>
          <a:noFill/>
          <a:ln/>
        </p:spPr>
        <p:txBody>
          <a:bodyPr wrap="square" lIns="0" tIns="0" rIns="0" bIns="0" rtlCol="0" anchor="t"/>
          <a:lstStyle/>
          <a:p>
            <a:pPr algn="ctr" indent="0" marL="0">
              <a:buNone/>
            </a:pPr>
            <a:r>
              <a:rPr lang="en-US" sz="1500" b="1" dirty="0">
                <a:solidFill>
                  <a:srgbClr val="1E2126"/>
                </a:solidFill>
                <a:latin typeface="Meiryo" pitchFamily="34" charset="0"/>
                <a:ea typeface="Meiryo" pitchFamily="34" charset="-122"/>
                <a:cs typeface="Meiryo" pitchFamily="34" charset="-120"/>
              </a:rPr>
              <a:t>合図 1回　→　カウント ＋1</a:t>
            </a:r>
            <a:endParaRPr lang="en-US" sz="1500" dirty="0"/>
          </a:p>
        </p:txBody>
      </p:sp>
      <p:sp>
        <p:nvSpPr>
          <p:cNvPr id="30" name="Shape 28"/>
          <p:cNvSpPr/>
          <p:nvPr/>
        </p:nvSpPr>
        <p:spPr>
          <a:xfrm>
            <a:off x="548640" y="3931920"/>
            <a:ext cx="11094415" cy="1097280"/>
          </a:xfrm>
          <a:prstGeom prst="rect">
            <a:avLst/>
          </a:prstGeom>
          <a:solidFill>
            <a:srgbClr val="141517"/>
          </a:solidFill>
          <a:ln/>
        </p:spPr>
      </p:sp>
      <p:sp>
        <p:nvSpPr>
          <p:cNvPr id="31" name="Text 29"/>
          <p:cNvSpPr txBox="1"/>
          <p:nvPr/>
        </p:nvSpPr>
        <p:spPr>
          <a:xfrm>
            <a:off x="868680" y="3931920"/>
            <a:ext cx="10454335" cy="10972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合図1回＝1本。合図が2回出たら、2本と数える</a:t>
            </a:r>
            <a:endParaRPr lang="en-US" sz="2400" dirty="0"/>
          </a:p>
        </p:txBody>
      </p:sp>
      <p:sp>
        <p:nvSpPr>
          <p:cNvPr id="32" name="Text 30"/>
          <p:cNvSpPr txBox="1"/>
          <p:nvPr/>
        </p:nvSpPr>
        <p:spPr>
          <a:xfrm>
            <a:off x="548640" y="5257800"/>
            <a:ext cx="9144000" cy="365760"/>
          </a:xfrm>
          <a:prstGeom prst="rect">
            <a:avLst/>
          </a:prstGeom>
          <a:noFill/>
          <a:ln/>
        </p:spPr>
        <p:txBody>
          <a:bodyPr wrap="square" lIns="0" tIns="0" rIns="0" bIns="0" rtlCol="0" anchor="t"/>
          <a:lstStyle/>
          <a:p>
            <a:pPr indent="0" marL="0">
              <a:buNone/>
            </a:pPr>
            <a:r>
              <a:rPr lang="en-US" sz="1400" dirty="0">
                <a:solidFill>
                  <a:srgbClr val="1E2126"/>
                </a:solidFill>
                <a:latin typeface="Meiryo" pitchFamily="34" charset="0"/>
                <a:ea typeface="Meiryo" pitchFamily="34" charset="-122"/>
                <a:cs typeface="Meiryo" pitchFamily="34" charset="-120"/>
              </a:rPr>
              <a:t>この、実際の本数と数えた本数のずれを「誤カウント」と呼びます。</a:t>
            </a:r>
            <a:endParaRPr lang="en-US" sz="14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566928"/>
            <a:ext cx="658368" cy="329184"/>
          </a:xfrm>
          <a:prstGeom prst="rect">
            <a:avLst/>
          </a:prstGeom>
          <a:solidFill>
            <a:srgbClr val="E60012"/>
          </a:solidFill>
          <a:ln/>
        </p:spPr>
      </p:sp>
      <p:sp>
        <p:nvSpPr>
          <p:cNvPr id="3" name="Text 1"/>
          <p:cNvSpPr txBox="1"/>
          <p:nvPr/>
        </p:nvSpPr>
        <p:spPr>
          <a:xfrm>
            <a:off x="548640" y="566928"/>
            <a:ext cx="6583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考える</a:t>
            </a:r>
            <a:endParaRPr lang="en-US" sz="1100" dirty="0"/>
          </a:p>
        </p:txBody>
      </p:sp>
      <p:sp>
        <p:nvSpPr>
          <p:cNvPr id="4" name="Text 2"/>
          <p:cNvSpPr txBox="1"/>
          <p:nvPr/>
        </p:nvSpPr>
        <p:spPr>
          <a:xfrm>
            <a:off x="1371600" y="530352"/>
            <a:ext cx="10253167"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ワーク1　原因の仮説を立てよう</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Text 9"/>
          <p:cNvSpPr txBox="1"/>
          <p:nvPr/>
        </p:nvSpPr>
        <p:spPr>
          <a:xfrm>
            <a:off x="548640" y="1325880"/>
            <a:ext cx="2743200" cy="274320"/>
          </a:xfrm>
          <a:prstGeom prst="rect">
            <a:avLst/>
          </a:prstGeom>
          <a:noFill/>
          <a:ln/>
        </p:spPr>
        <p:txBody>
          <a:bodyPr wrap="square" lIns="0" tIns="0" rIns="0" bIns="0" rtlCol="0" anchor="t"/>
          <a:lstStyle/>
          <a:p>
            <a:pPr indent="0" marL="0">
              <a:buNone/>
            </a:pPr>
            <a:r>
              <a:rPr lang="en-US" sz="1100" b="1" spc="300" kern="0" dirty="0">
                <a:solidFill>
                  <a:srgbClr val="E60012"/>
                </a:solidFill>
                <a:latin typeface="Meiryo" pitchFamily="34" charset="0"/>
                <a:ea typeface="Meiryo" pitchFamily="34" charset="-122"/>
                <a:cs typeface="Meiryo" pitchFamily="34" charset="-120"/>
              </a:rPr>
              <a:t>WORK</a:t>
            </a:r>
            <a:endParaRPr lang="en-US" sz="1100" dirty="0"/>
          </a:p>
        </p:txBody>
      </p:sp>
      <p:sp>
        <p:nvSpPr>
          <p:cNvPr id="12" name="Text 10"/>
          <p:cNvSpPr txBox="1"/>
          <p:nvPr/>
        </p:nvSpPr>
        <p:spPr>
          <a:xfrm>
            <a:off x="548640" y="1645920"/>
            <a:ext cx="11094415" cy="155448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1本のボトルを、2本と数えてしまうのは</a:t>
            </a:r>
            <a:endParaRPr lang="en-US" sz="3400" dirty="0"/>
          </a:p>
          <a:p>
            <a:pPr indent="0" marL="0">
              <a:buNone/>
            </a:pPr>
            <a:r>
              <a:rPr lang="en-US" sz="3400" b="1" dirty="0">
                <a:solidFill>
                  <a:srgbClr val="FFFFFF"/>
                </a:solidFill>
                <a:latin typeface="Meiryo" pitchFamily="34" charset="0"/>
                <a:ea typeface="Meiryo" pitchFamily="34" charset="-122"/>
                <a:cs typeface="Meiryo" pitchFamily="34" charset="-120"/>
              </a:rPr>
              <a:t>どんなときだと思いますか？</a:t>
            </a:r>
            <a:endParaRPr lang="en-US" sz="3400" dirty="0"/>
          </a:p>
        </p:txBody>
      </p:sp>
      <p:sp>
        <p:nvSpPr>
          <p:cNvPr id="13" name="Shape 11"/>
          <p:cNvSpPr/>
          <p:nvPr/>
        </p:nvSpPr>
        <p:spPr>
          <a:xfrm>
            <a:off x="548640" y="3611880"/>
            <a:ext cx="3291840" cy="1005840"/>
          </a:xfrm>
          <a:prstGeom prst="rect">
            <a:avLst/>
          </a:prstGeom>
          <a:solidFill>
            <a:srgbClr val="2A2D33"/>
          </a:solidFill>
          <a:ln/>
        </p:spPr>
      </p:sp>
      <p:sp>
        <p:nvSpPr>
          <p:cNvPr id="14" name="Text 12"/>
          <p:cNvSpPr txBox="1"/>
          <p:nvPr/>
        </p:nvSpPr>
        <p:spPr>
          <a:xfrm>
            <a:off x="777240" y="3703320"/>
            <a:ext cx="2834640" cy="411480"/>
          </a:xfrm>
          <a:prstGeom prst="rect">
            <a:avLst/>
          </a:prstGeom>
          <a:noFill/>
          <a:ln/>
        </p:spPr>
        <p:txBody>
          <a:bodyPr wrap="square" lIns="0" tIns="0" rIns="0" bIns="0" rtlCol="0" anchor="t"/>
          <a:lstStyle/>
          <a:p>
            <a:pPr indent="0" marL="0">
              <a:buNone/>
            </a:pPr>
            <a:r>
              <a:rPr lang="en-US" sz="2000" b="1" dirty="0">
                <a:solidFill>
                  <a:srgbClr val="E60012"/>
                </a:solidFill>
                <a:latin typeface="Meiryo" pitchFamily="34" charset="0"/>
                <a:ea typeface="Meiryo" pitchFamily="34" charset="-122"/>
                <a:cs typeface="Meiryo" pitchFamily="34" charset="-120"/>
              </a:rPr>
              <a:t>1分</a:t>
            </a:r>
            <a:endParaRPr lang="en-US" sz="2000" dirty="0"/>
          </a:p>
        </p:txBody>
      </p:sp>
      <p:sp>
        <p:nvSpPr>
          <p:cNvPr id="15" name="Text 13"/>
          <p:cNvSpPr txBox="1"/>
          <p:nvPr/>
        </p:nvSpPr>
        <p:spPr>
          <a:xfrm>
            <a:off x="777240" y="4114800"/>
            <a:ext cx="2834640" cy="411480"/>
          </a:xfrm>
          <a:prstGeom prst="rect">
            <a:avLst/>
          </a:prstGeom>
          <a:noFill/>
          <a:ln/>
        </p:spPr>
        <p:txBody>
          <a:bodyPr wrap="square" lIns="0" tIns="0" rIns="0" bIns="0" rtlCol="0" anchor="t"/>
          <a:lstStyle/>
          <a:p>
            <a:pPr indent="0" marL="0">
              <a:buNone/>
            </a:pPr>
            <a:r>
              <a:rPr lang="en-US" sz="1300" dirty="0">
                <a:solidFill>
                  <a:srgbClr val="FFFFFF"/>
                </a:solidFill>
                <a:latin typeface="Meiryo" pitchFamily="34" charset="0"/>
                <a:ea typeface="Meiryo" pitchFamily="34" charset="-122"/>
                <a:cs typeface="Meiryo" pitchFamily="34" charset="-120"/>
              </a:rPr>
              <a:t>ひとりで書く（いくつでも）</a:t>
            </a:r>
            <a:endParaRPr lang="en-US" sz="1300" dirty="0"/>
          </a:p>
        </p:txBody>
      </p:sp>
      <p:sp>
        <p:nvSpPr>
          <p:cNvPr id="16" name="Shape 14"/>
          <p:cNvSpPr/>
          <p:nvPr/>
        </p:nvSpPr>
        <p:spPr>
          <a:xfrm>
            <a:off x="4069080" y="3611880"/>
            <a:ext cx="3291840" cy="1005840"/>
          </a:xfrm>
          <a:prstGeom prst="rect">
            <a:avLst/>
          </a:prstGeom>
          <a:solidFill>
            <a:srgbClr val="2A2D33"/>
          </a:solidFill>
          <a:ln/>
        </p:spPr>
      </p:sp>
      <p:sp>
        <p:nvSpPr>
          <p:cNvPr id="17" name="Text 15"/>
          <p:cNvSpPr txBox="1"/>
          <p:nvPr/>
        </p:nvSpPr>
        <p:spPr>
          <a:xfrm>
            <a:off x="4297680" y="3703320"/>
            <a:ext cx="2834640" cy="411480"/>
          </a:xfrm>
          <a:prstGeom prst="rect">
            <a:avLst/>
          </a:prstGeom>
          <a:noFill/>
          <a:ln/>
        </p:spPr>
        <p:txBody>
          <a:bodyPr wrap="square" lIns="0" tIns="0" rIns="0" bIns="0" rtlCol="0" anchor="t"/>
          <a:lstStyle/>
          <a:p>
            <a:pPr indent="0" marL="0">
              <a:buNone/>
            </a:pPr>
            <a:r>
              <a:rPr lang="en-US" sz="2000" b="1" dirty="0">
                <a:solidFill>
                  <a:srgbClr val="E60012"/>
                </a:solidFill>
                <a:latin typeface="Meiryo" pitchFamily="34" charset="0"/>
                <a:ea typeface="Meiryo" pitchFamily="34" charset="-122"/>
                <a:cs typeface="Meiryo" pitchFamily="34" charset="-120"/>
              </a:rPr>
              <a:t>1分</a:t>
            </a:r>
            <a:endParaRPr lang="en-US" sz="2000" dirty="0"/>
          </a:p>
        </p:txBody>
      </p:sp>
      <p:sp>
        <p:nvSpPr>
          <p:cNvPr id="18" name="Text 16"/>
          <p:cNvSpPr txBox="1"/>
          <p:nvPr/>
        </p:nvSpPr>
        <p:spPr>
          <a:xfrm>
            <a:off x="4297680" y="4114800"/>
            <a:ext cx="2834640" cy="411480"/>
          </a:xfrm>
          <a:prstGeom prst="rect">
            <a:avLst/>
          </a:prstGeom>
          <a:noFill/>
          <a:ln/>
        </p:spPr>
        <p:txBody>
          <a:bodyPr wrap="square" lIns="0" tIns="0" rIns="0" bIns="0" rtlCol="0" anchor="t"/>
          <a:lstStyle/>
          <a:p>
            <a:pPr indent="0" marL="0">
              <a:buNone/>
            </a:pPr>
            <a:r>
              <a:rPr lang="en-US" sz="1300" dirty="0">
                <a:solidFill>
                  <a:srgbClr val="FFFFFF"/>
                </a:solidFill>
                <a:latin typeface="Meiryo" pitchFamily="34" charset="0"/>
                <a:ea typeface="Meiryo" pitchFamily="34" charset="-122"/>
                <a:cs typeface="Meiryo" pitchFamily="34" charset="-120"/>
              </a:rPr>
              <a:t>隣の人と見せ合う</a:t>
            </a:r>
            <a:endParaRPr lang="en-US" sz="1300" dirty="0"/>
          </a:p>
        </p:txBody>
      </p:sp>
      <p:sp>
        <p:nvSpPr>
          <p:cNvPr id="19" name="Shape 17"/>
          <p:cNvSpPr/>
          <p:nvPr/>
        </p:nvSpPr>
        <p:spPr>
          <a:xfrm>
            <a:off x="7589520" y="3611880"/>
            <a:ext cx="3291840" cy="1005840"/>
          </a:xfrm>
          <a:prstGeom prst="rect">
            <a:avLst/>
          </a:prstGeom>
          <a:solidFill>
            <a:srgbClr val="2A2D33"/>
          </a:solidFill>
          <a:ln/>
        </p:spPr>
      </p:sp>
      <p:sp>
        <p:nvSpPr>
          <p:cNvPr id="20" name="Text 18"/>
          <p:cNvSpPr txBox="1"/>
          <p:nvPr/>
        </p:nvSpPr>
        <p:spPr>
          <a:xfrm>
            <a:off x="7818120" y="3703320"/>
            <a:ext cx="2834640" cy="411480"/>
          </a:xfrm>
          <a:prstGeom prst="rect">
            <a:avLst/>
          </a:prstGeom>
          <a:noFill/>
          <a:ln/>
        </p:spPr>
        <p:txBody>
          <a:bodyPr wrap="square" lIns="0" tIns="0" rIns="0" bIns="0" rtlCol="0" anchor="t"/>
          <a:lstStyle/>
          <a:p>
            <a:pPr indent="0" marL="0">
              <a:buNone/>
            </a:pPr>
            <a:r>
              <a:rPr lang="en-US" sz="2000" b="1" dirty="0">
                <a:solidFill>
                  <a:srgbClr val="E60012"/>
                </a:solidFill>
                <a:latin typeface="Meiryo" pitchFamily="34" charset="0"/>
                <a:ea typeface="Meiryo" pitchFamily="34" charset="-122"/>
                <a:cs typeface="Meiryo" pitchFamily="34" charset="-120"/>
              </a:rPr>
              <a:t>30秒</a:t>
            </a:r>
            <a:endParaRPr lang="en-US" sz="2000" dirty="0"/>
          </a:p>
        </p:txBody>
      </p:sp>
      <p:sp>
        <p:nvSpPr>
          <p:cNvPr id="21" name="Text 19"/>
          <p:cNvSpPr txBox="1"/>
          <p:nvPr/>
        </p:nvSpPr>
        <p:spPr>
          <a:xfrm>
            <a:off x="7818120" y="4114800"/>
            <a:ext cx="2834640" cy="411480"/>
          </a:xfrm>
          <a:prstGeom prst="rect">
            <a:avLst/>
          </a:prstGeom>
          <a:noFill/>
          <a:ln/>
        </p:spPr>
        <p:txBody>
          <a:bodyPr wrap="square" lIns="0" tIns="0" rIns="0" bIns="0" rtlCol="0" anchor="t"/>
          <a:lstStyle/>
          <a:p>
            <a:pPr indent="0" marL="0">
              <a:buNone/>
            </a:pPr>
            <a:r>
              <a:rPr lang="en-US" sz="1300" dirty="0">
                <a:solidFill>
                  <a:srgbClr val="FFFFFF"/>
                </a:solidFill>
                <a:latin typeface="Meiryo" pitchFamily="34" charset="0"/>
                <a:ea typeface="Meiryo" pitchFamily="34" charset="-122"/>
                <a:cs typeface="Meiryo" pitchFamily="34" charset="-120"/>
              </a:rPr>
              <a:t>全体で共有</a:t>
            </a:r>
            <a:endParaRPr lang="en-US" sz="1300" dirty="0"/>
          </a:p>
        </p:txBody>
      </p:sp>
      <p:sp>
        <p:nvSpPr>
          <p:cNvPr id="22" name="Text 20"/>
          <p:cNvSpPr txBox="1"/>
          <p:nvPr/>
        </p:nvSpPr>
        <p:spPr>
          <a:xfrm>
            <a:off x="548640" y="4983480"/>
            <a:ext cx="11094415" cy="41148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手がかり：ボトル／光とセンサ／数える装置（PLC）。どこで起きていそう？</a:t>
            </a:r>
            <a:endParaRPr lang="en-US" sz="14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566928"/>
            <a:ext cx="658368" cy="329184"/>
          </a:xfrm>
          <a:prstGeom prst="rect">
            <a:avLst/>
          </a:prstGeom>
          <a:solidFill>
            <a:srgbClr val="E60012"/>
          </a:solidFill>
          <a:ln/>
        </p:spPr>
      </p:sp>
      <p:sp>
        <p:nvSpPr>
          <p:cNvPr id="3" name="Text 1"/>
          <p:cNvSpPr txBox="1"/>
          <p:nvPr/>
        </p:nvSpPr>
        <p:spPr>
          <a:xfrm>
            <a:off x="548640" y="566928"/>
            <a:ext cx="6583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考える</a:t>
            </a:r>
            <a:endParaRPr lang="en-US" sz="1100" dirty="0"/>
          </a:p>
        </p:txBody>
      </p:sp>
      <p:sp>
        <p:nvSpPr>
          <p:cNvPr id="4" name="Text 2"/>
          <p:cNvSpPr txBox="1"/>
          <p:nvPr/>
        </p:nvSpPr>
        <p:spPr>
          <a:xfrm>
            <a:off x="1371600" y="530352"/>
            <a:ext cx="10253167"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原因の候補（仮説）は5つ</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280160"/>
            <a:ext cx="3566160" cy="411480"/>
          </a:xfrm>
          <a:prstGeom prst="rect">
            <a:avLst/>
          </a:prstGeom>
          <a:solidFill>
            <a:srgbClr val="141517"/>
          </a:solidFill>
          <a:ln/>
        </p:spPr>
      </p:sp>
      <p:sp>
        <p:nvSpPr>
          <p:cNvPr id="12" name="Text 10"/>
          <p:cNvSpPr txBox="1"/>
          <p:nvPr/>
        </p:nvSpPr>
        <p:spPr>
          <a:xfrm>
            <a:off x="548640" y="1280160"/>
            <a:ext cx="35661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ボトル</a:t>
            </a:r>
            <a:endParaRPr lang="en-US" sz="1400" dirty="0"/>
          </a:p>
        </p:txBody>
      </p:sp>
      <p:sp>
        <p:nvSpPr>
          <p:cNvPr id="13" name="Shape 11"/>
          <p:cNvSpPr/>
          <p:nvPr/>
        </p:nvSpPr>
        <p:spPr>
          <a:xfrm>
            <a:off x="548640" y="1810512"/>
            <a:ext cx="3566160" cy="17373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4" name="Shape 12"/>
          <p:cNvSpPr/>
          <p:nvPr/>
        </p:nvSpPr>
        <p:spPr>
          <a:xfrm>
            <a:off x="731520" y="1975104"/>
            <a:ext cx="502920" cy="256032"/>
          </a:xfrm>
          <a:prstGeom prst="rect">
            <a:avLst/>
          </a:prstGeom>
          <a:solidFill>
            <a:srgbClr val="E60012"/>
          </a:solidFill>
          <a:ln/>
        </p:spPr>
      </p:sp>
      <p:sp>
        <p:nvSpPr>
          <p:cNvPr id="15" name="Text 13"/>
          <p:cNvSpPr txBox="1"/>
          <p:nvPr/>
        </p:nvSpPr>
        <p:spPr>
          <a:xfrm>
            <a:off x="731520" y="1975104"/>
            <a:ext cx="5029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仮説</a:t>
            </a:r>
            <a:endParaRPr lang="en-US" sz="900" dirty="0"/>
          </a:p>
        </p:txBody>
      </p:sp>
      <p:sp>
        <p:nvSpPr>
          <p:cNvPr id="16" name="Text 14"/>
          <p:cNvSpPr txBox="1"/>
          <p:nvPr/>
        </p:nvSpPr>
        <p:spPr>
          <a:xfrm>
            <a:off x="1325880" y="1929384"/>
            <a:ext cx="2651760" cy="36576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ボトルの揺れ</a:t>
            </a:r>
            <a:endParaRPr lang="en-US" sz="1500" dirty="0"/>
          </a:p>
        </p:txBody>
      </p:sp>
      <p:sp>
        <p:nvSpPr>
          <p:cNvPr id="17" name="Text 15"/>
          <p:cNvSpPr txBox="1"/>
          <p:nvPr/>
        </p:nvSpPr>
        <p:spPr>
          <a:xfrm>
            <a:off x="731520" y="2377440"/>
            <a:ext cx="3200400" cy="1051560"/>
          </a:xfrm>
          <a:prstGeom prst="rect">
            <a:avLst/>
          </a:prstGeom>
          <a:noFill/>
          <a:ln/>
        </p:spPr>
        <p:txBody>
          <a:bodyPr wrap="square" lIns="0" tIns="0" rIns="0" bIns="0" rtlCol="0" anchor="t"/>
          <a:lstStyle/>
          <a:p>
            <a:pPr indent="0" marL="0">
              <a:buNone/>
            </a:pPr>
            <a:r>
              <a:rPr lang="en-US" sz="1200" dirty="0">
                <a:solidFill>
                  <a:srgbClr val="5A6470"/>
                </a:solidFill>
                <a:latin typeface="Meiryo" pitchFamily="34" charset="0"/>
                <a:ea typeface="Meiryo" pitchFamily="34" charset="-122"/>
                <a:cs typeface="Meiryo" pitchFamily="34" charset="-120"/>
              </a:rPr>
              <a:t>揺れで光の当たり方が変わり、1本の途中で合図が途切れるかもしれない</a:t>
            </a:r>
            <a:endParaRPr lang="en-US" sz="1200" dirty="0"/>
          </a:p>
        </p:txBody>
      </p:sp>
      <p:sp>
        <p:nvSpPr>
          <p:cNvPr id="18" name="Shape 16"/>
          <p:cNvSpPr/>
          <p:nvPr/>
        </p:nvSpPr>
        <p:spPr>
          <a:xfrm>
            <a:off x="548640" y="3685032"/>
            <a:ext cx="3566160" cy="17373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9" name="Shape 17"/>
          <p:cNvSpPr/>
          <p:nvPr/>
        </p:nvSpPr>
        <p:spPr>
          <a:xfrm>
            <a:off x="731520" y="3849624"/>
            <a:ext cx="502920" cy="256032"/>
          </a:xfrm>
          <a:prstGeom prst="rect">
            <a:avLst/>
          </a:prstGeom>
          <a:solidFill>
            <a:srgbClr val="E60012"/>
          </a:solidFill>
          <a:ln/>
        </p:spPr>
      </p:sp>
      <p:sp>
        <p:nvSpPr>
          <p:cNvPr id="20" name="Text 18"/>
          <p:cNvSpPr txBox="1"/>
          <p:nvPr/>
        </p:nvSpPr>
        <p:spPr>
          <a:xfrm>
            <a:off x="731520" y="3849624"/>
            <a:ext cx="5029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仮説</a:t>
            </a:r>
            <a:endParaRPr lang="en-US" sz="900" dirty="0"/>
          </a:p>
        </p:txBody>
      </p:sp>
      <p:sp>
        <p:nvSpPr>
          <p:cNvPr id="21" name="Text 19"/>
          <p:cNvSpPr txBox="1"/>
          <p:nvPr/>
        </p:nvSpPr>
        <p:spPr>
          <a:xfrm>
            <a:off x="1325880" y="3803904"/>
            <a:ext cx="2651760" cy="36576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ボトルの接近</a:t>
            </a:r>
            <a:endParaRPr lang="en-US" sz="1500" dirty="0"/>
          </a:p>
        </p:txBody>
      </p:sp>
      <p:sp>
        <p:nvSpPr>
          <p:cNvPr id="22" name="Text 20"/>
          <p:cNvSpPr txBox="1"/>
          <p:nvPr/>
        </p:nvSpPr>
        <p:spPr>
          <a:xfrm>
            <a:off x="731520" y="4251960"/>
            <a:ext cx="3200400" cy="1051560"/>
          </a:xfrm>
          <a:prstGeom prst="rect">
            <a:avLst/>
          </a:prstGeom>
          <a:noFill/>
          <a:ln/>
        </p:spPr>
        <p:txBody>
          <a:bodyPr wrap="square" lIns="0" tIns="0" rIns="0" bIns="0" rtlCol="0" anchor="t"/>
          <a:lstStyle/>
          <a:p>
            <a:pPr indent="0" marL="0">
              <a:buNone/>
            </a:pPr>
            <a:r>
              <a:rPr lang="en-US" sz="1200" dirty="0">
                <a:solidFill>
                  <a:srgbClr val="5A6470"/>
                </a:solidFill>
                <a:latin typeface="Meiryo" pitchFamily="34" charset="0"/>
                <a:ea typeface="Meiryo" pitchFamily="34" charset="-122"/>
                <a:cs typeface="Meiryo" pitchFamily="34" charset="-120"/>
              </a:rPr>
              <a:t>間隔が詰まると区切りが分かりにくい。※くっつくと「少なく」数える方向にも働くため、増える原因かは要確認</a:t>
            </a:r>
            <a:endParaRPr lang="en-US" sz="1200" dirty="0"/>
          </a:p>
        </p:txBody>
      </p:sp>
      <p:sp>
        <p:nvSpPr>
          <p:cNvPr id="23" name="Shape 21"/>
          <p:cNvSpPr/>
          <p:nvPr/>
        </p:nvSpPr>
        <p:spPr>
          <a:xfrm>
            <a:off x="4315968" y="1280160"/>
            <a:ext cx="3566160" cy="411480"/>
          </a:xfrm>
          <a:prstGeom prst="rect">
            <a:avLst/>
          </a:prstGeom>
          <a:solidFill>
            <a:srgbClr val="141517"/>
          </a:solidFill>
          <a:ln/>
        </p:spPr>
      </p:sp>
      <p:sp>
        <p:nvSpPr>
          <p:cNvPr id="24" name="Text 22"/>
          <p:cNvSpPr txBox="1"/>
          <p:nvPr/>
        </p:nvSpPr>
        <p:spPr>
          <a:xfrm>
            <a:off x="4315968" y="1280160"/>
            <a:ext cx="35661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光とセンサ</a:t>
            </a:r>
            <a:endParaRPr lang="en-US" sz="1400" dirty="0"/>
          </a:p>
        </p:txBody>
      </p:sp>
      <p:sp>
        <p:nvSpPr>
          <p:cNvPr id="25" name="Shape 23"/>
          <p:cNvSpPr/>
          <p:nvPr/>
        </p:nvSpPr>
        <p:spPr>
          <a:xfrm>
            <a:off x="4315968" y="1810512"/>
            <a:ext cx="3566160" cy="17373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6" name="Shape 24"/>
          <p:cNvSpPr/>
          <p:nvPr/>
        </p:nvSpPr>
        <p:spPr>
          <a:xfrm>
            <a:off x="4498848" y="1975104"/>
            <a:ext cx="502920" cy="256032"/>
          </a:xfrm>
          <a:prstGeom prst="rect">
            <a:avLst/>
          </a:prstGeom>
          <a:solidFill>
            <a:srgbClr val="E60012"/>
          </a:solidFill>
          <a:ln/>
        </p:spPr>
      </p:sp>
      <p:sp>
        <p:nvSpPr>
          <p:cNvPr id="27" name="Text 25"/>
          <p:cNvSpPr txBox="1"/>
          <p:nvPr/>
        </p:nvSpPr>
        <p:spPr>
          <a:xfrm>
            <a:off x="4498848" y="1975104"/>
            <a:ext cx="5029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仮説</a:t>
            </a:r>
            <a:endParaRPr lang="en-US" sz="900" dirty="0"/>
          </a:p>
        </p:txBody>
      </p:sp>
      <p:sp>
        <p:nvSpPr>
          <p:cNvPr id="28" name="Text 26"/>
          <p:cNvSpPr txBox="1"/>
          <p:nvPr/>
        </p:nvSpPr>
        <p:spPr>
          <a:xfrm>
            <a:off x="5093208" y="1929384"/>
            <a:ext cx="2651760" cy="36576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透明ボトルを通る光</a:t>
            </a:r>
            <a:endParaRPr lang="en-US" sz="1500" dirty="0"/>
          </a:p>
        </p:txBody>
      </p:sp>
      <p:sp>
        <p:nvSpPr>
          <p:cNvPr id="29" name="Text 27"/>
          <p:cNvSpPr txBox="1"/>
          <p:nvPr/>
        </p:nvSpPr>
        <p:spPr>
          <a:xfrm>
            <a:off x="4498848" y="2377440"/>
            <a:ext cx="3200400" cy="1051560"/>
          </a:xfrm>
          <a:prstGeom prst="rect">
            <a:avLst/>
          </a:prstGeom>
          <a:noFill/>
          <a:ln/>
        </p:spPr>
        <p:txBody>
          <a:bodyPr wrap="square" lIns="0" tIns="0" rIns="0" bIns="0" rtlCol="0" anchor="t"/>
          <a:lstStyle/>
          <a:p>
            <a:pPr indent="0" marL="0">
              <a:buNone/>
            </a:pPr>
            <a:r>
              <a:rPr lang="en-US" sz="1200" dirty="0">
                <a:solidFill>
                  <a:srgbClr val="5A6470"/>
                </a:solidFill>
                <a:latin typeface="Meiryo" pitchFamily="34" charset="0"/>
                <a:ea typeface="Meiryo" pitchFamily="34" charset="-122"/>
                <a:cs typeface="Meiryo" pitchFamily="34" charset="-120"/>
              </a:rPr>
              <a:t>透明なので光の減り方が小さく、ボトル下部の形で戻る光が不安定になるかもしれない</a:t>
            </a:r>
            <a:endParaRPr lang="en-US" sz="1200" dirty="0"/>
          </a:p>
        </p:txBody>
      </p:sp>
      <p:sp>
        <p:nvSpPr>
          <p:cNvPr id="30" name="Shape 28"/>
          <p:cNvSpPr/>
          <p:nvPr/>
        </p:nvSpPr>
        <p:spPr>
          <a:xfrm>
            <a:off x="4315968" y="3685032"/>
            <a:ext cx="3566160" cy="17373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31" name="Shape 29"/>
          <p:cNvSpPr/>
          <p:nvPr/>
        </p:nvSpPr>
        <p:spPr>
          <a:xfrm>
            <a:off x="4498848" y="3849624"/>
            <a:ext cx="502920" cy="256032"/>
          </a:xfrm>
          <a:prstGeom prst="rect">
            <a:avLst/>
          </a:prstGeom>
          <a:solidFill>
            <a:srgbClr val="E60012"/>
          </a:solidFill>
          <a:ln/>
        </p:spPr>
      </p:sp>
      <p:sp>
        <p:nvSpPr>
          <p:cNvPr id="32" name="Text 30"/>
          <p:cNvSpPr txBox="1"/>
          <p:nvPr/>
        </p:nvSpPr>
        <p:spPr>
          <a:xfrm>
            <a:off x="4498848" y="3849624"/>
            <a:ext cx="5029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仮説</a:t>
            </a:r>
            <a:endParaRPr lang="en-US" sz="900" dirty="0"/>
          </a:p>
        </p:txBody>
      </p:sp>
      <p:sp>
        <p:nvSpPr>
          <p:cNvPr id="33" name="Text 31"/>
          <p:cNvSpPr txBox="1"/>
          <p:nvPr/>
        </p:nvSpPr>
        <p:spPr>
          <a:xfrm>
            <a:off x="5093208" y="3803904"/>
            <a:ext cx="2651760" cy="36576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センサ・反射板の状態</a:t>
            </a:r>
            <a:endParaRPr lang="en-US" sz="1500" dirty="0"/>
          </a:p>
        </p:txBody>
      </p:sp>
      <p:sp>
        <p:nvSpPr>
          <p:cNvPr id="34" name="Text 32"/>
          <p:cNvSpPr txBox="1"/>
          <p:nvPr/>
        </p:nvSpPr>
        <p:spPr>
          <a:xfrm>
            <a:off x="4498848" y="4251960"/>
            <a:ext cx="3200400" cy="1051560"/>
          </a:xfrm>
          <a:prstGeom prst="rect">
            <a:avLst/>
          </a:prstGeom>
          <a:noFill/>
          <a:ln/>
        </p:spPr>
        <p:txBody>
          <a:bodyPr wrap="square" lIns="0" tIns="0" rIns="0" bIns="0" rtlCol="0" anchor="t"/>
          <a:lstStyle/>
          <a:p>
            <a:pPr indent="0" marL="0">
              <a:buNone/>
            </a:pPr>
            <a:r>
              <a:rPr lang="en-US" sz="1200" dirty="0">
                <a:solidFill>
                  <a:srgbClr val="5A6470"/>
                </a:solidFill>
                <a:latin typeface="Meiryo" pitchFamily="34" charset="0"/>
                <a:ea typeface="Meiryo" pitchFamily="34" charset="-122"/>
                <a:cs typeface="Meiryo" pitchFamily="34" charset="-120"/>
              </a:rPr>
              <a:t>高さ・角度のずれや汚れで光の余裕が減り、合図が不安定になるかもしれない</a:t>
            </a:r>
            <a:endParaRPr lang="en-US" sz="1200" dirty="0"/>
          </a:p>
        </p:txBody>
      </p:sp>
      <p:sp>
        <p:nvSpPr>
          <p:cNvPr id="35" name="Shape 33"/>
          <p:cNvSpPr/>
          <p:nvPr/>
        </p:nvSpPr>
        <p:spPr>
          <a:xfrm>
            <a:off x="8083296" y="1280160"/>
            <a:ext cx="3566160" cy="411480"/>
          </a:xfrm>
          <a:prstGeom prst="rect">
            <a:avLst/>
          </a:prstGeom>
          <a:solidFill>
            <a:srgbClr val="141517"/>
          </a:solidFill>
          <a:ln/>
        </p:spPr>
      </p:sp>
      <p:sp>
        <p:nvSpPr>
          <p:cNvPr id="36" name="Text 34"/>
          <p:cNvSpPr txBox="1"/>
          <p:nvPr/>
        </p:nvSpPr>
        <p:spPr>
          <a:xfrm>
            <a:off x="8083296" y="1280160"/>
            <a:ext cx="356616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数える装置</a:t>
            </a:r>
            <a:endParaRPr lang="en-US" sz="1400" dirty="0"/>
          </a:p>
        </p:txBody>
      </p:sp>
      <p:sp>
        <p:nvSpPr>
          <p:cNvPr id="37" name="Shape 35"/>
          <p:cNvSpPr/>
          <p:nvPr/>
        </p:nvSpPr>
        <p:spPr>
          <a:xfrm>
            <a:off x="8083296" y="1810512"/>
            <a:ext cx="3566160" cy="361188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38" name="Shape 36"/>
          <p:cNvSpPr/>
          <p:nvPr/>
        </p:nvSpPr>
        <p:spPr>
          <a:xfrm>
            <a:off x="8266176" y="1975104"/>
            <a:ext cx="502920" cy="256032"/>
          </a:xfrm>
          <a:prstGeom prst="rect">
            <a:avLst/>
          </a:prstGeom>
          <a:solidFill>
            <a:srgbClr val="E60012"/>
          </a:solidFill>
          <a:ln/>
        </p:spPr>
      </p:sp>
      <p:sp>
        <p:nvSpPr>
          <p:cNvPr id="39" name="Text 37"/>
          <p:cNvSpPr txBox="1"/>
          <p:nvPr/>
        </p:nvSpPr>
        <p:spPr>
          <a:xfrm>
            <a:off x="8266176" y="1975104"/>
            <a:ext cx="5029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仮説</a:t>
            </a:r>
            <a:endParaRPr lang="en-US" sz="900" dirty="0"/>
          </a:p>
        </p:txBody>
      </p:sp>
      <p:sp>
        <p:nvSpPr>
          <p:cNvPr id="40" name="Text 38"/>
          <p:cNvSpPr txBox="1"/>
          <p:nvPr/>
        </p:nvSpPr>
        <p:spPr>
          <a:xfrm>
            <a:off x="8860536" y="1929384"/>
            <a:ext cx="2651760" cy="36576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PLCのカウント条件</a:t>
            </a:r>
            <a:endParaRPr lang="en-US" sz="1500" dirty="0"/>
          </a:p>
        </p:txBody>
      </p:sp>
      <p:sp>
        <p:nvSpPr>
          <p:cNvPr id="41" name="Text 39"/>
          <p:cNvSpPr txBox="1"/>
          <p:nvPr/>
        </p:nvSpPr>
        <p:spPr>
          <a:xfrm>
            <a:off x="8266176" y="2377440"/>
            <a:ext cx="3200400" cy="2926080"/>
          </a:xfrm>
          <a:prstGeom prst="rect">
            <a:avLst/>
          </a:prstGeom>
          <a:noFill/>
          <a:ln/>
        </p:spPr>
        <p:txBody>
          <a:bodyPr wrap="square" lIns="0" tIns="0" rIns="0" bIns="0" rtlCol="0" anchor="t"/>
          <a:lstStyle/>
          <a:p>
            <a:pPr indent="0" marL="0">
              <a:buNone/>
            </a:pPr>
            <a:r>
              <a:rPr lang="en-US" sz="1200" dirty="0">
                <a:solidFill>
                  <a:srgbClr val="5A6470"/>
                </a:solidFill>
                <a:latin typeface="Meiryo" pitchFamily="34" charset="0"/>
                <a:ea typeface="Meiryo" pitchFamily="34" charset="-122"/>
                <a:cs typeface="Meiryo" pitchFamily="34" charset="-120"/>
              </a:rPr>
              <a:t>ごく短い合図の途切れも、1本として数える設定かもしれない</a:t>
            </a:r>
            <a:endParaRPr lang="en-US" sz="1200" dirty="0"/>
          </a:p>
        </p:txBody>
      </p:sp>
      <p:sp>
        <p:nvSpPr>
          <p:cNvPr id="42" name="Text 40"/>
          <p:cNvSpPr txBox="1"/>
          <p:nvPr/>
        </p:nvSpPr>
        <p:spPr>
          <a:xfrm>
            <a:off x="548640" y="5715000"/>
            <a:ext cx="7315200" cy="320040"/>
          </a:xfrm>
          <a:prstGeom prst="rect">
            <a:avLst/>
          </a:prstGeom>
          <a:noFill/>
          <a:ln/>
        </p:spPr>
        <p:txBody>
          <a:bodyPr wrap="square" lIns="0" tIns="0" rIns="0" bIns="0" rtlCol="0" anchor="t"/>
          <a:lstStyle/>
          <a:p>
            <a:pPr indent="0" marL="0">
              <a:buNone/>
            </a:pPr>
            <a:r>
              <a:rPr lang="en-US" sz="1400" b="1" dirty="0">
                <a:solidFill>
                  <a:srgbClr val="E60012"/>
                </a:solidFill>
                <a:latin typeface="Meiryo" pitchFamily="34" charset="0"/>
                <a:ea typeface="Meiryo" pitchFamily="34" charset="-122"/>
                <a:cs typeface="Meiryo" pitchFamily="34" charset="-120"/>
              </a:rPr>
              <a:t>原因は、まだ1つも確定していません。</a:t>
            </a:r>
            <a:endParaRPr lang="en-US" sz="14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566928"/>
            <a:ext cx="658368" cy="329184"/>
          </a:xfrm>
          <a:prstGeom prst="rect">
            <a:avLst/>
          </a:prstGeom>
          <a:solidFill>
            <a:srgbClr val="E60012"/>
          </a:solidFill>
          <a:ln/>
        </p:spPr>
      </p:sp>
      <p:sp>
        <p:nvSpPr>
          <p:cNvPr id="3" name="Text 1"/>
          <p:cNvSpPr txBox="1"/>
          <p:nvPr/>
        </p:nvSpPr>
        <p:spPr>
          <a:xfrm>
            <a:off x="548640" y="566928"/>
            <a:ext cx="6583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考える</a:t>
            </a:r>
            <a:endParaRPr lang="en-US" sz="1100" dirty="0"/>
          </a:p>
        </p:txBody>
      </p:sp>
      <p:sp>
        <p:nvSpPr>
          <p:cNvPr id="4" name="Text 2"/>
          <p:cNvSpPr txBox="1"/>
          <p:nvPr/>
        </p:nvSpPr>
        <p:spPr>
          <a:xfrm>
            <a:off x="1371600" y="530352"/>
            <a:ext cx="10253167"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事実・仮説・次の検証を分ける</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1828800"/>
                <a:gridCol w="3291840"/>
                <a:gridCol w="2651760"/>
                <a:gridCol w="3319272"/>
              </a:tblGrid>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原因の候補</a:t>
                      </a:r>
                      <a:endParaRPr lang="en-US" sz="12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41517"/>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① 確認できた事実</a:t>
                      </a:r>
                      <a:endParaRPr lang="en-US" sz="12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5A6470"/>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② 考えられる仮説</a:t>
                      </a:r>
                      <a:endParaRPr lang="en-US" sz="12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0012"/>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③ 次に必要な検証</a:t>
                      </a:r>
                      <a:endParaRPr lang="en-US" sz="12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41517"/>
                    </a:solidFill>
                  </a:tcPr>
                </a:tc>
              </a:tr>
              <a:tr h="786384">
                <a:tc>
                  <a:txBody>
                    <a:bodyPr/>
                    <a:lstStyle/>
                    <a:p>
                      <a:pPr indent="0" marL="0">
                        <a:buNone/>
                      </a:pPr>
                      <a:r>
                        <a:rPr lang="en-US" sz="1250" b="1" dirty="0">
                          <a:solidFill>
                            <a:srgbClr val="1E2126"/>
                          </a:solidFill>
                          <a:latin typeface="Meiryo" pitchFamily="34" charset="0"/>
                          <a:ea typeface="Meiryo" pitchFamily="34" charset="-122"/>
                          <a:cs typeface="Meiryo" pitchFamily="34" charset="-120"/>
                        </a:rPr>
                        <a:t>ボトルの揺れ</a:t>
                      </a:r>
                      <a:endParaRPr lang="en-US" sz="125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揺れる場所がある。お客様は「流れが乱れたとき」に起きる気がしている（印象）</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揺れで合図が途切れ、1本を2回数える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DECEE"/>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揺れる場面と揺れない場面で、合図の回数を比べる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786384">
                <a:tc>
                  <a:txBody>
                    <a:bodyPr/>
                    <a:lstStyle/>
                    <a:p>
                      <a:pPr indent="0" marL="0">
                        <a:buNone/>
                      </a:pPr>
                      <a:r>
                        <a:rPr lang="en-US" sz="1250" b="1" dirty="0">
                          <a:solidFill>
                            <a:srgbClr val="1E2126"/>
                          </a:solidFill>
                          <a:latin typeface="Meiryo" pitchFamily="34" charset="0"/>
                          <a:ea typeface="Meiryo" pitchFamily="34" charset="-122"/>
                          <a:cs typeface="Meiryo" pitchFamily="34" charset="-120"/>
                        </a:rPr>
                        <a:t>ボトルの接近</a:t>
                      </a:r>
                      <a:endParaRPr lang="en-US" sz="125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間隔が詰まる場面がある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区切りが不安定になる（増えるか減るかは不明）</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DECEE"/>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間隔を変えて、合図の回数と本数を比べる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786384">
                <a:tc>
                  <a:txBody>
                    <a:bodyPr/>
                    <a:lstStyle/>
                    <a:p>
                      <a:pPr indent="0" marL="0">
                        <a:buNone/>
                      </a:pPr>
                      <a:r>
                        <a:rPr lang="en-US" sz="1250" b="1" dirty="0">
                          <a:solidFill>
                            <a:srgbClr val="1E2126"/>
                          </a:solidFill>
                          <a:latin typeface="Meiryo" pitchFamily="34" charset="0"/>
                          <a:ea typeface="Meiryo" pitchFamily="34" charset="-122"/>
                          <a:cs typeface="Meiryo" pitchFamily="34" charset="-120"/>
                        </a:rPr>
                        <a:t>透明ボトルを通る光</a:t>
                      </a:r>
                      <a:endParaRPr lang="en-US" sz="125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透明なPETボトル。センサは下部を横から見ている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下部の形で戻る光が不安定になる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DECEE"/>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1本ずつ通し、合図が何回出るかを記録する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786384">
                <a:tc>
                  <a:txBody>
                    <a:bodyPr/>
                    <a:lstStyle/>
                    <a:p>
                      <a:pPr indent="0" marL="0">
                        <a:buNone/>
                      </a:pPr>
                      <a:r>
                        <a:rPr lang="en-US" sz="1250" b="1" dirty="0">
                          <a:solidFill>
                            <a:srgbClr val="1E2126"/>
                          </a:solidFill>
                          <a:latin typeface="Meiryo" pitchFamily="34" charset="0"/>
                          <a:ea typeface="Meiryo" pitchFamily="34" charset="-122"/>
                          <a:cs typeface="Meiryo" pitchFamily="34" charset="-120"/>
                        </a:rPr>
                        <a:t>センサ・反射板の状態</a:t>
                      </a:r>
                      <a:endParaRPr lang="en-US" sz="125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同じ高さに設置。3年使用、故障の記録なし</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位置のずれや汚れで光の余裕が減っている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DECEE"/>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高さ・角度・汚れを点検する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786384">
                <a:tc>
                  <a:txBody>
                    <a:bodyPr/>
                    <a:lstStyle/>
                    <a:p>
                      <a:pPr indent="0" marL="0">
                        <a:buNone/>
                      </a:pPr>
                      <a:r>
                        <a:rPr lang="en-US" sz="1250" b="1" dirty="0">
                          <a:solidFill>
                            <a:srgbClr val="1E2126"/>
                          </a:solidFill>
                          <a:latin typeface="Meiryo" pitchFamily="34" charset="0"/>
                          <a:ea typeface="Meiryo" pitchFamily="34" charset="-122"/>
                          <a:cs typeface="Meiryo" pitchFamily="34" charset="-120"/>
                        </a:rPr>
                        <a:t>PLCのカウント条件</a:t>
                      </a:r>
                      <a:endParaRPr lang="en-US" sz="125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PLCで数えている。設定は保全担当が把握</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短い途切れも1本と数える設定になっている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DECEE"/>
                    </a:solidFill>
                  </a:tcPr>
                </a:tc>
                <a:tc>
                  <a:txBody>
                    <a:bodyPr/>
                    <a:lstStyle/>
                    <a:p>
                      <a:pPr indent="0" marL="0">
                        <a:buNone/>
                      </a:pPr>
                      <a:r>
                        <a:rPr lang="en-US" sz="1100" dirty="0">
                          <a:solidFill>
                            <a:srgbClr val="1E2126"/>
                          </a:solidFill>
                          <a:latin typeface="Meiryo" pitchFamily="34" charset="0"/>
                          <a:ea typeface="Meiryo" pitchFamily="34" charset="-122"/>
                          <a:cs typeface="Meiryo" pitchFamily="34" charset="-120"/>
                        </a:rPr>
                        <a:t>設定を確認し、合図の回数とカウント値を比べる</a:t>
                      </a:r>
                      <a:endParaRPr lang="en-US" sz="1100" dirty="0">
                        <a:latin typeface="Meiryo" charset="0"/>
                        <a:ea typeface="Meiryo" charset="0"/>
                        <a:cs typeface="Meiryo" charset="0"/>
                      </a:endParaRPr>
                    </a:p>
                  </a:txBody>
                  <a:tcPr marL="73152" marR="73152" marT="73152" marB="73152"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548640" y="5715000"/>
            <a:ext cx="9144000" cy="320040"/>
          </a:xfrm>
          <a:prstGeom prst="rect">
            <a:avLst/>
          </a:prstGeom>
          <a:noFill/>
          <a:ln/>
        </p:spPr>
        <p:txBody>
          <a:bodyPr wrap="square" lIns="0" tIns="0" rIns="0" bIns="0" rtlCol="0" anchor="t"/>
          <a:lstStyle/>
          <a:p>
            <a:pPr indent="0" marL="0">
              <a:buNone/>
            </a:pPr>
            <a:r>
              <a:rPr lang="en-US" sz="1200" b="1" dirty="0">
                <a:solidFill>
                  <a:srgbClr val="E60012"/>
                </a:solidFill>
                <a:latin typeface="Meiryo" pitchFamily="34" charset="0"/>
                <a:ea typeface="Meiryo" pitchFamily="34" charset="-122"/>
                <a:cs typeface="Meiryo" pitchFamily="34" charset="-120"/>
              </a:rPr>
              <a:t>「お客様が〜な気がしている」は印象。事実と分けて扱う</a:t>
            </a:r>
            <a:endParaRPr lang="en-US" sz="12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566928"/>
            <a:ext cx="658368" cy="329184"/>
          </a:xfrm>
          <a:prstGeom prst="rect">
            <a:avLst/>
          </a:prstGeom>
          <a:solidFill>
            <a:srgbClr val="E60012"/>
          </a:solidFill>
          <a:ln/>
        </p:spPr>
      </p:sp>
      <p:sp>
        <p:nvSpPr>
          <p:cNvPr id="3" name="Text 1"/>
          <p:cNvSpPr txBox="1"/>
          <p:nvPr/>
        </p:nvSpPr>
        <p:spPr>
          <a:xfrm>
            <a:off x="548640" y="566928"/>
            <a:ext cx="6583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考える</a:t>
            </a:r>
            <a:endParaRPr lang="en-US" sz="1100" dirty="0"/>
          </a:p>
        </p:txBody>
      </p:sp>
      <p:sp>
        <p:nvSpPr>
          <p:cNvPr id="4" name="Text 2"/>
          <p:cNvSpPr txBox="1"/>
          <p:nvPr/>
        </p:nvSpPr>
        <p:spPr>
          <a:xfrm>
            <a:off x="1371600" y="530352"/>
            <a:ext cx="10253167"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仮説のイメージ　1本なのに合図が2回</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IMAGE_PLACEHOLDER_03_frame"/>
          <p:cNvSpPr/>
          <p:nvPr/>
        </p:nvSpPr>
        <p:spPr>
          <a:xfrm>
            <a:off x="548640" y="1280160"/>
            <a:ext cx="3291840" cy="3621024"/>
          </a:xfrm>
          <a:prstGeom prst="rect">
            <a:avLst/>
          </a:prstGeom>
          <a:solidFill>
            <a:srgbClr val="E6E8EB"/>
          </a:solidFill>
          <a:ln/>
        </p:spPr>
      </p:sp>
      <p:pic>
        <p:nvPicPr>
          <p:cNvPr id="12" name="IMAGE_PLACEHOLDER_03" descr="【IMAGE_PLACEHOLDER_03】PETボトルの誤検出（仮画像）">    </p:cNvPr>
          <p:cNvPicPr>
            <a:picLocks noChangeAspect="1"/>
          </p:cNvPicPr>
          <p:nvPr/>
        </p:nvPicPr>
        <p:blipFill>
          <a:blip r:embed="rId1"/>
          <a:stretch>
            <a:fillRect/>
          </a:stretch>
        </p:blipFill>
        <p:spPr>
          <a:xfrm>
            <a:off x="548640" y="1280160"/>
            <a:ext cx="3291840" cy="3621024"/>
          </a:xfrm>
          <a:prstGeom prst="rect">
            <a:avLst/>
          </a:prstGeom>
        </p:spPr>
      </p:pic>
      <p:sp>
        <p:nvSpPr>
          <p:cNvPr id="13" name="Shape 10"/>
          <p:cNvSpPr/>
          <p:nvPr/>
        </p:nvSpPr>
        <p:spPr>
          <a:xfrm>
            <a:off x="548640" y="4590288"/>
            <a:ext cx="3291840" cy="310896"/>
          </a:xfrm>
          <a:prstGeom prst="rect">
            <a:avLst/>
          </a:prstGeom>
          <a:solidFill>
            <a:srgbClr val="000000"/>
          </a:solidFill>
          <a:ln/>
        </p:spPr>
      </p:sp>
      <p:sp>
        <p:nvSpPr>
          <p:cNvPr id="14" name="Shape 11"/>
          <p:cNvSpPr/>
          <p:nvPr/>
        </p:nvSpPr>
        <p:spPr>
          <a:xfrm>
            <a:off x="621792" y="4626864"/>
            <a:ext cx="274320" cy="237744"/>
          </a:xfrm>
          <a:prstGeom prst="rect">
            <a:avLst/>
          </a:prstGeom>
          <a:solidFill>
            <a:srgbClr val="E60012"/>
          </a:solidFill>
          <a:ln/>
        </p:spPr>
      </p:sp>
      <p:sp>
        <p:nvSpPr>
          <p:cNvPr id="15" name="Text 12"/>
          <p:cNvSpPr txBox="1"/>
          <p:nvPr/>
        </p:nvSpPr>
        <p:spPr>
          <a:xfrm>
            <a:off x="621792" y="4626864"/>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16" name="Text 13"/>
          <p:cNvSpPr txBox="1"/>
          <p:nvPr/>
        </p:nvSpPr>
        <p:spPr>
          <a:xfrm>
            <a:off x="960120" y="4590288"/>
            <a:ext cx="2834640" cy="310896"/>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【IMAGE_PLACEHOLDER_03】PETボトルの誤検出　後日指定画像に差し替え</a:t>
            </a:r>
            <a:endParaRPr lang="en-US" sz="800" dirty="0"/>
          </a:p>
        </p:txBody>
      </p:sp>
      <p:sp>
        <p:nvSpPr>
          <p:cNvPr id="17" name="Shape 14"/>
          <p:cNvSpPr/>
          <p:nvPr/>
        </p:nvSpPr>
        <p:spPr>
          <a:xfrm>
            <a:off x="4069080" y="1280160"/>
            <a:ext cx="3695548" cy="3621024"/>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8" name="Shape 15"/>
          <p:cNvSpPr/>
          <p:nvPr/>
        </p:nvSpPr>
        <p:spPr>
          <a:xfrm>
            <a:off x="4251960" y="1417320"/>
            <a:ext cx="1298448" cy="274320"/>
          </a:xfrm>
          <a:prstGeom prst="rect">
            <a:avLst/>
          </a:prstGeom>
          <a:solidFill>
            <a:srgbClr val="141517"/>
          </a:solidFill>
          <a:ln/>
        </p:spPr>
      </p:sp>
      <p:sp>
        <p:nvSpPr>
          <p:cNvPr id="19" name="Text 16"/>
          <p:cNvSpPr txBox="1"/>
          <p:nvPr/>
        </p:nvSpPr>
        <p:spPr>
          <a:xfrm>
            <a:off x="4251960" y="1417320"/>
            <a:ext cx="12984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通常（イメージ）</a:t>
            </a:r>
            <a:endParaRPr lang="en-US" sz="1000" dirty="0"/>
          </a:p>
        </p:txBody>
      </p:sp>
      <p:sp>
        <p:nvSpPr>
          <p:cNvPr id="20" name="Text 17"/>
          <p:cNvSpPr txBox="1"/>
          <p:nvPr/>
        </p:nvSpPr>
        <p:spPr>
          <a:xfrm>
            <a:off x="4251960" y="1874520"/>
            <a:ext cx="3329788" cy="274320"/>
          </a:xfrm>
          <a:prstGeom prst="rect">
            <a:avLst/>
          </a:prstGeom>
          <a:noFill/>
          <a:ln/>
        </p:spPr>
        <p:txBody>
          <a:bodyPr wrap="square" lIns="0" tIns="0" rIns="0" bIns="0" rtlCol="0" anchor="t"/>
          <a:lstStyle/>
          <a:p>
            <a:pPr indent="0" marL="0">
              <a:buNone/>
            </a:pPr>
            <a:r>
              <a:rPr lang="en-US" sz="1050" dirty="0">
                <a:solidFill>
                  <a:srgbClr val="5A6470"/>
                </a:solidFill>
                <a:latin typeface="Meiryo" pitchFamily="34" charset="0"/>
                <a:ea typeface="Meiryo" pitchFamily="34" charset="-122"/>
                <a:cs typeface="Meiryo" pitchFamily="34" charset="-120"/>
              </a:rPr>
              <a:t>ボトル1本が通るあいだ</a:t>
            </a:r>
            <a:endParaRPr lang="en-US" sz="1050" dirty="0"/>
          </a:p>
        </p:txBody>
      </p:sp>
      <p:sp>
        <p:nvSpPr>
          <p:cNvPr id="21" name="Shape 18"/>
          <p:cNvSpPr/>
          <p:nvPr/>
        </p:nvSpPr>
        <p:spPr>
          <a:xfrm>
            <a:off x="4754880" y="3474720"/>
            <a:ext cx="820628" cy="0"/>
          </a:xfrm>
          <a:prstGeom prst="line">
            <a:avLst/>
          </a:prstGeom>
          <a:noFill/>
          <a:ln w="31750">
            <a:solidFill>
              <a:srgbClr val="141517"/>
            </a:solidFill>
            <a:prstDash val="solid"/>
          </a:ln>
        </p:spPr>
      </p:sp>
      <p:sp>
        <p:nvSpPr>
          <p:cNvPr id="22" name="Shape 19"/>
          <p:cNvSpPr/>
          <p:nvPr/>
        </p:nvSpPr>
        <p:spPr>
          <a:xfrm>
            <a:off x="5575508" y="2377440"/>
            <a:ext cx="0" cy="1097280"/>
          </a:xfrm>
          <a:prstGeom prst="line">
            <a:avLst/>
          </a:prstGeom>
          <a:noFill/>
          <a:ln w="31750">
            <a:solidFill>
              <a:srgbClr val="141517"/>
            </a:solidFill>
            <a:prstDash val="solid"/>
          </a:ln>
        </p:spPr>
      </p:sp>
      <p:sp>
        <p:nvSpPr>
          <p:cNvPr id="23" name="Shape 20"/>
          <p:cNvSpPr/>
          <p:nvPr/>
        </p:nvSpPr>
        <p:spPr>
          <a:xfrm>
            <a:off x="5575508" y="2377440"/>
            <a:ext cx="1094171" cy="0"/>
          </a:xfrm>
          <a:prstGeom prst="line">
            <a:avLst/>
          </a:prstGeom>
          <a:noFill/>
          <a:ln w="31750">
            <a:solidFill>
              <a:srgbClr val="141517"/>
            </a:solidFill>
            <a:prstDash val="solid"/>
          </a:ln>
        </p:spPr>
      </p:sp>
      <p:sp>
        <p:nvSpPr>
          <p:cNvPr id="24" name="Shape 21"/>
          <p:cNvSpPr/>
          <p:nvPr/>
        </p:nvSpPr>
        <p:spPr>
          <a:xfrm>
            <a:off x="6669679" y="2377440"/>
            <a:ext cx="0" cy="1097280"/>
          </a:xfrm>
          <a:prstGeom prst="line">
            <a:avLst/>
          </a:prstGeom>
          <a:noFill/>
          <a:ln w="31750">
            <a:solidFill>
              <a:srgbClr val="141517"/>
            </a:solidFill>
            <a:prstDash val="solid"/>
          </a:ln>
        </p:spPr>
      </p:sp>
      <p:sp>
        <p:nvSpPr>
          <p:cNvPr id="25" name="Shape 22"/>
          <p:cNvSpPr/>
          <p:nvPr/>
        </p:nvSpPr>
        <p:spPr>
          <a:xfrm>
            <a:off x="6669679" y="3474720"/>
            <a:ext cx="820628" cy="0"/>
          </a:xfrm>
          <a:prstGeom prst="line">
            <a:avLst/>
          </a:prstGeom>
          <a:noFill/>
          <a:ln w="31750">
            <a:solidFill>
              <a:srgbClr val="141517"/>
            </a:solidFill>
            <a:prstDash val="solid"/>
          </a:ln>
        </p:spPr>
      </p:sp>
      <p:sp>
        <p:nvSpPr>
          <p:cNvPr id="26" name="Text 23"/>
          <p:cNvSpPr txBox="1"/>
          <p:nvPr/>
        </p:nvSpPr>
        <p:spPr>
          <a:xfrm>
            <a:off x="4251960" y="2286000"/>
            <a:ext cx="411480" cy="228600"/>
          </a:xfrm>
          <a:prstGeom prst="rect">
            <a:avLst/>
          </a:prstGeom>
          <a:noFill/>
          <a:ln/>
        </p:spPr>
        <p:txBody>
          <a:bodyPr wrap="square" lIns="0" tIns="0" rIns="0" bIns="0" rtlCol="0" anchor="t"/>
          <a:lstStyle/>
          <a:p>
            <a:pPr algn="r" indent="0" marL="0">
              <a:buNone/>
            </a:pPr>
            <a:r>
              <a:rPr lang="en-US" sz="900" dirty="0">
                <a:solidFill>
                  <a:srgbClr val="5A6470"/>
                </a:solidFill>
                <a:latin typeface="Meiryo" pitchFamily="34" charset="0"/>
                <a:ea typeface="Meiryo" pitchFamily="34" charset="-122"/>
                <a:cs typeface="Meiryo" pitchFamily="34" charset="-120"/>
              </a:rPr>
              <a:t>ON</a:t>
            </a:r>
            <a:endParaRPr lang="en-US" sz="900" dirty="0"/>
          </a:p>
        </p:txBody>
      </p:sp>
      <p:sp>
        <p:nvSpPr>
          <p:cNvPr id="27" name="Text 24"/>
          <p:cNvSpPr txBox="1"/>
          <p:nvPr/>
        </p:nvSpPr>
        <p:spPr>
          <a:xfrm>
            <a:off x="4251960" y="3364992"/>
            <a:ext cx="411480" cy="228600"/>
          </a:xfrm>
          <a:prstGeom prst="rect">
            <a:avLst/>
          </a:prstGeom>
          <a:noFill/>
          <a:ln/>
        </p:spPr>
        <p:txBody>
          <a:bodyPr wrap="square" lIns="0" tIns="0" rIns="0" bIns="0" rtlCol="0" anchor="t"/>
          <a:lstStyle/>
          <a:p>
            <a:pPr algn="r" indent="0" marL="0">
              <a:buNone/>
            </a:pPr>
            <a:r>
              <a:rPr lang="en-US" sz="900" dirty="0">
                <a:solidFill>
                  <a:srgbClr val="5A6470"/>
                </a:solidFill>
                <a:latin typeface="Meiryo" pitchFamily="34" charset="0"/>
                <a:ea typeface="Meiryo" pitchFamily="34" charset="-122"/>
                <a:cs typeface="Meiryo" pitchFamily="34" charset="-120"/>
              </a:rPr>
              <a:t>OFF</a:t>
            </a:r>
            <a:endParaRPr lang="en-US" sz="900" dirty="0"/>
          </a:p>
        </p:txBody>
      </p:sp>
      <p:sp>
        <p:nvSpPr>
          <p:cNvPr id="28" name="Text 25"/>
          <p:cNvSpPr txBox="1"/>
          <p:nvPr/>
        </p:nvSpPr>
        <p:spPr>
          <a:xfrm>
            <a:off x="4251960" y="3840480"/>
            <a:ext cx="3329788" cy="457200"/>
          </a:xfrm>
          <a:prstGeom prst="rect">
            <a:avLst/>
          </a:prstGeom>
          <a:noFill/>
          <a:ln/>
        </p:spPr>
        <p:txBody>
          <a:bodyPr wrap="square" lIns="0" tIns="0" rIns="0" bIns="0" rtlCol="0" anchor="t"/>
          <a:lstStyle/>
          <a:p>
            <a:pPr algn="ctr" indent="0" marL="0">
              <a:buNone/>
            </a:pPr>
            <a:r>
              <a:rPr lang="en-US" sz="1800" b="1" dirty="0">
                <a:solidFill>
                  <a:srgbClr val="141517"/>
                </a:solidFill>
                <a:latin typeface="Meiryo" pitchFamily="34" charset="0"/>
                <a:ea typeface="Meiryo" pitchFamily="34" charset="-122"/>
                <a:cs typeface="Meiryo" pitchFamily="34" charset="-120"/>
              </a:rPr>
              <a:t>合図1回 → 1本</a:t>
            </a:r>
            <a:endParaRPr lang="en-US" sz="1800" dirty="0"/>
          </a:p>
        </p:txBody>
      </p:sp>
      <p:sp>
        <p:nvSpPr>
          <p:cNvPr id="29" name="Shape 26"/>
          <p:cNvSpPr/>
          <p:nvPr/>
        </p:nvSpPr>
        <p:spPr>
          <a:xfrm>
            <a:off x="7947508" y="1280160"/>
            <a:ext cx="3695548" cy="3621024"/>
          </a:xfrm>
          <a:prstGeom prst="rect">
            <a:avLst/>
          </a:prstGeom>
          <a:solidFill>
            <a:srgbClr val="FFFFFF"/>
          </a:solidFill>
          <a:ln w="19050">
            <a:solidFill>
              <a:srgbClr val="E60012"/>
            </a:solidFill>
            <a:prstDash val="solid"/>
          </a:ln>
          <a:effectLst>
            <a:outerShdw sx="100000" sy="100000" kx="0" ky="0" algn="bl" rotWithShape="0" blurRad="76200" dist="25400" dir="5400000">
              <a:srgbClr val="000000">
                <a:alpha val="12000"/>
              </a:srgbClr>
            </a:outerShdw>
          </a:effectLst>
        </p:spPr>
      </p:sp>
      <p:sp>
        <p:nvSpPr>
          <p:cNvPr id="30" name="Shape 27"/>
          <p:cNvSpPr/>
          <p:nvPr/>
        </p:nvSpPr>
        <p:spPr>
          <a:xfrm>
            <a:off x="8130388" y="1417320"/>
            <a:ext cx="1298448" cy="274320"/>
          </a:xfrm>
          <a:prstGeom prst="rect">
            <a:avLst/>
          </a:prstGeom>
          <a:solidFill>
            <a:srgbClr val="E60012"/>
          </a:solidFill>
          <a:ln/>
        </p:spPr>
      </p:sp>
      <p:sp>
        <p:nvSpPr>
          <p:cNvPr id="31" name="Text 28"/>
          <p:cNvSpPr txBox="1"/>
          <p:nvPr/>
        </p:nvSpPr>
        <p:spPr>
          <a:xfrm>
            <a:off x="8130388" y="1417320"/>
            <a:ext cx="12984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仮説（イメージ）</a:t>
            </a:r>
            <a:endParaRPr lang="en-US" sz="1000" dirty="0"/>
          </a:p>
        </p:txBody>
      </p:sp>
      <p:sp>
        <p:nvSpPr>
          <p:cNvPr id="32" name="Text 29"/>
          <p:cNvSpPr txBox="1"/>
          <p:nvPr/>
        </p:nvSpPr>
        <p:spPr>
          <a:xfrm>
            <a:off x="8130388" y="1874520"/>
            <a:ext cx="3329788" cy="274320"/>
          </a:xfrm>
          <a:prstGeom prst="rect">
            <a:avLst/>
          </a:prstGeom>
          <a:noFill/>
          <a:ln/>
        </p:spPr>
        <p:txBody>
          <a:bodyPr wrap="square" lIns="0" tIns="0" rIns="0" bIns="0" rtlCol="0" anchor="t"/>
          <a:lstStyle/>
          <a:p>
            <a:pPr indent="0" marL="0">
              <a:buNone/>
            </a:pPr>
            <a:r>
              <a:rPr lang="en-US" sz="1050" dirty="0">
                <a:solidFill>
                  <a:srgbClr val="5A6470"/>
                </a:solidFill>
                <a:latin typeface="Meiryo" pitchFamily="34" charset="0"/>
                <a:ea typeface="Meiryo" pitchFamily="34" charset="-122"/>
                <a:cs typeface="Meiryo" pitchFamily="34" charset="-120"/>
              </a:rPr>
              <a:t>ボトル1本が通るあいだ</a:t>
            </a:r>
            <a:endParaRPr lang="en-US" sz="1050" dirty="0"/>
          </a:p>
        </p:txBody>
      </p:sp>
      <p:sp>
        <p:nvSpPr>
          <p:cNvPr id="33" name="Shape 30"/>
          <p:cNvSpPr/>
          <p:nvPr/>
        </p:nvSpPr>
        <p:spPr>
          <a:xfrm>
            <a:off x="8633308" y="3474720"/>
            <a:ext cx="820628" cy="0"/>
          </a:xfrm>
          <a:prstGeom prst="line">
            <a:avLst/>
          </a:prstGeom>
          <a:noFill/>
          <a:ln w="31750">
            <a:solidFill>
              <a:srgbClr val="E60012"/>
            </a:solidFill>
            <a:prstDash val="solid"/>
          </a:ln>
        </p:spPr>
      </p:sp>
      <p:sp>
        <p:nvSpPr>
          <p:cNvPr id="34" name="Shape 31"/>
          <p:cNvSpPr/>
          <p:nvPr/>
        </p:nvSpPr>
        <p:spPr>
          <a:xfrm>
            <a:off x="9453936" y="2377440"/>
            <a:ext cx="0" cy="1097280"/>
          </a:xfrm>
          <a:prstGeom prst="line">
            <a:avLst/>
          </a:prstGeom>
          <a:noFill/>
          <a:ln w="31750">
            <a:solidFill>
              <a:srgbClr val="E60012"/>
            </a:solidFill>
            <a:prstDash val="solid"/>
          </a:ln>
        </p:spPr>
      </p:sp>
      <p:sp>
        <p:nvSpPr>
          <p:cNvPr id="35" name="Shape 32"/>
          <p:cNvSpPr/>
          <p:nvPr/>
        </p:nvSpPr>
        <p:spPr>
          <a:xfrm>
            <a:off x="9453936" y="2377440"/>
            <a:ext cx="437668" cy="0"/>
          </a:xfrm>
          <a:prstGeom prst="line">
            <a:avLst/>
          </a:prstGeom>
          <a:noFill/>
          <a:ln w="31750">
            <a:solidFill>
              <a:srgbClr val="E60012"/>
            </a:solidFill>
            <a:prstDash val="solid"/>
          </a:ln>
        </p:spPr>
      </p:sp>
      <p:sp>
        <p:nvSpPr>
          <p:cNvPr id="36" name="Shape 33"/>
          <p:cNvSpPr/>
          <p:nvPr/>
        </p:nvSpPr>
        <p:spPr>
          <a:xfrm>
            <a:off x="9891604" y="2377440"/>
            <a:ext cx="0" cy="1097280"/>
          </a:xfrm>
          <a:prstGeom prst="line">
            <a:avLst/>
          </a:prstGeom>
          <a:noFill/>
          <a:ln w="31750">
            <a:solidFill>
              <a:srgbClr val="E60012"/>
            </a:solidFill>
            <a:prstDash val="solid"/>
          </a:ln>
        </p:spPr>
      </p:sp>
      <p:sp>
        <p:nvSpPr>
          <p:cNvPr id="37" name="Shape 34"/>
          <p:cNvSpPr/>
          <p:nvPr/>
        </p:nvSpPr>
        <p:spPr>
          <a:xfrm>
            <a:off x="9891604" y="3474720"/>
            <a:ext cx="218834" cy="0"/>
          </a:xfrm>
          <a:prstGeom prst="line">
            <a:avLst/>
          </a:prstGeom>
          <a:noFill/>
          <a:ln w="31750">
            <a:solidFill>
              <a:srgbClr val="E60012"/>
            </a:solidFill>
            <a:prstDash val="solid"/>
          </a:ln>
        </p:spPr>
      </p:sp>
      <p:sp>
        <p:nvSpPr>
          <p:cNvPr id="38" name="Shape 35"/>
          <p:cNvSpPr/>
          <p:nvPr/>
        </p:nvSpPr>
        <p:spPr>
          <a:xfrm>
            <a:off x="10110439" y="2377440"/>
            <a:ext cx="0" cy="1097280"/>
          </a:xfrm>
          <a:prstGeom prst="line">
            <a:avLst/>
          </a:prstGeom>
          <a:noFill/>
          <a:ln w="31750">
            <a:solidFill>
              <a:srgbClr val="E60012"/>
            </a:solidFill>
            <a:prstDash val="solid"/>
          </a:ln>
        </p:spPr>
      </p:sp>
      <p:sp>
        <p:nvSpPr>
          <p:cNvPr id="39" name="Shape 36"/>
          <p:cNvSpPr/>
          <p:nvPr/>
        </p:nvSpPr>
        <p:spPr>
          <a:xfrm>
            <a:off x="10110439" y="2377440"/>
            <a:ext cx="437668" cy="0"/>
          </a:xfrm>
          <a:prstGeom prst="line">
            <a:avLst/>
          </a:prstGeom>
          <a:noFill/>
          <a:ln w="31750">
            <a:solidFill>
              <a:srgbClr val="E60012"/>
            </a:solidFill>
            <a:prstDash val="solid"/>
          </a:ln>
        </p:spPr>
      </p:sp>
      <p:sp>
        <p:nvSpPr>
          <p:cNvPr id="40" name="Shape 37"/>
          <p:cNvSpPr/>
          <p:nvPr/>
        </p:nvSpPr>
        <p:spPr>
          <a:xfrm>
            <a:off x="10548107" y="2377440"/>
            <a:ext cx="0" cy="1097280"/>
          </a:xfrm>
          <a:prstGeom prst="line">
            <a:avLst/>
          </a:prstGeom>
          <a:noFill/>
          <a:ln w="31750">
            <a:solidFill>
              <a:srgbClr val="E60012"/>
            </a:solidFill>
            <a:prstDash val="solid"/>
          </a:ln>
        </p:spPr>
      </p:sp>
      <p:sp>
        <p:nvSpPr>
          <p:cNvPr id="41" name="Shape 38"/>
          <p:cNvSpPr/>
          <p:nvPr/>
        </p:nvSpPr>
        <p:spPr>
          <a:xfrm>
            <a:off x="10548107" y="3474720"/>
            <a:ext cx="820628" cy="0"/>
          </a:xfrm>
          <a:prstGeom prst="line">
            <a:avLst/>
          </a:prstGeom>
          <a:noFill/>
          <a:ln w="31750">
            <a:solidFill>
              <a:srgbClr val="E60012"/>
            </a:solidFill>
            <a:prstDash val="solid"/>
          </a:ln>
        </p:spPr>
      </p:sp>
      <p:sp>
        <p:nvSpPr>
          <p:cNvPr id="42" name="Text 39"/>
          <p:cNvSpPr txBox="1"/>
          <p:nvPr/>
        </p:nvSpPr>
        <p:spPr>
          <a:xfrm>
            <a:off x="8130388" y="2286000"/>
            <a:ext cx="411480" cy="228600"/>
          </a:xfrm>
          <a:prstGeom prst="rect">
            <a:avLst/>
          </a:prstGeom>
          <a:noFill/>
          <a:ln/>
        </p:spPr>
        <p:txBody>
          <a:bodyPr wrap="square" lIns="0" tIns="0" rIns="0" bIns="0" rtlCol="0" anchor="t"/>
          <a:lstStyle/>
          <a:p>
            <a:pPr algn="r" indent="0" marL="0">
              <a:buNone/>
            </a:pPr>
            <a:r>
              <a:rPr lang="en-US" sz="900" dirty="0">
                <a:solidFill>
                  <a:srgbClr val="5A6470"/>
                </a:solidFill>
                <a:latin typeface="Meiryo" pitchFamily="34" charset="0"/>
                <a:ea typeface="Meiryo" pitchFamily="34" charset="-122"/>
                <a:cs typeface="Meiryo" pitchFamily="34" charset="-120"/>
              </a:rPr>
              <a:t>ON</a:t>
            </a:r>
            <a:endParaRPr lang="en-US" sz="900" dirty="0"/>
          </a:p>
        </p:txBody>
      </p:sp>
      <p:sp>
        <p:nvSpPr>
          <p:cNvPr id="43" name="Text 40"/>
          <p:cNvSpPr txBox="1"/>
          <p:nvPr/>
        </p:nvSpPr>
        <p:spPr>
          <a:xfrm>
            <a:off x="8130388" y="3364992"/>
            <a:ext cx="411480" cy="228600"/>
          </a:xfrm>
          <a:prstGeom prst="rect">
            <a:avLst/>
          </a:prstGeom>
          <a:noFill/>
          <a:ln/>
        </p:spPr>
        <p:txBody>
          <a:bodyPr wrap="square" lIns="0" tIns="0" rIns="0" bIns="0" rtlCol="0" anchor="t"/>
          <a:lstStyle/>
          <a:p>
            <a:pPr algn="r" indent="0" marL="0">
              <a:buNone/>
            </a:pPr>
            <a:r>
              <a:rPr lang="en-US" sz="900" dirty="0">
                <a:solidFill>
                  <a:srgbClr val="5A6470"/>
                </a:solidFill>
                <a:latin typeface="Meiryo" pitchFamily="34" charset="0"/>
                <a:ea typeface="Meiryo" pitchFamily="34" charset="-122"/>
                <a:cs typeface="Meiryo" pitchFamily="34" charset="-120"/>
              </a:rPr>
              <a:t>OFF</a:t>
            </a:r>
            <a:endParaRPr lang="en-US" sz="900" dirty="0"/>
          </a:p>
        </p:txBody>
      </p:sp>
      <p:sp>
        <p:nvSpPr>
          <p:cNvPr id="44" name="Text 41"/>
          <p:cNvSpPr txBox="1"/>
          <p:nvPr/>
        </p:nvSpPr>
        <p:spPr>
          <a:xfrm>
            <a:off x="8130388" y="3840480"/>
            <a:ext cx="3329788" cy="457200"/>
          </a:xfrm>
          <a:prstGeom prst="rect">
            <a:avLst/>
          </a:prstGeom>
          <a:noFill/>
          <a:ln/>
        </p:spPr>
        <p:txBody>
          <a:bodyPr wrap="square" lIns="0" tIns="0" rIns="0" bIns="0" rtlCol="0" anchor="t"/>
          <a:lstStyle/>
          <a:p>
            <a:pPr algn="ctr" indent="0" marL="0">
              <a:buNone/>
            </a:pPr>
            <a:r>
              <a:rPr lang="en-US" sz="1800" b="1" dirty="0">
                <a:solidFill>
                  <a:srgbClr val="E60012"/>
                </a:solidFill>
                <a:latin typeface="Meiryo" pitchFamily="34" charset="0"/>
                <a:ea typeface="Meiryo" pitchFamily="34" charset="-122"/>
                <a:cs typeface="Meiryo" pitchFamily="34" charset="-120"/>
              </a:rPr>
              <a:t>合図2回 → 2本と数える</a:t>
            </a:r>
            <a:endParaRPr lang="en-US" sz="1800" dirty="0"/>
          </a:p>
        </p:txBody>
      </p:sp>
      <p:sp>
        <p:nvSpPr>
          <p:cNvPr id="45" name="Shape 42"/>
          <p:cNvSpPr/>
          <p:nvPr/>
        </p:nvSpPr>
        <p:spPr>
          <a:xfrm>
            <a:off x="548640" y="5074920"/>
            <a:ext cx="11094415" cy="685800"/>
          </a:xfrm>
          <a:prstGeom prst="rect">
            <a:avLst/>
          </a:prstGeom>
          <a:solidFill>
            <a:srgbClr val="141517"/>
          </a:solidFill>
          <a:ln/>
        </p:spPr>
      </p:sp>
      <p:sp>
        <p:nvSpPr>
          <p:cNvPr id="46" name="Text 43"/>
          <p:cNvSpPr txBox="1"/>
          <p:nvPr/>
        </p:nvSpPr>
        <p:spPr>
          <a:xfrm>
            <a:off x="822960" y="5074920"/>
            <a:ext cx="10545775" cy="68580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戻る光の量が境目付近で揺れると、合図が途切れて2回になるかもしれない</a:t>
            </a:r>
            <a:endParaRPr lang="en-US" sz="1600" dirty="0"/>
          </a:p>
        </p:txBody>
      </p:sp>
      <p:sp>
        <p:nvSpPr>
          <p:cNvPr id="47" name="Text 44"/>
          <p:cNvSpPr txBox="1"/>
          <p:nvPr/>
        </p:nvSpPr>
        <p:spPr>
          <a:xfrm>
            <a:off x="548640" y="5870448"/>
            <a:ext cx="10515600" cy="274320"/>
          </a:xfrm>
          <a:prstGeom prst="rect">
            <a:avLst/>
          </a:prstGeom>
          <a:noFill/>
          <a:ln/>
        </p:spPr>
        <p:txBody>
          <a:bodyPr wrap="square" lIns="0" tIns="0" rIns="0" bIns="0" rtlCol="0" anchor="t"/>
          <a:lstStyle/>
          <a:p>
            <a:pPr indent="0" marL="0">
              <a:buNone/>
            </a:pPr>
            <a:r>
              <a:rPr lang="en-US" sz="1050" b="1" dirty="0">
                <a:solidFill>
                  <a:srgbClr val="E60012"/>
                </a:solidFill>
                <a:latin typeface="Meiryo" pitchFamily="34" charset="0"/>
                <a:ea typeface="Meiryo" pitchFamily="34" charset="-122"/>
                <a:cs typeface="Meiryo" pitchFamily="34" charset="-120"/>
              </a:rPr>
              <a:t>※ 仮説検証用のイメージです（実測ではありません）。このラインで起きているかは、まだ確定していません。</a:t>
            </a:r>
            <a:endParaRPr lang="en-US" sz="105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566928"/>
            <a:ext cx="658368" cy="329184"/>
          </a:xfrm>
          <a:prstGeom prst="rect">
            <a:avLst/>
          </a:prstGeom>
          <a:solidFill>
            <a:srgbClr val="E60012"/>
          </a:solidFill>
          <a:ln/>
        </p:spPr>
      </p:sp>
      <p:sp>
        <p:nvSpPr>
          <p:cNvPr id="3" name="Text 1"/>
          <p:cNvSpPr txBox="1"/>
          <p:nvPr/>
        </p:nvSpPr>
        <p:spPr>
          <a:xfrm>
            <a:off x="548640" y="566928"/>
            <a:ext cx="6583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考える</a:t>
            </a:r>
            <a:endParaRPr lang="en-US" sz="1100" dirty="0"/>
          </a:p>
        </p:txBody>
      </p:sp>
      <p:sp>
        <p:nvSpPr>
          <p:cNvPr id="4" name="Text 2"/>
          <p:cNvSpPr txBox="1"/>
          <p:nvPr/>
        </p:nvSpPr>
        <p:spPr>
          <a:xfrm>
            <a:off x="1371600" y="530352"/>
            <a:ext cx="10253167"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問い3　どのように原因を確かめますか？</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Text 9"/>
          <p:cNvSpPr txBox="1"/>
          <p:nvPr/>
        </p:nvSpPr>
        <p:spPr>
          <a:xfrm>
            <a:off x="548640" y="1325880"/>
            <a:ext cx="11094415" cy="274320"/>
          </a:xfrm>
          <a:prstGeom prst="rect">
            <a:avLst/>
          </a:prstGeom>
          <a:noFill/>
          <a:ln/>
        </p:spPr>
        <p:txBody>
          <a:bodyPr wrap="square" lIns="0" tIns="0" rIns="0" bIns="0" rtlCol="0" anchor="t"/>
          <a:lstStyle/>
          <a:p>
            <a:pPr algn="ctr" indent="0" marL="0">
              <a:buNone/>
            </a:pPr>
            <a:r>
              <a:rPr lang="en-US" sz="1100" b="1" spc="300" kern="0" dirty="0">
                <a:solidFill>
                  <a:srgbClr val="E60012"/>
                </a:solidFill>
                <a:latin typeface="Meiryo" pitchFamily="34" charset="0"/>
                <a:ea typeface="Meiryo" pitchFamily="34" charset="-122"/>
                <a:cs typeface="Meiryo" pitchFamily="34" charset="-120"/>
              </a:rPr>
              <a:t>QUESTION</a:t>
            </a:r>
            <a:endParaRPr lang="en-US" sz="1100" dirty="0"/>
          </a:p>
        </p:txBody>
      </p:sp>
      <p:sp>
        <p:nvSpPr>
          <p:cNvPr id="12" name="Text 10"/>
          <p:cNvSpPr txBox="1"/>
          <p:nvPr/>
        </p:nvSpPr>
        <p:spPr>
          <a:xfrm>
            <a:off x="548640" y="1645920"/>
            <a:ext cx="11094415"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eiryo" pitchFamily="34" charset="0"/>
                <a:ea typeface="Meiryo" pitchFamily="34" charset="-122"/>
                <a:cs typeface="Meiryo" pitchFamily="34" charset="-120"/>
              </a:rPr>
              <a:t>どのように原因を確かめますか？</a:t>
            </a:r>
            <a:endParaRPr lang="en-US" sz="3200" dirty="0"/>
          </a:p>
        </p:txBody>
      </p:sp>
      <p:sp>
        <p:nvSpPr>
          <p:cNvPr id="13" name="Shape 11"/>
          <p:cNvSpPr/>
          <p:nvPr/>
        </p:nvSpPr>
        <p:spPr>
          <a:xfrm>
            <a:off x="883768" y="2880360"/>
            <a:ext cx="3291840" cy="1600200"/>
          </a:xfrm>
          <a:prstGeom prst="rect">
            <a:avLst/>
          </a:prstGeom>
          <a:solidFill>
            <a:srgbClr val="2A2D33"/>
          </a:solidFill>
          <a:ln w="12700">
            <a:solidFill>
              <a:srgbClr val="3A3F46"/>
            </a:solidFill>
            <a:prstDash val="solid"/>
          </a:ln>
        </p:spPr>
      </p:sp>
      <p:sp>
        <p:nvSpPr>
          <p:cNvPr id="14" name="Shape 12"/>
          <p:cNvSpPr/>
          <p:nvPr/>
        </p:nvSpPr>
        <p:spPr>
          <a:xfrm>
            <a:off x="1066648" y="3035808"/>
            <a:ext cx="384048" cy="384048"/>
          </a:xfrm>
          <a:prstGeom prst="rect">
            <a:avLst/>
          </a:prstGeom>
          <a:solidFill>
            <a:srgbClr val="E60012"/>
          </a:solidFill>
          <a:ln/>
        </p:spPr>
      </p:sp>
      <p:sp>
        <p:nvSpPr>
          <p:cNvPr id="15" name="Text 13"/>
          <p:cNvSpPr txBox="1"/>
          <p:nvPr/>
        </p:nvSpPr>
        <p:spPr>
          <a:xfrm>
            <a:off x="1066648" y="3035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a:t>
            </a:r>
            <a:endParaRPr lang="en-US" sz="1500" dirty="0"/>
          </a:p>
        </p:txBody>
      </p:sp>
      <p:sp>
        <p:nvSpPr>
          <p:cNvPr id="16" name="Text 14"/>
          <p:cNvSpPr txBox="1"/>
          <p:nvPr/>
        </p:nvSpPr>
        <p:spPr>
          <a:xfrm>
            <a:off x="1066648" y="3547872"/>
            <a:ext cx="292608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センサをすぐ交換する</a:t>
            </a:r>
            <a:endParaRPr lang="en-US" sz="1700" dirty="0"/>
          </a:p>
        </p:txBody>
      </p:sp>
      <p:sp>
        <p:nvSpPr>
          <p:cNvPr id="17" name="Shape 15"/>
          <p:cNvSpPr/>
          <p:nvPr/>
        </p:nvSpPr>
        <p:spPr>
          <a:xfrm>
            <a:off x="4449928" y="2880360"/>
            <a:ext cx="3291840" cy="1600200"/>
          </a:xfrm>
          <a:prstGeom prst="rect">
            <a:avLst/>
          </a:prstGeom>
          <a:solidFill>
            <a:srgbClr val="2A2D33"/>
          </a:solidFill>
          <a:ln w="12700">
            <a:solidFill>
              <a:srgbClr val="3A3F46"/>
            </a:solidFill>
            <a:prstDash val="solid"/>
          </a:ln>
        </p:spPr>
      </p:sp>
      <p:sp>
        <p:nvSpPr>
          <p:cNvPr id="18" name="Shape 16"/>
          <p:cNvSpPr/>
          <p:nvPr/>
        </p:nvSpPr>
        <p:spPr>
          <a:xfrm>
            <a:off x="4632808" y="3035808"/>
            <a:ext cx="384048" cy="384048"/>
          </a:xfrm>
          <a:prstGeom prst="rect">
            <a:avLst/>
          </a:prstGeom>
          <a:solidFill>
            <a:srgbClr val="E60012"/>
          </a:solidFill>
          <a:ln/>
        </p:spPr>
      </p:sp>
      <p:sp>
        <p:nvSpPr>
          <p:cNvPr id="19" name="Text 17"/>
          <p:cNvSpPr txBox="1"/>
          <p:nvPr/>
        </p:nvSpPr>
        <p:spPr>
          <a:xfrm>
            <a:off x="4632808" y="3035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B</a:t>
            </a:r>
            <a:endParaRPr lang="en-US" sz="1500" dirty="0"/>
          </a:p>
        </p:txBody>
      </p:sp>
      <p:sp>
        <p:nvSpPr>
          <p:cNvPr id="20" name="Text 18"/>
          <p:cNvSpPr txBox="1"/>
          <p:nvPr/>
        </p:nvSpPr>
        <p:spPr>
          <a:xfrm>
            <a:off x="4632808" y="3547872"/>
            <a:ext cx="292608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センサの合図とPLCのカウントを、同時に記録して比べる</a:t>
            </a:r>
            <a:endParaRPr lang="en-US" sz="1700" dirty="0"/>
          </a:p>
        </p:txBody>
      </p:sp>
      <p:sp>
        <p:nvSpPr>
          <p:cNvPr id="21" name="Shape 19"/>
          <p:cNvSpPr/>
          <p:nvPr/>
        </p:nvSpPr>
        <p:spPr>
          <a:xfrm>
            <a:off x="8016088" y="2880360"/>
            <a:ext cx="3291840" cy="1600200"/>
          </a:xfrm>
          <a:prstGeom prst="rect">
            <a:avLst/>
          </a:prstGeom>
          <a:solidFill>
            <a:srgbClr val="2A2D33"/>
          </a:solidFill>
          <a:ln w="12700">
            <a:solidFill>
              <a:srgbClr val="3A3F46"/>
            </a:solidFill>
            <a:prstDash val="solid"/>
          </a:ln>
        </p:spPr>
      </p:sp>
      <p:sp>
        <p:nvSpPr>
          <p:cNvPr id="22" name="Shape 20"/>
          <p:cNvSpPr/>
          <p:nvPr/>
        </p:nvSpPr>
        <p:spPr>
          <a:xfrm>
            <a:off x="8198968" y="3035808"/>
            <a:ext cx="384048" cy="384048"/>
          </a:xfrm>
          <a:prstGeom prst="rect">
            <a:avLst/>
          </a:prstGeom>
          <a:solidFill>
            <a:srgbClr val="E60012"/>
          </a:solidFill>
          <a:ln/>
        </p:spPr>
      </p:sp>
      <p:sp>
        <p:nvSpPr>
          <p:cNvPr id="23" name="Text 21"/>
          <p:cNvSpPr txBox="1"/>
          <p:nvPr/>
        </p:nvSpPr>
        <p:spPr>
          <a:xfrm>
            <a:off x="8198968" y="3035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C</a:t>
            </a:r>
            <a:endParaRPr lang="en-US" sz="1500" dirty="0"/>
          </a:p>
        </p:txBody>
      </p:sp>
      <p:sp>
        <p:nvSpPr>
          <p:cNvPr id="24" name="Text 22"/>
          <p:cNvSpPr txBox="1"/>
          <p:nvPr/>
        </p:nvSpPr>
        <p:spPr>
          <a:xfrm>
            <a:off x="8198968" y="3547872"/>
            <a:ext cx="2926080" cy="868680"/>
          </a:xfrm>
          <a:prstGeom prst="rect">
            <a:avLst/>
          </a:prstGeom>
          <a:noFill/>
          <a:ln/>
        </p:spPr>
        <p:txBody>
          <a:bodyPr wrap="square" lIns="0" tIns="0" rIns="0" bIns="0" rtlCol="0" anchor="t"/>
          <a:lstStyle/>
          <a:p>
            <a:pPr indent="0" marL="0">
              <a:buNone/>
            </a:pPr>
            <a:r>
              <a:rPr lang="en-US" sz="1700" b="1" dirty="0">
                <a:solidFill>
                  <a:srgbClr val="FFFFFF"/>
                </a:solidFill>
                <a:latin typeface="Meiryo" pitchFamily="34" charset="0"/>
                <a:ea typeface="Meiryo" pitchFamily="34" charset="-122"/>
                <a:cs typeface="Meiryo" pitchFamily="34" charset="-120"/>
              </a:rPr>
              <a:t>ラインの速度を下げる</a:t>
            </a:r>
            <a:endParaRPr lang="en-US" sz="1700" dirty="0"/>
          </a:p>
        </p:txBody>
      </p:sp>
      <p:sp>
        <p:nvSpPr>
          <p:cNvPr id="25" name="Shape 23"/>
          <p:cNvSpPr/>
          <p:nvPr/>
        </p:nvSpPr>
        <p:spPr>
          <a:xfrm>
            <a:off x="5661508" y="4800600"/>
            <a:ext cx="868680" cy="868680"/>
          </a:xfrm>
          <a:prstGeom prst="ellipse">
            <a:avLst/>
          </a:prstGeom>
          <a:solidFill>
            <a:srgbClr val="E60012"/>
          </a:solidFill>
          <a:ln/>
        </p:spPr>
      </p:sp>
      <p:sp>
        <p:nvSpPr>
          <p:cNvPr id="26" name="Text 24"/>
          <p:cNvSpPr txBox="1"/>
          <p:nvPr/>
        </p:nvSpPr>
        <p:spPr>
          <a:xfrm>
            <a:off x="5661508" y="4892040"/>
            <a:ext cx="86868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30</a:t>
            </a:r>
            <a:endParaRPr lang="en-US" sz="2400" dirty="0"/>
          </a:p>
          <a:p>
            <a:pPr algn="ctr" indent="0" marL="0">
              <a:buNone/>
            </a:pPr>
            <a:r>
              <a:rPr lang="en-US" sz="1000" dirty="0">
                <a:solidFill>
                  <a:srgbClr val="FFFFFF"/>
                </a:solidFill>
                <a:latin typeface="Meiryo" pitchFamily="34" charset="0"/>
                <a:ea typeface="Meiryo" pitchFamily="34" charset="-122"/>
                <a:cs typeface="Meiryo" pitchFamily="34" charset="-120"/>
              </a:rPr>
              <a:t>秒</a:t>
            </a:r>
            <a:endParaRPr lang="en-US" sz="2400" dirty="0"/>
          </a:p>
        </p:txBody>
      </p:sp>
      <p:sp>
        <p:nvSpPr>
          <p:cNvPr id="27" name="Text 25"/>
          <p:cNvSpPr txBox="1"/>
          <p:nvPr/>
        </p:nvSpPr>
        <p:spPr>
          <a:xfrm>
            <a:off x="5387188" y="5715000"/>
            <a:ext cx="1417320" cy="228600"/>
          </a:xfrm>
          <a:prstGeom prst="rect">
            <a:avLst/>
          </a:prstGeom>
          <a:noFill/>
          <a:ln/>
        </p:spPr>
        <p:txBody>
          <a:bodyPr wrap="square" lIns="0" tIns="0" rIns="0" bIns="0" rtlCol="0" anchor="t"/>
          <a:lstStyle/>
          <a:p>
            <a:pPr algn="ctr" indent="0" marL="0">
              <a:buNone/>
            </a:pPr>
            <a:r>
              <a:rPr lang="en-US" sz="900" dirty="0">
                <a:solidFill>
                  <a:srgbClr val="8A939D"/>
                </a:solidFill>
                <a:latin typeface="Meiryo" pitchFamily="34" charset="0"/>
                <a:ea typeface="Meiryo" pitchFamily="34" charset="-122"/>
                <a:cs typeface="Meiryo" pitchFamily="34" charset="-120"/>
              </a:rPr>
              <a:t>考える時間</a:t>
            </a:r>
            <a:endParaRPr lang="en-US" sz="900" dirty="0"/>
          </a:p>
        </p:txBody>
      </p:sp>
      <p:sp>
        <p:nvSpPr>
          <p:cNvPr id="28" name="Text 26"/>
          <p:cNvSpPr txBox="1"/>
          <p:nvPr/>
        </p:nvSpPr>
        <p:spPr>
          <a:xfrm>
            <a:off x="6918808" y="5074920"/>
            <a:ext cx="3200400" cy="320040"/>
          </a:xfrm>
          <a:prstGeom prst="rect">
            <a:avLst/>
          </a:prstGeom>
          <a:noFill/>
          <a:ln/>
        </p:spPr>
        <p:txBody>
          <a:bodyPr wrap="square" lIns="0" tIns="0" rIns="0" bIns="0" rtlCol="0" anchor="t"/>
          <a:lstStyle/>
          <a:p>
            <a:pPr indent="0" marL="0">
              <a:buNone/>
            </a:pPr>
            <a:r>
              <a:rPr lang="en-US" sz="1200" dirty="0">
                <a:solidFill>
                  <a:srgbClr val="8A939D"/>
                </a:solidFill>
                <a:latin typeface="Meiryo" pitchFamily="34" charset="0"/>
                <a:ea typeface="Meiryo" pitchFamily="34" charset="-122"/>
                <a:cs typeface="Meiryo" pitchFamily="34" charset="-120"/>
              </a:rPr>
              <a:t>選んだら、理由をひとことメモ</a:t>
            </a:r>
            <a:endParaRPr lang="en-US" sz="12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566928"/>
            <a:ext cx="658368" cy="329184"/>
          </a:xfrm>
          <a:prstGeom prst="rect">
            <a:avLst/>
          </a:prstGeom>
          <a:solidFill>
            <a:srgbClr val="E60012"/>
          </a:solidFill>
          <a:ln/>
        </p:spPr>
      </p:sp>
      <p:sp>
        <p:nvSpPr>
          <p:cNvPr id="3" name="Text 1"/>
          <p:cNvSpPr txBox="1"/>
          <p:nvPr/>
        </p:nvSpPr>
        <p:spPr>
          <a:xfrm>
            <a:off x="548640" y="566928"/>
            <a:ext cx="6583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考える</a:t>
            </a:r>
            <a:endParaRPr lang="en-US" sz="1100" dirty="0"/>
          </a:p>
        </p:txBody>
      </p:sp>
      <p:sp>
        <p:nvSpPr>
          <p:cNvPr id="4" name="Text 2"/>
          <p:cNvSpPr txBox="1"/>
          <p:nvPr/>
        </p:nvSpPr>
        <p:spPr>
          <a:xfrm>
            <a:off x="1371600" y="530352"/>
            <a:ext cx="10253167"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同時に記録すれば、どこで増えているかが分かる</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325880"/>
            <a:ext cx="2286000" cy="1188720"/>
          </a:xfrm>
          <a:prstGeom prst="rect">
            <a:avLst/>
          </a:prstGeom>
          <a:solidFill>
            <a:srgbClr val="141517"/>
          </a:solidFill>
          <a:ln/>
        </p:spPr>
      </p:sp>
      <p:sp>
        <p:nvSpPr>
          <p:cNvPr id="12" name="Text 10"/>
          <p:cNvSpPr txBox="1"/>
          <p:nvPr/>
        </p:nvSpPr>
        <p:spPr>
          <a:xfrm>
            <a:off x="548640" y="1463040"/>
            <a:ext cx="2286000" cy="411480"/>
          </a:xfrm>
          <a:prstGeom prst="rect">
            <a:avLst/>
          </a:prstGeom>
          <a:noFill/>
          <a:ln/>
        </p:spPr>
        <p:txBody>
          <a:bodyPr wrap="square" lIns="0" tIns="0" rIns="0" bIns="0" rtlCol="0" anchor="t"/>
          <a:lstStyle/>
          <a:p>
            <a:pPr algn="ctr" indent="0" marL="0">
              <a:buNone/>
            </a:pPr>
            <a:r>
              <a:rPr lang="en-US" sz="1700" b="1" dirty="0">
                <a:solidFill>
                  <a:srgbClr val="FFFFFF"/>
                </a:solidFill>
                <a:latin typeface="Meiryo" pitchFamily="34" charset="0"/>
                <a:ea typeface="Meiryo" pitchFamily="34" charset="-122"/>
                <a:cs typeface="Meiryo" pitchFamily="34" charset="-120"/>
              </a:rPr>
              <a:t>通過本数</a:t>
            </a:r>
            <a:endParaRPr lang="en-US" sz="1700" dirty="0"/>
          </a:p>
        </p:txBody>
      </p:sp>
      <p:sp>
        <p:nvSpPr>
          <p:cNvPr id="13" name="Text 11"/>
          <p:cNvSpPr txBox="1"/>
          <p:nvPr/>
        </p:nvSpPr>
        <p:spPr>
          <a:xfrm>
            <a:off x="548640" y="1920240"/>
            <a:ext cx="2286000" cy="365760"/>
          </a:xfrm>
          <a:prstGeom prst="rect">
            <a:avLst/>
          </a:prstGeom>
          <a:noFill/>
          <a:ln/>
        </p:spPr>
        <p:txBody>
          <a:bodyPr wrap="square" lIns="0" tIns="0" rIns="0" bIns="0" rtlCol="0" anchor="t"/>
          <a:lstStyle/>
          <a:p>
            <a:pPr algn="ctr" indent="0" marL="0">
              <a:buNone/>
            </a:pPr>
            <a:r>
              <a:rPr lang="en-US" sz="1100" dirty="0">
                <a:solidFill>
                  <a:srgbClr val="C9CED4"/>
                </a:solidFill>
                <a:latin typeface="Meiryo" pitchFamily="34" charset="0"/>
                <a:ea typeface="Meiryo" pitchFamily="34" charset="-122"/>
                <a:cs typeface="Meiryo" pitchFamily="34" charset="-120"/>
              </a:rPr>
              <a:t>実際に通ったボトル</a:t>
            </a:r>
            <a:endParaRPr lang="en-US" sz="1100" dirty="0"/>
          </a:p>
        </p:txBody>
      </p:sp>
      <p:sp>
        <p:nvSpPr>
          <p:cNvPr id="14" name="Shape 12"/>
          <p:cNvSpPr/>
          <p:nvPr/>
        </p:nvSpPr>
        <p:spPr>
          <a:xfrm>
            <a:off x="3063240" y="1325880"/>
            <a:ext cx="2286000" cy="1188720"/>
          </a:xfrm>
          <a:prstGeom prst="rect">
            <a:avLst/>
          </a:prstGeom>
          <a:solidFill>
            <a:srgbClr val="141517"/>
          </a:solidFill>
          <a:ln/>
        </p:spPr>
      </p:sp>
      <p:sp>
        <p:nvSpPr>
          <p:cNvPr id="15" name="Text 13"/>
          <p:cNvSpPr txBox="1"/>
          <p:nvPr/>
        </p:nvSpPr>
        <p:spPr>
          <a:xfrm>
            <a:off x="3063240" y="1463040"/>
            <a:ext cx="2286000" cy="411480"/>
          </a:xfrm>
          <a:prstGeom prst="rect">
            <a:avLst/>
          </a:prstGeom>
          <a:noFill/>
          <a:ln/>
        </p:spPr>
        <p:txBody>
          <a:bodyPr wrap="square" lIns="0" tIns="0" rIns="0" bIns="0" rtlCol="0" anchor="t"/>
          <a:lstStyle/>
          <a:p>
            <a:pPr algn="ctr" indent="0" marL="0">
              <a:buNone/>
            </a:pPr>
            <a:r>
              <a:rPr lang="en-US" sz="1700" b="1" dirty="0">
                <a:solidFill>
                  <a:srgbClr val="FFFFFF"/>
                </a:solidFill>
                <a:latin typeface="Meiryo" pitchFamily="34" charset="0"/>
                <a:ea typeface="Meiryo" pitchFamily="34" charset="-122"/>
                <a:cs typeface="Meiryo" pitchFamily="34" charset="-120"/>
              </a:rPr>
              <a:t>合図の回数</a:t>
            </a:r>
            <a:endParaRPr lang="en-US" sz="1700" dirty="0"/>
          </a:p>
        </p:txBody>
      </p:sp>
      <p:sp>
        <p:nvSpPr>
          <p:cNvPr id="16" name="Text 14"/>
          <p:cNvSpPr txBox="1"/>
          <p:nvPr/>
        </p:nvSpPr>
        <p:spPr>
          <a:xfrm>
            <a:off x="3063240" y="1920240"/>
            <a:ext cx="2286000" cy="365760"/>
          </a:xfrm>
          <a:prstGeom prst="rect">
            <a:avLst/>
          </a:prstGeom>
          <a:noFill/>
          <a:ln/>
        </p:spPr>
        <p:txBody>
          <a:bodyPr wrap="square" lIns="0" tIns="0" rIns="0" bIns="0" rtlCol="0" anchor="t"/>
          <a:lstStyle/>
          <a:p>
            <a:pPr algn="ctr" indent="0" marL="0">
              <a:buNone/>
            </a:pPr>
            <a:r>
              <a:rPr lang="en-US" sz="1100" dirty="0">
                <a:solidFill>
                  <a:srgbClr val="C9CED4"/>
                </a:solidFill>
                <a:latin typeface="Meiryo" pitchFamily="34" charset="0"/>
                <a:ea typeface="Meiryo" pitchFamily="34" charset="-122"/>
                <a:cs typeface="Meiryo" pitchFamily="34" charset="-120"/>
              </a:rPr>
              <a:t>センサが出した合図</a:t>
            </a:r>
            <a:endParaRPr lang="en-US" sz="1100" dirty="0"/>
          </a:p>
        </p:txBody>
      </p:sp>
      <p:sp>
        <p:nvSpPr>
          <p:cNvPr id="17" name="Shape 15"/>
          <p:cNvSpPr/>
          <p:nvPr/>
        </p:nvSpPr>
        <p:spPr>
          <a:xfrm>
            <a:off x="5577840" y="1325880"/>
            <a:ext cx="2286000" cy="1188720"/>
          </a:xfrm>
          <a:prstGeom prst="rect">
            <a:avLst/>
          </a:prstGeom>
          <a:solidFill>
            <a:srgbClr val="141517"/>
          </a:solidFill>
          <a:ln/>
        </p:spPr>
      </p:sp>
      <p:sp>
        <p:nvSpPr>
          <p:cNvPr id="18" name="Text 16"/>
          <p:cNvSpPr txBox="1"/>
          <p:nvPr/>
        </p:nvSpPr>
        <p:spPr>
          <a:xfrm>
            <a:off x="5577840" y="1463040"/>
            <a:ext cx="2286000" cy="411480"/>
          </a:xfrm>
          <a:prstGeom prst="rect">
            <a:avLst/>
          </a:prstGeom>
          <a:noFill/>
          <a:ln/>
        </p:spPr>
        <p:txBody>
          <a:bodyPr wrap="square" lIns="0" tIns="0" rIns="0" bIns="0" rtlCol="0" anchor="t"/>
          <a:lstStyle/>
          <a:p>
            <a:pPr algn="ctr" indent="0" marL="0">
              <a:buNone/>
            </a:pPr>
            <a:r>
              <a:rPr lang="en-US" sz="1700" b="1" dirty="0">
                <a:solidFill>
                  <a:srgbClr val="FFFFFF"/>
                </a:solidFill>
                <a:latin typeface="Meiryo" pitchFamily="34" charset="0"/>
                <a:ea typeface="Meiryo" pitchFamily="34" charset="-122"/>
                <a:cs typeface="Meiryo" pitchFamily="34" charset="-120"/>
              </a:rPr>
              <a:t>PLCのカウント</a:t>
            </a:r>
            <a:endParaRPr lang="en-US" sz="1700" dirty="0"/>
          </a:p>
        </p:txBody>
      </p:sp>
      <p:sp>
        <p:nvSpPr>
          <p:cNvPr id="19" name="Text 17"/>
          <p:cNvSpPr txBox="1"/>
          <p:nvPr/>
        </p:nvSpPr>
        <p:spPr>
          <a:xfrm>
            <a:off x="5577840" y="1920240"/>
            <a:ext cx="2286000" cy="365760"/>
          </a:xfrm>
          <a:prstGeom prst="rect">
            <a:avLst/>
          </a:prstGeom>
          <a:noFill/>
          <a:ln/>
        </p:spPr>
        <p:txBody>
          <a:bodyPr wrap="square" lIns="0" tIns="0" rIns="0" bIns="0" rtlCol="0" anchor="t"/>
          <a:lstStyle/>
          <a:p>
            <a:pPr algn="ctr" indent="0" marL="0">
              <a:buNone/>
            </a:pPr>
            <a:r>
              <a:rPr lang="en-US" sz="1100" dirty="0">
                <a:solidFill>
                  <a:srgbClr val="C9CED4"/>
                </a:solidFill>
                <a:latin typeface="Meiryo" pitchFamily="34" charset="0"/>
                <a:ea typeface="Meiryo" pitchFamily="34" charset="-122"/>
                <a:cs typeface="Meiryo" pitchFamily="34" charset="-120"/>
              </a:rPr>
              <a:t>数えた本数</a:t>
            </a:r>
            <a:endParaRPr lang="en-US" sz="1100" dirty="0"/>
          </a:p>
        </p:txBody>
      </p:sp>
      <p:sp>
        <p:nvSpPr>
          <p:cNvPr id="20" name="Text 18"/>
          <p:cNvSpPr txBox="1"/>
          <p:nvPr/>
        </p:nvSpPr>
        <p:spPr>
          <a:xfrm>
            <a:off x="548640" y="2606040"/>
            <a:ext cx="7315200" cy="320040"/>
          </a:xfrm>
          <a:prstGeom prst="rect">
            <a:avLst/>
          </a:prstGeom>
          <a:noFill/>
          <a:ln/>
        </p:spPr>
        <p:txBody>
          <a:bodyPr wrap="square" lIns="0" tIns="0" rIns="0" bIns="0" rtlCol="0" anchor="t"/>
          <a:lstStyle/>
          <a:p>
            <a:pPr indent="0" marL="0">
              <a:buNone/>
            </a:pPr>
            <a:r>
              <a:rPr lang="en-US" sz="1300" b="1" dirty="0">
                <a:solidFill>
                  <a:srgbClr val="5A6470"/>
                </a:solidFill>
                <a:latin typeface="Meiryo" pitchFamily="34" charset="0"/>
                <a:ea typeface="Meiryo" pitchFamily="34" charset="-122"/>
                <a:cs typeface="Meiryo" pitchFamily="34" charset="-120"/>
              </a:rPr>
              <a:t>同じ時間に、3つを記録する</a:t>
            </a:r>
            <a:endParaRPr lang="en-US" sz="1300" dirty="0"/>
          </a:p>
        </p:txBody>
      </p:sp>
      <p:sp>
        <p:nvSpPr>
          <p:cNvPr id="21" name="Shape 19"/>
          <p:cNvSpPr/>
          <p:nvPr/>
        </p:nvSpPr>
        <p:spPr>
          <a:xfrm>
            <a:off x="548640" y="3063240"/>
            <a:ext cx="7315200" cy="10515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2" name="Text 20"/>
          <p:cNvSpPr txBox="1"/>
          <p:nvPr/>
        </p:nvSpPr>
        <p:spPr>
          <a:xfrm>
            <a:off x="777240" y="3172968"/>
            <a:ext cx="6858000" cy="365760"/>
          </a:xfrm>
          <a:prstGeom prst="rect">
            <a:avLst/>
          </a:prstGeom>
          <a:noFill/>
          <a:ln/>
        </p:spPr>
        <p:txBody>
          <a:bodyPr wrap="square" lIns="0" tIns="0" rIns="0" bIns="0" rtlCol="0" anchor="t"/>
          <a:lstStyle/>
          <a:p>
            <a:pPr indent="0" marL="0">
              <a:buNone/>
            </a:pPr>
            <a:r>
              <a:rPr lang="en-US" sz="1400" b="1" dirty="0">
                <a:solidFill>
                  <a:srgbClr val="1E2126"/>
                </a:solidFill>
                <a:latin typeface="Meiryo" pitchFamily="34" charset="0"/>
                <a:ea typeface="Meiryo" pitchFamily="34" charset="-122"/>
                <a:cs typeface="Meiryo" pitchFamily="34" charset="-120"/>
              </a:rPr>
              <a:t>合図の回数 ＞ 通過本数</a:t>
            </a:r>
            <a:endParaRPr lang="en-US" sz="1400" dirty="0"/>
          </a:p>
        </p:txBody>
      </p:sp>
      <p:sp>
        <p:nvSpPr>
          <p:cNvPr id="23" name="Text 21"/>
          <p:cNvSpPr txBox="1"/>
          <p:nvPr/>
        </p:nvSpPr>
        <p:spPr>
          <a:xfrm>
            <a:off x="777240" y="3593592"/>
            <a:ext cx="6858000" cy="411480"/>
          </a:xfrm>
          <a:prstGeom prst="rect">
            <a:avLst/>
          </a:prstGeom>
          <a:noFill/>
          <a:ln/>
        </p:spPr>
        <p:txBody>
          <a:bodyPr wrap="square" lIns="0" tIns="0" rIns="0" bIns="0" rtlCol="0" anchor="t"/>
          <a:lstStyle/>
          <a:p>
            <a:pPr indent="0" marL="0">
              <a:buNone/>
            </a:pPr>
            <a:r>
              <a:rPr lang="en-US" sz="1600" b="1" dirty="0">
                <a:solidFill>
                  <a:srgbClr val="E60012"/>
                </a:solidFill>
                <a:latin typeface="Meiryo" pitchFamily="34" charset="0"/>
                <a:ea typeface="Meiryo" pitchFamily="34" charset="-122"/>
                <a:cs typeface="Meiryo" pitchFamily="34" charset="-120"/>
              </a:rPr>
              <a:t>→ センサ側で増えている</a:t>
            </a:r>
            <a:pPr indent="0" marL="0">
              <a:buNone/>
            </a:pPr>
            <a:r>
              <a:rPr lang="en-US" sz="1200" dirty="0">
                <a:solidFill>
                  <a:srgbClr val="5A6470"/>
                </a:solidFill>
                <a:latin typeface="Meiryo" pitchFamily="34" charset="0"/>
                <a:ea typeface="Meiryo" pitchFamily="34" charset="-122"/>
                <a:cs typeface="Meiryo" pitchFamily="34" charset="-120"/>
              </a:rPr>
              <a:t>　ボトル・光・設置を調べる</a:t>
            </a:r>
            <a:endParaRPr lang="en-US" sz="1600" dirty="0"/>
          </a:p>
        </p:txBody>
      </p:sp>
      <p:sp>
        <p:nvSpPr>
          <p:cNvPr id="24" name="Shape 22"/>
          <p:cNvSpPr/>
          <p:nvPr/>
        </p:nvSpPr>
        <p:spPr>
          <a:xfrm>
            <a:off x="548640" y="4251960"/>
            <a:ext cx="7315200" cy="105156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5" name="Text 23"/>
          <p:cNvSpPr txBox="1"/>
          <p:nvPr/>
        </p:nvSpPr>
        <p:spPr>
          <a:xfrm>
            <a:off x="777240" y="4361688"/>
            <a:ext cx="6858000" cy="365760"/>
          </a:xfrm>
          <a:prstGeom prst="rect">
            <a:avLst/>
          </a:prstGeom>
          <a:noFill/>
          <a:ln/>
        </p:spPr>
        <p:txBody>
          <a:bodyPr wrap="square" lIns="0" tIns="0" rIns="0" bIns="0" rtlCol="0" anchor="t"/>
          <a:lstStyle/>
          <a:p>
            <a:pPr indent="0" marL="0">
              <a:buNone/>
            </a:pPr>
            <a:r>
              <a:rPr lang="en-US" sz="1400" b="1" dirty="0">
                <a:solidFill>
                  <a:srgbClr val="1E2126"/>
                </a:solidFill>
                <a:latin typeface="Meiryo" pitchFamily="34" charset="0"/>
                <a:ea typeface="Meiryo" pitchFamily="34" charset="-122"/>
                <a:cs typeface="Meiryo" pitchFamily="34" charset="-120"/>
              </a:rPr>
              <a:t>合図の回数 ＝ 通過本数　なのに　カウント ＞ 通過本数</a:t>
            </a:r>
            <a:endParaRPr lang="en-US" sz="1400" dirty="0"/>
          </a:p>
        </p:txBody>
      </p:sp>
      <p:sp>
        <p:nvSpPr>
          <p:cNvPr id="26" name="Text 24"/>
          <p:cNvSpPr txBox="1"/>
          <p:nvPr/>
        </p:nvSpPr>
        <p:spPr>
          <a:xfrm>
            <a:off x="777240" y="4782312"/>
            <a:ext cx="6858000" cy="411480"/>
          </a:xfrm>
          <a:prstGeom prst="rect">
            <a:avLst/>
          </a:prstGeom>
          <a:noFill/>
          <a:ln/>
        </p:spPr>
        <p:txBody>
          <a:bodyPr wrap="square" lIns="0" tIns="0" rIns="0" bIns="0" rtlCol="0" anchor="t"/>
          <a:lstStyle/>
          <a:p>
            <a:pPr indent="0" marL="0">
              <a:buNone/>
            </a:pPr>
            <a:r>
              <a:rPr lang="en-US" sz="1600" b="1" dirty="0">
                <a:solidFill>
                  <a:srgbClr val="E60012"/>
                </a:solidFill>
                <a:latin typeface="Meiryo" pitchFamily="34" charset="0"/>
                <a:ea typeface="Meiryo" pitchFamily="34" charset="-122"/>
                <a:cs typeface="Meiryo" pitchFamily="34" charset="-120"/>
              </a:rPr>
              <a:t>→ PLC側で増えている</a:t>
            </a:r>
            <a:pPr indent="0" marL="0">
              <a:buNone/>
            </a:pPr>
            <a:r>
              <a:rPr lang="en-US" sz="1200" dirty="0">
                <a:solidFill>
                  <a:srgbClr val="5A6470"/>
                </a:solidFill>
                <a:latin typeface="Meiryo" pitchFamily="34" charset="0"/>
                <a:ea typeface="Meiryo" pitchFamily="34" charset="-122"/>
                <a:cs typeface="Meiryo" pitchFamily="34" charset="-120"/>
              </a:rPr>
              <a:t>　数え方の設定を調べる</a:t>
            </a:r>
            <a:endParaRPr lang="en-US" sz="1600" dirty="0"/>
          </a:p>
        </p:txBody>
      </p:sp>
      <p:sp>
        <p:nvSpPr>
          <p:cNvPr id="27" name="Text 25"/>
          <p:cNvSpPr txBox="1"/>
          <p:nvPr/>
        </p:nvSpPr>
        <p:spPr>
          <a:xfrm>
            <a:off x="8229600" y="1325880"/>
            <a:ext cx="3383280" cy="274320"/>
          </a:xfrm>
          <a:prstGeom prst="rect">
            <a:avLst/>
          </a:prstGeom>
          <a:noFill/>
          <a:ln/>
        </p:spPr>
        <p:txBody>
          <a:bodyPr wrap="square" lIns="0" tIns="0" rIns="0" bIns="0" rtlCol="0" anchor="t"/>
          <a:lstStyle/>
          <a:p>
            <a:pPr indent="0" marL="0">
              <a:buNone/>
            </a:pPr>
            <a:r>
              <a:rPr lang="en-US" sz="1200" b="1" dirty="0">
                <a:solidFill>
                  <a:srgbClr val="5A6470"/>
                </a:solidFill>
                <a:latin typeface="Meiryo" pitchFamily="34" charset="0"/>
                <a:ea typeface="Meiryo" pitchFamily="34" charset="-122"/>
                <a:cs typeface="Meiryo" pitchFamily="34" charset="-120"/>
              </a:rPr>
              <a:t>ほかの選択肢を選ぶと</a:t>
            </a:r>
            <a:endParaRPr lang="en-US" sz="1200" dirty="0"/>
          </a:p>
        </p:txBody>
      </p:sp>
      <p:sp>
        <p:nvSpPr>
          <p:cNvPr id="28" name="Shape 26"/>
          <p:cNvSpPr/>
          <p:nvPr/>
        </p:nvSpPr>
        <p:spPr>
          <a:xfrm>
            <a:off x="8229600" y="1691640"/>
            <a:ext cx="3410712" cy="1417320"/>
          </a:xfrm>
          <a:prstGeom prst="rect">
            <a:avLst/>
          </a:prstGeom>
          <a:solidFill>
            <a:srgbClr val="FFFFFF"/>
          </a:solidFill>
          <a:ln/>
        </p:spPr>
      </p:sp>
      <p:sp>
        <p:nvSpPr>
          <p:cNvPr id="29" name="Shape 27"/>
          <p:cNvSpPr/>
          <p:nvPr/>
        </p:nvSpPr>
        <p:spPr>
          <a:xfrm>
            <a:off x="8394192" y="1828800"/>
            <a:ext cx="329184" cy="292608"/>
          </a:xfrm>
          <a:prstGeom prst="rect">
            <a:avLst/>
          </a:prstGeom>
          <a:solidFill>
            <a:srgbClr val="5A6470"/>
          </a:solidFill>
          <a:ln/>
        </p:spPr>
      </p:sp>
      <p:sp>
        <p:nvSpPr>
          <p:cNvPr id="30" name="Text 28"/>
          <p:cNvSpPr txBox="1"/>
          <p:nvPr/>
        </p:nvSpPr>
        <p:spPr>
          <a:xfrm>
            <a:off x="8394192" y="1828800"/>
            <a:ext cx="32918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31" name="Text 29"/>
          <p:cNvSpPr txBox="1"/>
          <p:nvPr/>
        </p:nvSpPr>
        <p:spPr>
          <a:xfrm>
            <a:off x="8823960" y="1810512"/>
            <a:ext cx="2651760" cy="329184"/>
          </a:xfrm>
          <a:prstGeom prst="rect">
            <a:avLst/>
          </a:prstGeom>
          <a:noFill/>
          <a:ln/>
        </p:spPr>
        <p:txBody>
          <a:bodyPr wrap="square" lIns="0" tIns="0" rIns="0" bIns="0" rtlCol="0" anchor="t"/>
          <a:lstStyle/>
          <a:p>
            <a:pPr indent="0" marL="0">
              <a:buNone/>
            </a:pPr>
            <a:r>
              <a:rPr lang="en-US" sz="1300" b="1" dirty="0">
                <a:solidFill>
                  <a:srgbClr val="1E2126"/>
                </a:solidFill>
                <a:latin typeface="Meiryo" pitchFamily="34" charset="0"/>
                <a:ea typeface="Meiryo" pitchFamily="34" charset="-122"/>
                <a:cs typeface="Meiryo" pitchFamily="34" charset="-120"/>
              </a:rPr>
              <a:t>すぐ交換</a:t>
            </a:r>
            <a:endParaRPr lang="en-US" sz="1300" dirty="0"/>
          </a:p>
        </p:txBody>
      </p:sp>
      <p:sp>
        <p:nvSpPr>
          <p:cNvPr id="32" name="Text 30"/>
          <p:cNvSpPr txBox="1"/>
          <p:nvPr/>
        </p:nvSpPr>
        <p:spPr>
          <a:xfrm>
            <a:off x="8394192" y="2258568"/>
            <a:ext cx="3108960" cy="777240"/>
          </a:xfrm>
          <a:prstGeom prst="rect">
            <a:avLst/>
          </a:prstGeom>
          <a:noFill/>
          <a:ln/>
        </p:spPr>
        <p:txBody>
          <a:bodyPr wrap="square" lIns="0" tIns="0" rIns="0" bIns="0" rtlCol="0" anchor="t"/>
          <a:lstStyle/>
          <a:p>
            <a:pPr indent="0" marL="0">
              <a:buNone/>
            </a:pPr>
            <a:r>
              <a:rPr lang="en-US" sz="1200" dirty="0">
                <a:solidFill>
                  <a:srgbClr val="1E2126"/>
                </a:solidFill>
                <a:latin typeface="Meiryo" pitchFamily="34" charset="0"/>
                <a:ea typeface="Meiryo" pitchFamily="34" charset="-122"/>
                <a:cs typeface="Meiryo" pitchFamily="34" charset="-120"/>
              </a:rPr>
              <a:t>「交換して直らなかったら、困りますね…。」</a:t>
            </a:r>
            <a:endParaRPr lang="en-US" sz="1200" dirty="0"/>
          </a:p>
        </p:txBody>
      </p:sp>
      <p:sp>
        <p:nvSpPr>
          <p:cNvPr id="33" name="Shape 31"/>
          <p:cNvSpPr/>
          <p:nvPr/>
        </p:nvSpPr>
        <p:spPr>
          <a:xfrm>
            <a:off x="8229600" y="3291840"/>
            <a:ext cx="3410712" cy="1417320"/>
          </a:xfrm>
          <a:prstGeom prst="rect">
            <a:avLst/>
          </a:prstGeom>
          <a:solidFill>
            <a:srgbClr val="FFFFFF"/>
          </a:solidFill>
          <a:ln/>
        </p:spPr>
      </p:sp>
      <p:sp>
        <p:nvSpPr>
          <p:cNvPr id="34" name="Shape 32"/>
          <p:cNvSpPr/>
          <p:nvPr/>
        </p:nvSpPr>
        <p:spPr>
          <a:xfrm>
            <a:off x="8394192" y="3429000"/>
            <a:ext cx="329184" cy="292608"/>
          </a:xfrm>
          <a:prstGeom prst="rect">
            <a:avLst/>
          </a:prstGeom>
          <a:solidFill>
            <a:srgbClr val="5A6470"/>
          </a:solidFill>
          <a:ln/>
        </p:spPr>
      </p:sp>
      <p:sp>
        <p:nvSpPr>
          <p:cNvPr id="35" name="Text 33"/>
          <p:cNvSpPr txBox="1"/>
          <p:nvPr/>
        </p:nvSpPr>
        <p:spPr>
          <a:xfrm>
            <a:off x="8394192" y="3429000"/>
            <a:ext cx="329184"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C</a:t>
            </a:r>
            <a:endParaRPr lang="en-US" sz="1200" dirty="0"/>
          </a:p>
        </p:txBody>
      </p:sp>
      <p:sp>
        <p:nvSpPr>
          <p:cNvPr id="36" name="Text 34"/>
          <p:cNvSpPr txBox="1"/>
          <p:nvPr/>
        </p:nvSpPr>
        <p:spPr>
          <a:xfrm>
            <a:off x="8823960" y="3410712"/>
            <a:ext cx="2651760" cy="329184"/>
          </a:xfrm>
          <a:prstGeom prst="rect">
            <a:avLst/>
          </a:prstGeom>
          <a:noFill/>
          <a:ln/>
        </p:spPr>
        <p:txBody>
          <a:bodyPr wrap="square" lIns="0" tIns="0" rIns="0" bIns="0" rtlCol="0" anchor="t"/>
          <a:lstStyle/>
          <a:p>
            <a:pPr indent="0" marL="0">
              <a:buNone/>
            </a:pPr>
            <a:r>
              <a:rPr lang="en-US" sz="1300" b="1" dirty="0">
                <a:solidFill>
                  <a:srgbClr val="1E2126"/>
                </a:solidFill>
                <a:latin typeface="Meiryo" pitchFamily="34" charset="0"/>
                <a:ea typeface="Meiryo" pitchFamily="34" charset="-122"/>
                <a:cs typeface="Meiryo" pitchFamily="34" charset="-120"/>
              </a:rPr>
              <a:t>速度を下げる</a:t>
            </a:r>
            <a:endParaRPr lang="en-US" sz="1300" dirty="0"/>
          </a:p>
        </p:txBody>
      </p:sp>
      <p:sp>
        <p:nvSpPr>
          <p:cNvPr id="37" name="Text 35"/>
          <p:cNvSpPr txBox="1"/>
          <p:nvPr/>
        </p:nvSpPr>
        <p:spPr>
          <a:xfrm>
            <a:off x="8394192" y="3858768"/>
            <a:ext cx="3108960" cy="777240"/>
          </a:xfrm>
          <a:prstGeom prst="rect">
            <a:avLst/>
          </a:prstGeom>
          <a:noFill/>
          <a:ln/>
        </p:spPr>
        <p:txBody>
          <a:bodyPr wrap="square" lIns="0" tIns="0" rIns="0" bIns="0" rtlCol="0" anchor="t"/>
          <a:lstStyle/>
          <a:p>
            <a:pPr indent="0" marL="0">
              <a:buNone/>
            </a:pPr>
            <a:r>
              <a:rPr lang="en-US" sz="1200" dirty="0">
                <a:solidFill>
                  <a:srgbClr val="1E2126"/>
                </a:solidFill>
                <a:latin typeface="Meiryo" pitchFamily="34" charset="0"/>
                <a:ea typeface="Meiryo" pitchFamily="34" charset="-122"/>
                <a:cs typeface="Meiryo" pitchFamily="34" charset="-120"/>
              </a:rPr>
              <a:t>「生産量に影響するので、速度は落とせません。」</a:t>
            </a:r>
            <a:endParaRPr lang="en-US" sz="1200" dirty="0"/>
          </a:p>
        </p:txBody>
      </p:sp>
      <p:sp>
        <p:nvSpPr>
          <p:cNvPr id="38" name="Text 36"/>
          <p:cNvSpPr txBox="1"/>
          <p:nvPr/>
        </p:nvSpPr>
        <p:spPr>
          <a:xfrm>
            <a:off x="8229600" y="4937760"/>
            <a:ext cx="3410712" cy="548640"/>
          </a:xfrm>
          <a:prstGeom prst="rect">
            <a:avLst/>
          </a:prstGeom>
          <a:noFill/>
          <a:ln/>
        </p:spPr>
        <p:txBody>
          <a:bodyPr wrap="square" lIns="0" tIns="0" rIns="0" bIns="0" rtlCol="0" anchor="t"/>
          <a:lstStyle/>
          <a:p>
            <a:pPr indent="0" marL="0">
              <a:buNone/>
            </a:pPr>
            <a:r>
              <a:rPr lang="en-US" sz="1150" b="1" dirty="0">
                <a:solidFill>
                  <a:srgbClr val="E60012"/>
                </a:solidFill>
                <a:latin typeface="Meiryo" pitchFamily="34" charset="0"/>
                <a:ea typeface="Meiryo" pitchFamily="34" charset="-122"/>
                <a:cs typeface="Meiryo" pitchFamily="34" charset="-120"/>
              </a:rPr>
              <a:t>お客様の反応も、提案の大事な条件になる</a:t>
            </a:r>
            <a:endParaRPr lang="en-US" sz="1150" dirty="0"/>
          </a:p>
        </p:txBody>
      </p:sp>
      <p:sp>
        <p:nvSpPr>
          <p:cNvPr id="39" name="Text 37"/>
          <p:cNvSpPr txBox="1"/>
          <p:nvPr/>
        </p:nvSpPr>
        <p:spPr>
          <a:xfrm>
            <a:off x="548640" y="5715000"/>
            <a:ext cx="8229600" cy="320040"/>
          </a:xfrm>
          <a:prstGeom prst="rect">
            <a:avLst/>
          </a:prstGeom>
          <a:noFill/>
          <a:ln/>
        </p:spPr>
        <p:txBody>
          <a:bodyPr wrap="square" lIns="0" tIns="0" rIns="0" bIns="0" rtlCol="0" anchor="t"/>
          <a:lstStyle/>
          <a:p>
            <a:pPr indent="0" marL="0">
              <a:buNone/>
            </a:pPr>
            <a:r>
              <a:rPr lang="en-US" sz="1300" b="1" dirty="0">
                <a:solidFill>
                  <a:srgbClr val="E60012"/>
                </a:solidFill>
                <a:latin typeface="Meiryo" pitchFamily="34" charset="0"/>
                <a:ea typeface="Meiryo" pitchFamily="34" charset="-122"/>
                <a:cs typeface="Meiryo" pitchFamily="34" charset="-120"/>
              </a:rPr>
              <a:t>おすすめ：B　どこで数が増えているかを分けられる</a:t>
            </a:r>
            <a:endParaRPr lang="en-US" sz="13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566928"/>
            <a:ext cx="658368" cy="329184"/>
          </a:xfrm>
          <a:prstGeom prst="rect">
            <a:avLst/>
          </a:prstGeom>
          <a:solidFill>
            <a:srgbClr val="E60012"/>
          </a:solidFill>
          <a:ln/>
        </p:spPr>
      </p:sp>
      <p:sp>
        <p:nvSpPr>
          <p:cNvPr id="3" name="Text 1"/>
          <p:cNvSpPr txBox="1"/>
          <p:nvPr/>
        </p:nvSpPr>
        <p:spPr>
          <a:xfrm>
            <a:off x="548640" y="566928"/>
            <a:ext cx="6583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考える</a:t>
            </a:r>
            <a:endParaRPr lang="en-US" sz="1100" dirty="0"/>
          </a:p>
        </p:txBody>
      </p:sp>
      <p:sp>
        <p:nvSpPr>
          <p:cNvPr id="4" name="Text 2"/>
          <p:cNvSpPr txBox="1"/>
          <p:nvPr/>
        </p:nvSpPr>
        <p:spPr>
          <a:xfrm>
            <a:off x="1371600" y="530352"/>
            <a:ext cx="10253167"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ワーク2　営業の思考の核</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Text 9"/>
          <p:cNvSpPr txBox="1"/>
          <p:nvPr/>
        </p:nvSpPr>
        <p:spPr>
          <a:xfrm>
            <a:off x="548640" y="1325880"/>
            <a:ext cx="2743200" cy="274320"/>
          </a:xfrm>
          <a:prstGeom prst="rect">
            <a:avLst/>
          </a:prstGeom>
          <a:noFill/>
          <a:ln/>
        </p:spPr>
        <p:txBody>
          <a:bodyPr wrap="square" lIns="0" tIns="0" rIns="0" bIns="0" rtlCol="0" anchor="t"/>
          <a:lstStyle/>
          <a:p>
            <a:pPr indent="0" marL="0">
              <a:buNone/>
            </a:pPr>
            <a:r>
              <a:rPr lang="en-US" sz="1100" b="1" spc="300" kern="0" dirty="0">
                <a:solidFill>
                  <a:srgbClr val="E60012"/>
                </a:solidFill>
                <a:latin typeface="Meiryo" pitchFamily="34" charset="0"/>
                <a:ea typeface="Meiryo" pitchFamily="34" charset="-122"/>
                <a:cs typeface="Meiryo" pitchFamily="34" charset="-120"/>
              </a:rPr>
              <a:t>WORK</a:t>
            </a:r>
            <a:endParaRPr lang="en-US" sz="1100" dirty="0"/>
          </a:p>
        </p:txBody>
      </p:sp>
      <p:sp>
        <p:nvSpPr>
          <p:cNvPr id="12" name="Text 10"/>
          <p:cNvSpPr txBox="1"/>
          <p:nvPr/>
        </p:nvSpPr>
        <p:spPr>
          <a:xfrm>
            <a:off x="548640" y="1645920"/>
            <a:ext cx="11094415" cy="155448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原因を決めつけずに調べるには</a:t>
            </a:r>
            <a:endParaRPr lang="en-US" sz="3400" dirty="0"/>
          </a:p>
          <a:p>
            <a:pPr indent="0" marL="0">
              <a:buNone/>
            </a:pPr>
            <a:r>
              <a:rPr lang="en-US" sz="3400" b="1" dirty="0">
                <a:solidFill>
                  <a:srgbClr val="FFFFFF"/>
                </a:solidFill>
                <a:latin typeface="Meiryo" pitchFamily="34" charset="0"/>
                <a:ea typeface="Meiryo" pitchFamily="34" charset="-122"/>
                <a:cs typeface="Meiryo" pitchFamily="34" charset="-120"/>
              </a:rPr>
              <a:t>何を確認すればよいでしょうか？</a:t>
            </a:r>
            <a:endParaRPr lang="en-US" sz="3400" dirty="0"/>
          </a:p>
        </p:txBody>
      </p:sp>
      <p:sp>
        <p:nvSpPr>
          <p:cNvPr id="13" name="Shape 11"/>
          <p:cNvSpPr/>
          <p:nvPr/>
        </p:nvSpPr>
        <p:spPr>
          <a:xfrm>
            <a:off x="548640" y="3611880"/>
            <a:ext cx="3291840" cy="1005840"/>
          </a:xfrm>
          <a:prstGeom prst="rect">
            <a:avLst/>
          </a:prstGeom>
          <a:solidFill>
            <a:srgbClr val="2A2D33"/>
          </a:solidFill>
          <a:ln/>
        </p:spPr>
      </p:sp>
      <p:sp>
        <p:nvSpPr>
          <p:cNvPr id="14" name="Text 12"/>
          <p:cNvSpPr txBox="1"/>
          <p:nvPr/>
        </p:nvSpPr>
        <p:spPr>
          <a:xfrm>
            <a:off x="777240" y="3703320"/>
            <a:ext cx="2834640" cy="411480"/>
          </a:xfrm>
          <a:prstGeom prst="rect">
            <a:avLst/>
          </a:prstGeom>
          <a:noFill/>
          <a:ln/>
        </p:spPr>
        <p:txBody>
          <a:bodyPr wrap="square" lIns="0" tIns="0" rIns="0" bIns="0" rtlCol="0" anchor="t"/>
          <a:lstStyle/>
          <a:p>
            <a:pPr indent="0" marL="0">
              <a:buNone/>
            </a:pPr>
            <a:r>
              <a:rPr lang="en-US" sz="2000" b="1" dirty="0">
                <a:solidFill>
                  <a:srgbClr val="E60012"/>
                </a:solidFill>
                <a:latin typeface="Meiryo" pitchFamily="34" charset="0"/>
                <a:ea typeface="Meiryo" pitchFamily="34" charset="-122"/>
                <a:cs typeface="Meiryo" pitchFamily="34" charset="-120"/>
              </a:rPr>
              <a:t>1分30秒</a:t>
            </a:r>
            <a:endParaRPr lang="en-US" sz="2000" dirty="0"/>
          </a:p>
        </p:txBody>
      </p:sp>
      <p:sp>
        <p:nvSpPr>
          <p:cNvPr id="15" name="Text 13"/>
          <p:cNvSpPr txBox="1"/>
          <p:nvPr/>
        </p:nvSpPr>
        <p:spPr>
          <a:xfrm>
            <a:off x="777240" y="4114800"/>
            <a:ext cx="2834640" cy="411480"/>
          </a:xfrm>
          <a:prstGeom prst="rect">
            <a:avLst/>
          </a:prstGeom>
          <a:noFill/>
          <a:ln/>
        </p:spPr>
        <p:txBody>
          <a:bodyPr wrap="square" lIns="0" tIns="0" rIns="0" bIns="0" rtlCol="0" anchor="t"/>
          <a:lstStyle/>
          <a:p>
            <a:pPr indent="0" marL="0">
              <a:buNone/>
            </a:pPr>
            <a:r>
              <a:rPr lang="en-US" sz="1300" dirty="0">
                <a:solidFill>
                  <a:srgbClr val="FFFFFF"/>
                </a:solidFill>
                <a:latin typeface="Meiryo" pitchFamily="34" charset="0"/>
                <a:ea typeface="Meiryo" pitchFamily="34" charset="-122"/>
                <a:cs typeface="Meiryo" pitchFamily="34" charset="-120"/>
              </a:rPr>
              <a:t>グループで話す（3つ以上）</a:t>
            </a:r>
            <a:endParaRPr lang="en-US" sz="1300" dirty="0"/>
          </a:p>
        </p:txBody>
      </p:sp>
      <p:sp>
        <p:nvSpPr>
          <p:cNvPr id="16" name="Shape 14"/>
          <p:cNvSpPr/>
          <p:nvPr/>
        </p:nvSpPr>
        <p:spPr>
          <a:xfrm>
            <a:off x="4069080" y="3611880"/>
            <a:ext cx="3291840" cy="1005840"/>
          </a:xfrm>
          <a:prstGeom prst="rect">
            <a:avLst/>
          </a:prstGeom>
          <a:solidFill>
            <a:srgbClr val="2A2D33"/>
          </a:solidFill>
          <a:ln/>
        </p:spPr>
      </p:sp>
      <p:sp>
        <p:nvSpPr>
          <p:cNvPr id="17" name="Text 15"/>
          <p:cNvSpPr txBox="1"/>
          <p:nvPr/>
        </p:nvSpPr>
        <p:spPr>
          <a:xfrm>
            <a:off x="4297680" y="3703320"/>
            <a:ext cx="2834640" cy="411480"/>
          </a:xfrm>
          <a:prstGeom prst="rect">
            <a:avLst/>
          </a:prstGeom>
          <a:noFill/>
          <a:ln/>
        </p:spPr>
        <p:txBody>
          <a:bodyPr wrap="square" lIns="0" tIns="0" rIns="0" bIns="0" rtlCol="0" anchor="t"/>
          <a:lstStyle/>
          <a:p>
            <a:pPr indent="0" marL="0">
              <a:buNone/>
            </a:pPr>
            <a:r>
              <a:rPr lang="en-US" sz="2000" b="1" dirty="0">
                <a:solidFill>
                  <a:srgbClr val="E60012"/>
                </a:solidFill>
                <a:latin typeface="Meiryo" pitchFamily="34" charset="0"/>
                <a:ea typeface="Meiryo" pitchFamily="34" charset="-122"/>
                <a:cs typeface="Meiryo" pitchFamily="34" charset="-120"/>
              </a:rPr>
              <a:t>30秒</a:t>
            </a:r>
            <a:endParaRPr lang="en-US" sz="2000" dirty="0"/>
          </a:p>
        </p:txBody>
      </p:sp>
      <p:sp>
        <p:nvSpPr>
          <p:cNvPr id="18" name="Text 16"/>
          <p:cNvSpPr txBox="1"/>
          <p:nvPr/>
        </p:nvSpPr>
        <p:spPr>
          <a:xfrm>
            <a:off x="4297680" y="4114800"/>
            <a:ext cx="2834640" cy="411480"/>
          </a:xfrm>
          <a:prstGeom prst="rect">
            <a:avLst/>
          </a:prstGeom>
          <a:noFill/>
          <a:ln/>
        </p:spPr>
        <p:txBody>
          <a:bodyPr wrap="square" lIns="0" tIns="0" rIns="0" bIns="0" rtlCol="0" anchor="t"/>
          <a:lstStyle/>
          <a:p>
            <a:pPr indent="0" marL="0">
              <a:buNone/>
            </a:pPr>
            <a:r>
              <a:rPr lang="en-US" sz="1300" dirty="0">
                <a:solidFill>
                  <a:srgbClr val="FFFFFF"/>
                </a:solidFill>
                <a:latin typeface="Meiryo" pitchFamily="34" charset="0"/>
                <a:ea typeface="Meiryo" pitchFamily="34" charset="-122"/>
                <a:cs typeface="Meiryo" pitchFamily="34" charset="-120"/>
              </a:rPr>
              <a:t>1グループが発表</a:t>
            </a:r>
            <a:endParaRPr lang="en-US" sz="1300" dirty="0"/>
          </a:p>
        </p:txBody>
      </p:sp>
      <p:sp>
        <p:nvSpPr>
          <p:cNvPr id="19" name="Text 17"/>
          <p:cNvSpPr txBox="1"/>
          <p:nvPr/>
        </p:nvSpPr>
        <p:spPr>
          <a:xfrm>
            <a:off x="548640" y="4983480"/>
            <a:ext cx="11094415" cy="41148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手がかり：いつ・どこで・何と何を比べると、原因が分かりそう？</a:t>
            </a:r>
            <a:endParaRPr lang="en-US" sz="14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566928"/>
            <a:ext cx="658368" cy="329184"/>
          </a:xfrm>
          <a:prstGeom prst="rect">
            <a:avLst/>
          </a:prstGeom>
          <a:solidFill>
            <a:srgbClr val="E60012"/>
          </a:solidFill>
          <a:ln/>
        </p:spPr>
      </p:sp>
      <p:sp>
        <p:nvSpPr>
          <p:cNvPr id="3" name="Text 1"/>
          <p:cNvSpPr txBox="1"/>
          <p:nvPr/>
        </p:nvSpPr>
        <p:spPr>
          <a:xfrm>
            <a:off x="548640" y="566928"/>
            <a:ext cx="6583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考える</a:t>
            </a:r>
            <a:endParaRPr lang="en-US" sz="1100" dirty="0"/>
          </a:p>
        </p:txBody>
      </p:sp>
      <p:sp>
        <p:nvSpPr>
          <p:cNvPr id="4" name="Text 2"/>
          <p:cNvSpPr txBox="1"/>
          <p:nvPr/>
        </p:nvSpPr>
        <p:spPr>
          <a:xfrm>
            <a:off x="1371600" y="530352"/>
            <a:ext cx="10253167"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事実 → 仮説 → 検証</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325880"/>
            <a:ext cx="1645920" cy="731520"/>
          </a:xfrm>
          <a:prstGeom prst="rect">
            <a:avLst/>
          </a:prstGeom>
          <a:solidFill>
            <a:srgbClr val="141517"/>
          </a:solidFill>
          <a:ln/>
        </p:spPr>
      </p:sp>
      <p:sp>
        <p:nvSpPr>
          <p:cNvPr id="12" name="Text 10"/>
          <p:cNvSpPr txBox="1"/>
          <p:nvPr/>
        </p:nvSpPr>
        <p:spPr>
          <a:xfrm>
            <a:off x="548640" y="1325880"/>
            <a:ext cx="16459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事実</a:t>
            </a:r>
            <a:endParaRPr lang="en-US" sz="2200" dirty="0"/>
          </a:p>
        </p:txBody>
      </p:sp>
      <p:sp>
        <p:nvSpPr>
          <p:cNvPr id="13" name="Shape 11"/>
          <p:cNvSpPr/>
          <p:nvPr/>
        </p:nvSpPr>
        <p:spPr>
          <a:xfrm>
            <a:off x="2240280" y="1554480"/>
            <a:ext cx="274320" cy="274320"/>
          </a:xfrm>
          <a:prstGeom prst="rightArrow">
            <a:avLst/>
          </a:prstGeom>
          <a:solidFill>
            <a:srgbClr val="5A6470"/>
          </a:solidFill>
          <a:ln/>
        </p:spPr>
      </p:sp>
      <p:sp>
        <p:nvSpPr>
          <p:cNvPr id="14" name="Shape 12"/>
          <p:cNvSpPr/>
          <p:nvPr/>
        </p:nvSpPr>
        <p:spPr>
          <a:xfrm>
            <a:off x="2560320" y="1325880"/>
            <a:ext cx="1645920" cy="731520"/>
          </a:xfrm>
          <a:prstGeom prst="rect">
            <a:avLst/>
          </a:prstGeom>
          <a:solidFill>
            <a:srgbClr val="141517"/>
          </a:solidFill>
          <a:ln/>
        </p:spPr>
      </p:sp>
      <p:sp>
        <p:nvSpPr>
          <p:cNvPr id="15" name="Text 13"/>
          <p:cNvSpPr txBox="1"/>
          <p:nvPr/>
        </p:nvSpPr>
        <p:spPr>
          <a:xfrm>
            <a:off x="2560320" y="1325880"/>
            <a:ext cx="16459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仮説</a:t>
            </a:r>
            <a:endParaRPr lang="en-US" sz="2200" dirty="0"/>
          </a:p>
        </p:txBody>
      </p:sp>
      <p:sp>
        <p:nvSpPr>
          <p:cNvPr id="16" name="Shape 14"/>
          <p:cNvSpPr/>
          <p:nvPr/>
        </p:nvSpPr>
        <p:spPr>
          <a:xfrm>
            <a:off x="4251960" y="1554480"/>
            <a:ext cx="274320" cy="274320"/>
          </a:xfrm>
          <a:prstGeom prst="rightArrow">
            <a:avLst/>
          </a:prstGeom>
          <a:solidFill>
            <a:srgbClr val="5A6470"/>
          </a:solidFill>
          <a:ln/>
        </p:spPr>
      </p:sp>
      <p:sp>
        <p:nvSpPr>
          <p:cNvPr id="17" name="Shape 15"/>
          <p:cNvSpPr/>
          <p:nvPr/>
        </p:nvSpPr>
        <p:spPr>
          <a:xfrm>
            <a:off x="4572000" y="1325880"/>
            <a:ext cx="1645920" cy="731520"/>
          </a:xfrm>
          <a:prstGeom prst="rect">
            <a:avLst/>
          </a:prstGeom>
          <a:solidFill>
            <a:srgbClr val="E60012"/>
          </a:solidFill>
          <a:ln/>
        </p:spPr>
      </p:sp>
      <p:sp>
        <p:nvSpPr>
          <p:cNvPr id="18" name="Text 16"/>
          <p:cNvSpPr txBox="1"/>
          <p:nvPr/>
        </p:nvSpPr>
        <p:spPr>
          <a:xfrm>
            <a:off x="4572000" y="1325880"/>
            <a:ext cx="16459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検証</a:t>
            </a:r>
            <a:endParaRPr lang="en-US" sz="2200" dirty="0"/>
          </a:p>
        </p:txBody>
      </p:sp>
      <p:sp>
        <p:nvSpPr>
          <p:cNvPr id="19" name="Shape 17"/>
          <p:cNvSpPr/>
          <p:nvPr/>
        </p:nvSpPr>
        <p:spPr>
          <a:xfrm>
            <a:off x="548640" y="2377440"/>
            <a:ext cx="3566160" cy="201168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0" name="Text 18"/>
          <p:cNvSpPr txBox="1"/>
          <p:nvPr/>
        </p:nvSpPr>
        <p:spPr>
          <a:xfrm>
            <a:off x="777240" y="2487168"/>
            <a:ext cx="548640" cy="548640"/>
          </a:xfrm>
          <a:prstGeom prst="rect">
            <a:avLst/>
          </a:prstGeom>
          <a:noFill/>
          <a:ln/>
        </p:spPr>
        <p:txBody>
          <a:bodyPr wrap="square" lIns="0" tIns="0" rIns="0" bIns="0" rtlCol="0" anchor="t"/>
          <a:lstStyle/>
          <a:p>
            <a:pPr indent="0" marL="0">
              <a:buNone/>
            </a:pPr>
            <a:r>
              <a:rPr lang="en-US" sz="2800" b="1" dirty="0">
                <a:solidFill>
                  <a:srgbClr val="E60012"/>
                </a:solidFill>
                <a:latin typeface="Meiryo" pitchFamily="34" charset="0"/>
                <a:ea typeface="Meiryo" pitchFamily="34" charset="-122"/>
                <a:cs typeface="Meiryo" pitchFamily="34" charset="-120"/>
              </a:rPr>
              <a:t>1</a:t>
            </a:r>
            <a:endParaRPr lang="en-US" sz="2800" dirty="0"/>
          </a:p>
        </p:txBody>
      </p:sp>
      <p:sp>
        <p:nvSpPr>
          <p:cNvPr id="21" name="Text 19"/>
          <p:cNvSpPr txBox="1"/>
          <p:nvPr/>
        </p:nvSpPr>
        <p:spPr>
          <a:xfrm>
            <a:off x="1325880" y="2560320"/>
            <a:ext cx="2651760" cy="457200"/>
          </a:xfrm>
          <a:prstGeom prst="rect">
            <a:avLst/>
          </a:prstGeom>
          <a:noFill/>
          <a:ln/>
        </p:spPr>
        <p:txBody>
          <a:bodyPr wrap="square" lIns="0" tIns="0" rIns="0" bIns="0" rtlCol="0" anchor="t"/>
          <a:lstStyle/>
          <a:p>
            <a:pPr indent="0" marL="0">
              <a:buNone/>
            </a:pPr>
            <a:r>
              <a:rPr lang="en-US" sz="1700" b="1" dirty="0">
                <a:solidFill>
                  <a:srgbClr val="1E2126"/>
                </a:solidFill>
                <a:latin typeface="Meiryo" pitchFamily="34" charset="0"/>
                <a:ea typeface="Meiryo" pitchFamily="34" charset="-122"/>
                <a:cs typeface="Meiryo" pitchFamily="34" charset="-120"/>
              </a:rPr>
              <a:t>同時に記録する</a:t>
            </a:r>
            <a:endParaRPr lang="en-US" sz="1700" dirty="0"/>
          </a:p>
        </p:txBody>
      </p:sp>
      <p:sp>
        <p:nvSpPr>
          <p:cNvPr id="22" name="Text 20"/>
          <p:cNvSpPr txBox="1"/>
          <p:nvPr/>
        </p:nvSpPr>
        <p:spPr>
          <a:xfrm>
            <a:off x="777240" y="3154680"/>
            <a:ext cx="3108960" cy="1097280"/>
          </a:xfrm>
          <a:prstGeom prst="rect">
            <a:avLst/>
          </a:prstGeom>
          <a:noFill/>
          <a:ln/>
        </p:spPr>
        <p:txBody>
          <a:bodyPr wrap="square" lIns="0" tIns="0" rIns="0" bIns="0" rtlCol="0" anchor="t"/>
          <a:lstStyle/>
          <a:p>
            <a:pPr indent="0" marL="0">
              <a:buNone/>
            </a:pPr>
            <a:r>
              <a:rPr lang="en-US" sz="1300" dirty="0">
                <a:solidFill>
                  <a:srgbClr val="5A6470"/>
                </a:solidFill>
                <a:latin typeface="Meiryo" pitchFamily="34" charset="0"/>
                <a:ea typeface="Meiryo" pitchFamily="34" charset="-122"/>
                <a:cs typeface="Meiryo" pitchFamily="34" charset="-120"/>
              </a:rPr>
              <a:t>本数・合図・カウントを同じ時間に記録し、どこで増えるかを分ける</a:t>
            </a:r>
            <a:endParaRPr lang="en-US" sz="1300" dirty="0"/>
          </a:p>
        </p:txBody>
      </p:sp>
      <p:sp>
        <p:nvSpPr>
          <p:cNvPr id="23" name="Shape 21"/>
          <p:cNvSpPr/>
          <p:nvPr/>
        </p:nvSpPr>
        <p:spPr>
          <a:xfrm>
            <a:off x="4315968" y="2377440"/>
            <a:ext cx="3566160" cy="201168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4" name="Text 22"/>
          <p:cNvSpPr txBox="1"/>
          <p:nvPr/>
        </p:nvSpPr>
        <p:spPr>
          <a:xfrm>
            <a:off x="4544568" y="2487168"/>
            <a:ext cx="548640" cy="548640"/>
          </a:xfrm>
          <a:prstGeom prst="rect">
            <a:avLst/>
          </a:prstGeom>
          <a:noFill/>
          <a:ln/>
        </p:spPr>
        <p:txBody>
          <a:bodyPr wrap="square" lIns="0" tIns="0" rIns="0" bIns="0" rtlCol="0" anchor="t"/>
          <a:lstStyle/>
          <a:p>
            <a:pPr indent="0" marL="0">
              <a:buNone/>
            </a:pPr>
            <a:r>
              <a:rPr lang="en-US" sz="2800" b="1" dirty="0">
                <a:solidFill>
                  <a:srgbClr val="E60012"/>
                </a:solidFill>
                <a:latin typeface="Meiryo" pitchFamily="34" charset="0"/>
                <a:ea typeface="Meiryo" pitchFamily="34" charset="-122"/>
                <a:cs typeface="Meiryo" pitchFamily="34" charset="-120"/>
              </a:rPr>
              <a:t>2</a:t>
            </a:r>
            <a:endParaRPr lang="en-US" sz="2800" dirty="0"/>
          </a:p>
        </p:txBody>
      </p:sp>
      <p:sp>
        <p:nvSpPr>
          <p:cNvPr id="25" name="Text 23"/>
          <p:cNvSpPr txBox="1"/>
          <p:nvPr/>
        </p:nvSpPr>
        <p:spPr>
          <a:xfrm>
            <a:off x="5093208" y="2560320"/>
            <a:ext cx="2651760" cy="457200"/>
          </a:xfrm>
          <a:prstGeom prst="rect">
            <a:avLst/>
          </a:prstGeom>
          <a:noFill/>
          <a:ln/>
        </p:spPr>
        <p:txBody>
          <a:bodyPr wrap="square" lIns="0" tIns="0" rIns="0" bIns="0" rtlCol="0" anchor="t"/>
          <a:lstStyle/>
          <a:p>
            <a:pPr indent="0" marL="0">
              <a:buNone/>
            </a:pPr>
            <a:r>
              <a:rPr lang="en-US" sz="1700" b="1" dirty="0">
                <a:solidFill>
                  <a:srgbClr val="1E2126"/>
                </a:solidFill>
                <a:latin typeface="Meiryo" pitchFamily="34" charset="0"/>
                <a:ea typeface="Meiryo" pitchFamily="34" charset="-122"/>
                <a:cs typeface="Meiryo" pitchFamily="34" charset="-120"/>
              </a:rPr>
              <a:t>条件を1つずつ変える</a:t>
            </a:r>
            <a:endParaRPr lang="en-US" sz="1700" dirty="0"/>
          </a:p>
        </p:txBody>
      </p:sp>
      <p:sp>
        <p:nvSpPr>
          <p:cNvPr id="26" name="Text 24"/>
          <p:cNvSpPr txBox="1"/>
          <p:nvPr/>
        </p:nvSpPr>
        <p:spPr>
          <a:xfrm>
            <a:off x="4544568" y="3154680"/>
            <a:ext cx="3108960" cy="1097280"/>
          </a:xfrm>
          <a:prstGeom prst="rect">
            <a:avLst/>
          </a:prstGeom>
          <a:noFill/>
          <a:ln/>
        </p:spPr>
        <p:txBody>
          <a:bodyPr wrap="square" lIns="0" tIns="0" rIns="0" bIns="0" rtlCol="0" anchor="t"/>
          <a:lstStyle/>
          <a:p>
            <a:pPr indent="0" marL="0">
              <a:buNone/>
            </a:pPr>
            <a:r>
              <a:rPr lang="en-US" sz="1300" dirty="0">
                <a:solidFill>
                  <a:srgbClr val="5A6470"/>
                </a:solidFill>
                <a:latin typeface="Meiryo" pitchFamily="34" charset="0"/>
                <a:ea typeface="Meiryo" pitchFamily="34" charset="-122"/>
                <a:cs typeface="Meiryo" pitchFamily="34" charset="-120"/>
              </a:rPr>
              <a:t>揺れ・間隔・高さを1つずつ変えて比べる</a:t>
            </a:r>
            <a:endParaRPr lang="en-US" sz="1300" dirty="0"/>
          </a:p>
        </p:txBody>
      </p:sp>
      <p:sp>
        <p:nvSpPr>
          <p:cNvPr id="27" name="Shape 25"/>
          <p:cNvSpPr/>
          <p:nvPr/>
        </p:nvSpPr>
        <p:spPr>
          <a:xfrm>
            <a:off x="8083296" y="2377440"/>
            <a:ext cx="3566160" cy="201168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8" name="Text 26"/>
          <p:cNvSpPr txBox="1"/>
          <p:nvPr/>
        </p:nvSpPr>
        <p:spPr>
          <a:xfrm>
            <a:off x="8311896" y="2487168"/>
            <a:ext cx="548640" cy="548640"/>
          </a:xfrm>
          <a:prstGeom prst="rect">
            <a:avLst/>
          </a:prstGeom>
          <a:noFill/>
          <a:ln/>
        </p:spPr>
        <p:txBody>
          <a:bodyPr wrap="square" lIns="0" tIns="0" rIns="0" bIns="0" rtlCol="0" anchor="t"/>
          <a:lstStyle/>
          <a:p>
            <a:pPr indent="0" marL="0">
              <a:buNone/>
            </a:pPr>
            <a:r>
              <a:rPr lang="en-US" sz="2800" b="1" dirty="0">
                <a:solidFill>
                  <a:srgbClr val="E60012"/>
                </a:solidFill>
                <a:latin typeface="Meiryo" pitchFamily="34" charset="0"/>
                <a:ea typeface="Meiryo" pitchFamily="34" charset="-122"/>
                <a:cs typeface="Meiryo" pitchFamily="34" charset="-120"/>
              </a:rPr>
              <a:t>3</a:t>
            </a:r>
            <a:endParaRPr lang="en-US" sz="2800" dirty="0"/>
          </a:p>
        </p:txBody>
      </p:sp>
      <p:sp>
        <p:nvSpPr>
          <p:cNvPr id="29" name="Text 27"/>
          <p:cNvSpPr txBox="1"/>
          <p:nvPr/>
        </p:nvSpPr>
        <p:spPr>
          <a:xfrm>
            <a:off x="8860536" y="2560320"/>
            <a:ext cx="2651760" cy="457200"/>
          </a:xfrm>
          <a:prstGeom prst="rect">
            <a:avLst/>
          </a:prstGeom>
          <a:noFill/>
          <a:ln/>
        </p:spPr>
        <p:txBody>
          <a:bodyPr wrap="square" lIns="0" tIns="0" rIns="0" bIns="0" rtlCol="0" anchor="t"/>
          <a:lstStyle/>
          <a:p>
            <a:pPr indent="0" marL="0">
              <a:buNone/>
            </a:pPr>
            <a:r>
              <a:rPr lang="en-US" sz="1700" b="1" dirty="0">
                <a:solidFill>
                  <a:srgbClr val="1E2126"/>
                </a:solidFill>
                <a:latin typeface="Meiryo" pitchFamily="34" charset="0"/>
                <a:ea typeface="Meiryo" pitchFamily="34" charset="-122"/>
                <a:cs typeface="Meiryo" pitchFamily="34" charset="-120"/>
              </a:rPr>
              <a:t>正常なときと比べる</a:t>
            </a:r>
            <a:endParaRPr lang="en-US" sz="1700" dirty="0"/>
          </a:p>
        </p:txBody>
      </p:sp>
      <p:sp>
        <p:nvSpPr>
          <p:cNvPr id="30" name="Text 28"/>
          <p:cNvSpPr txBox="1"/>
          <p:nvPr/>
        </p:nvSpPr>
        <p:spPr>
          <a:xfrm>
            <a:off x="8311896" y="3154680"/>
            <a:ext cx="3108960" cy="1097280"/>
          </a:xfrm>
          <a:prstGeom prst="rect">
            <a:avLst/>
          </a:prstGeom>
          <a:noFill/>
          <a:ln/>
        </p:spPr>
        <p:txBody>
          <a:bodyPr wrap="square" lIns="0" tIns="0" rIns="0" bIns="0" rtlCol="0" anchor="t"/>
          <a:lstStyle/>
          <a:p>
            <a:pPr indent="0" marL="0">
              <a:buNone/>
            </a:pPr>
            <a:r>
              <a:rPr lang="en-US" sz="1300" dirty="0">
                <a:solidFill>
                  <a:srgbClr val="5A6470"/>
                </a:solidFill>
                <a:latin typeface="Meiryo" pitchFamily="34" charset="0"/>
                <a:ea typeface="Meiryo" pitchFamily="34" charset="-122"/>
                <a:cs typeface="Meiryo" pitchFamily="34" charset="-120"/>
              </a:rPr>
              <a:t>多い週と通常の週で、何が違うかを比べる</a:t>
            </a:r>
            <a:endParaRPr lang="en-US" sz="1300" dirty="0"/>
          </a:p>
        </p:txBody>
      </p:sp>
      <p:sp>
        <p:nvSpPr>
          <p:cNvPr id="31" name="Shape 29"/>
          <p:cNvSpPr/>
          <p:nvPr/>
        </p:nvSpPr>
        <p:spPr>
          <a:xfrm>
            <a:off x="548640" y="4709160"/>
            <a:ext cx="11094415" cy="960120"/>
          </a:xfrm>
          <a:prstGeom prst="rect">
            <a:avLst/>
          </a:prstGeom>
          <a:solidFill>
            <a:srgbClr val="141517"/>
          </a:solidFill>
          <a:ln/>
        </p:spPr>
      </p:sp>
      <p:sp>
        <p:nvSpPr>
          <p:cNvPr id="32" name="Text 30"/>
          <p:cNvSpPr txBox="1"/>
          <p:nvPr/>
        </p:nvSpPr>
        <p:spPr>
          <a:xfrm>
            <a:off x="548640" y="4709160"/>
            <a:ext cx="11094415"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決めつけないから、お客様が納得して判断できる</a:t>
            </a:r>
            <a:endParaRPr lang="en-US" sz="24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flipH="1">
            <a:off x="9052560" y="0"/>
            <a:ext cx="1463040" cy="6858000"/>
          </a:xfrm>
          <a:prstGeom prst="rtTriangle">
            <a:avLst/>
          </a:prstGeom>
          <a:solidFill>
            <a:srgbClr val="E60012"/>
          </a:solidFill>
          <a:ln/>
        </p:spPr>
      </p:sp>
      <p:sp>
        <p:nvSpPr>
          <p:cNvPr id="3" name="Shape 1"/>
          <p:cNvSpPr/>
          <p:nvPr/>
        </p:nvSpPr>
        <p:spPr>
          <a:xfrm>
            <a:off x="10515600" y="0"/>
            <a:ext cx="1676095" cy="6858000"/>
          </a:xfrm>
          <a:prstGeom prst="rect">
            <a:avLst/>
          </a:prstGeom>
          <a:solidFill>
            <a:srgbClr val="E60012"/>
          </a:solidFill>
          <a:ln/>
        </p:spPr>
      </p:sp>
      <p:sp>
        <p:nvSpPr>
          <p:cNvPr id="4" name="Text 2"/>
          <p:cNvSpPr txBox="1"/>
          <p:nvPr/>
        </p:nvSpPr>
        <p:spPr>
          <a:xfrm>
            <a:off x="548640" y="1920240"/>
            <a:ext cx="7315200"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PHASE 4 / 6　｜　30〜40分</a:t>
            </a:r>
            <a:endParaRPr lang="en-US" sz="1400" dirty="0"/>
          </a:p>
        </p:txBody>
      </p:sp>
      <p:sp>
        <p:nvSpPr>
          <p:cNvPr id="5" name="Text 3"/>
          <p:cNvSpPr txBox="1"/>
          <p:nvPr/>
        </p:nvSpPr>
        <p:spPr>
          <a:xfrm>
            <a:off x="548640" y="2377440"/>
            <a:ext cx="8229600" cy="1005840"/>
          </a:xfrm>
          <a:prstGeom prst="rect">
            <a:avLst/>
          </a:prstGeom>
          <a:noFill/>
          <a:ln/>
        </p:spPr>
        <p:txBody>
          <a:bodyPr wrap="square" lIns="0" tIns="0" rIns="0" bIns="0" rtlCol="0" anchor="t"/>
          <a:lstStyle/>
          <a:p>
            <a:pPr indent="0" marL="0">
              <a:buNone/>
            </a:pPr>
            <a:r>
              <a:rPr lang="en-US" sz="6000" b="1" dirty="0">
                <a:solidFill>
                  <a:srgbClr val="E60012"/>
                </a:solidFill>
                <a:latin typeface="Arial Black" pitchFamily="34" charset="0"/>
                <a:ea typeface="Arial Black" pitchFamily="34" charset="-122"/>
                <a:cs typeface="Arial Black" pitchFamily="34" charset="-120"/>
              </a:rPr>
              <a:t>DISCOVERY</a:t>
            </a:r>
            <a:endParaRPr lang="en-US" sz="6000" dirty="0"/>
          </a:p>
        </p:txBody>
      </p:sp>
      <p:sp>
        <p:nvSpPr>
          <p:cNvPr id="6" name="Text 4"/>
          <p:cNvSpPr txBox="1"/>
          <p:nvPr/>
        </p:nvSpPr>
        <p:spPr>
          <a:xfrm>
            <a:off x="548640" y="3429000"/>
            <a:ext cx="8229600" cy="640080"/>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発見する</a:t>
            </a:r>
            <a:endParaRPr lang="en-US" sz="3000" dirty="0"/>
          </a:p>
        </p:txBody>
      </p:sp>
      <p:sp>
        <p:nvSpPr>
          <p:cNvPr id="7" name="Text 5"/>
          <p:cNvSpPr txBox="1"/>
          <p:nvPr/>
        </p:nvSpPr>
        <p:spPr>
          <a:xfrm>
            <a:off x="548640" y="4160520"/>
            <a:ext cx="8229600" cy="457200"/>
          </a:xfrm>
          <a:prstGeom prst="rect">
            <a:avLst/>
          </a:prstGeom>
          <a:noFill/>
          <a:ln/>
        </p:spPr>
        <p:txBody>
          <a:bodyPr wrap="square" lIns="0" tIns="0" rIns="0" bIns="0" rtlCol="0" anchor="t"/>
          <a:lstStyle/>
          <a:p>
            <a:pPr indent="0" marL="0">
              <a:buNone/>
            </a:pPr>
            <a:r>
              <a:rPr lang="en-US" sz="1700" dirty="0">
                <a:solidFill>
                  <a:srgbClr val="C9CED4"/>
                </a:solidFill>
                <a:latin typeface="Meiryo" pitchFamily="34" charset="0"/>
                <a:ea typeface="Meiryo" pitchFamily="34" charset="-122"/>
                <a:cs typeface="Meiryo" pitchFamily="34" charset="-120"/>
              </a:rPr>
              <a:t>お客様が本当に実現したいことを見つける</a:t>
            </a:r>
            <a:endParaRPr lang="en-US" sz="17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発見する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お客様の、この一言</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IMAGE_PLACEHOLDER_06"/>
          <p:cNvSpPr/>
          <p:nvPr/>
        </p:nvSpPr>
        <p:spPr>
          <a:xfrm>
            <a:off x="548640" y="1280160"/>
            <a:ext cx="3017520" cy="3108960"/>
          </a:xfrm>
          <a:prstGeom prst="rect">
            <a:avLst/>
          </a:prstGeom>
          <a:solidFill>
            <a:srgbClr val="1B1D20"/>
          </a:solidFill>
          <a:ln w="15875">
            <a:solidFill>
              <a:srgbClr val="5A5D63"/>
            </a:solidFill>
            <a:prstDash val="dash"/>
          </a:ln>
        </p:spPr>
      </p:sp>
      <p:sp>
        <p:nvSpPr>
          <p:cNvPr id="12" name="Text 10"/>
          <p:cNvSpPr txBox="1"/>
          <p:nvPr/>
        </p:nvSpPr>
        <p:spPr>
          <a:xfrm>
            <a:off x="685800" y="1371600"/>
            <a:ext cx="2743200" cy="2926080"/>
          </a:xfrm>
          <a:prstGeom prst="rect">
            <a:avLst/>
          </a:prstGeom>
          <a:noFill/>
          <a:ln/>
        </p:spPr>
        <p:txBody>
          <a:bodyPr wrap="square" lIns="0" tIns="0" rIns="0" bIns="0" rtlCol="0" anchor="ctr"/>
          <a:lstStyle/>
          <a:p>
            <a:pPr algn="ctr" indent="0" marL="0">
              <a:spcAft>
                <a:spcPts val="300"/>
              </a:spcAft>
              <a:buNone/>
            </a:pPr>
            <a:r>
              <a:rPr lang="en-US" sz="1100" b="1" dirty="0">
                <a:solidFill>
                  <a:srgbClr val="E60012"/>
                </a:solidFill>
                <a:latin typeface="Meiryo" pitchFamily="34" charset="0"/>
                <a:ea typeface="Meiryo" pitchFamily="34" charset="-122"/>
                <a:cs typeface="Meiryo" pitchFamily="34" charset="-120"/>
              </a:rPr>
              <a:t>【IMAGE_PLACEHOLDER_06】</a:t>
            </a:r>
            <a:endParaRPr lang="en-US" sz="1100" dirty="0"/>
          </a:p>
          <a:p>
            <a:pPr algn="ctr" indent="0" marL="0">
              <a:spcAft>
                <a:spcPts val="300"/>
              </a:spcAft>
              <a:buNone/>
            </a:pPr>
            <a:r>
              <a:rPr lang="en-US" sz="950" dirty="0">
                <a:solidFill>
                  <a:srgbClr val="FFFFFF"/>
                </a:solidFill>
                <a:latin typeface="Meiryo" pitchFamily="34" charset="0"/>
                <a:ea typeface="Meiryo" pitchFamily="34" charset="-122"/>
                <a:cs typeface="Meiryo" pitchFamily="34" charset="-120"/>
              </a:rPr>
              <a:t>用途：お客様（佐藤さん・高橋さん）の人物</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目的：「何とか対応できている」と話すお客様の表情を見せる</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状態：後日指定画像に差し替え</a:t>
            </a:r>
            <a:endParaRPr lang="en-US" sz="1100" dirty="0"/>
          </a:p>
        </p:txBody>
      </p:sp>
      <p:sp>
        <p:nvSpPr>
          <p:cNvPr id="13" name="Shape 11"/>
          <p:cNvSpPr/>
          <p:nvPr/>
        </p:nvSpPr>
        <p:spPr>
          <a:xfrm>
            <a:off x="3886200" y="1280160"/>
            <a:ext cx="658368" cy="237744"/>
          </a:xfrm>
          <a:prstGeom prst="rect">
            <a:avLst/>
          </a:prstGeom>
          <a:solidFill>
            <a:srgbClr val="E60012"/>
          </a:solidFill>
          <a:ln/>
        </p:spPr>
      </p:sp>
      <p:sp>
        <p:nvSpPr>
          <p:cNvPr id="14" name="Text 12"/>
          <p:cNvSpPr txBox="1"/>
          <p:nvPr/>
        </p:nvSpPr>
        <p:spPr>
          <a:xfrm>
            <a:off x="3886200" y="1280160"/>
            <a:ext cx="6583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お客様</a:t>
            </a:r>
            <a:endParaRPr lang="en-US" sz="850" dirty="0"/>
          </a:p>
        </p:txBody>
      </p:sp>
      <p:sp>
        <p:nvSpPr>
          <p:cNvPr id="15" name="Text 13"/>
          <p:cNvSpPr txBox="1"/>
          <p:nvPr/>
        </p:nvSpPr>
        <p:spPr>
          <a:xfrm>
            <a:off x="4754880" y="1280160"/>
            <a:ext cx="6812280" cy="237744"/>
          </a:xfrm>
          <a:prstGeom prst="rect">
            <a:avLst/>
          </a:prstGeom>
          <a:noFill/>
          <a:ln/>
        </p:spPr>
        <p:txBody>
          <a:bodyPr wrap="square" lIns="0" tIns="0" rIns="0" bIns="0" rtlCol="0" anchor="ctr"/>
          <a:lstStyle/>
          <a:p>
            <a:pPr indent="0" marL="0">
              <a:buNone/>
            </a:pPr>
            <a:r>
              <a:rPr lang="en-US" sz="900" dirty="0">
                <a:solidFill>
                  <a:srgbClr val="8A939D"/>
                </a:solidFill>
                <a:latin typeface="Meiryo" pitchFamily="34" charset="0"/>
                <a:ea typeface="Meiryo" pitchFamily="34" charset="-122"/>
                <a:cs typeface="Meiryo" pitchFamily="34" charset="-120"/>
              </a:rPr>
              <a:t>飲料工場 設備課</a:t>
            </a:r>
            <a:endParaRPr lang="en-US" sz="900" dirty="0"/>
          </a:p>
        </p:txBody>
      </p:sp>
      <p:sp>
        <p:nvSpPr>
          <p:cNvPr id="16" name="Text 14"/>
          <p:cNvSpPr txBox="1"/>
          <p:nvPr/>
        </p:nvSpPr>
        <p:spPr>
          <a:xfrm>
            <a:off x="3886200" y="1572768"/>
            <a:ext cx="7726680" cy="329184"/>
          </a:xfrm>
          <a:prstGeom prst="rect">
            <a:avLst/>
          </a:prstGeom>
          <a:noFill/>
          <a:ln/>
        </p:spPr>
        <p:txBody>
          <a:bodyPr wrap="square" lIns="0" tIns="0" rIns="0" bIns="0" rtlCol="0" anchor="t"/>
          <a:lstStyle/>
          <a:p>
            <a:pPr indent="0" marL="0">
              <a:buNone/>
            </a:pPr>
            <a:r>
              <a:rPr lang="en-US" sz="1500" b="1" dirty="0">
                <a:solidFill>
                  <a:srgbClr val="FFFFFF"/>
                </a:solidFill>
                <a:latin typeface="Meiryo" pitchFamily="34" charset="0"/>
                <a:ea typeface="Meiryo" pitchFamily="34" charset="-122"/>
                <a:cs typeface="Meiryo" pitchFamily="34" charset="-120"/>
              </a:rPr>
              <a:t>佐藤さん</a:t>
            </a:r>
            <a:endParaRPr lang="en-US" sz="1500" dirty="0"/>
          </a:p>
        </p:txBody>
      </p:sp>
      <p:sp>
        <p:nvSpPr>
          <p:cNvPr id="17" name="Text 15"/>
          <p:cNvSpPr txBox="1"/>
          <p:nvPr/>
        </p:nvSpPr>
        <p:spPr>
          <a:xfrm>
            <a:off x="3886200" y="1938528"/>
            <a:ext cx="7726680" cy="868680"/>
          </a:xfrm>
          <a:prstGeom prst="rect">
            <a:avLst/>
          </a:prstGeom>
          <a:noFill/>
          <a:ln/>
        </p:spPr>
        <p:txBody>
          <a:bodyPr wrap="square" lIns="0" tIns="0" rIns="0" bIns="0" rtlCol="0" anchor="t"/>
          <a:lstStyle/>
          <a:p>
            <a:pPr indent="0" marL="0">
              <a:buNone/>
            </a:pPr>
            <a:r>
              <a:rPr lang="en-US" sz="1900" b="1" dirty="0">
                <a:solidFill>
                  <a:srgbClr val="FFFFFF"/>
                </a:solidFill>
                <a:latin typeface="Meiryo" pitchFamily="34" charset="0"/>
                <a:ea typeface="Meiryo" pitchFamily="34" charset="-122"/>
                <a:cs typeface="Meiryo" pitchFamily="34" charset="-120"/>
              </a:rPr>
              <a:t>多少数字が違っても、何とか対応できてはいるんですが…。</a:t>
            </a:r>
            <a:endParaRPr lang="en-US" sz="1900" dirty="0"/>
          </a:p>
        </p:txBody>
      </p:sp>
      <p:sp>
        <p:nvSpPr>
          <p:cNvPr id="18" name="Shape 16"/>
          <p:cNvSpPr/>
          <p:nvPr/>
        </p:nvSpPr>
        <p:spPr>
          <a:xfrm>
            <a:off x="3886200" y="2880360"/>
            <a:ext cx="658368" cy="237744"/>
          </a:xfrm>
          <a:prstGeom prst="rect">
            <a:avLst/>
          </a:prstGeom>
          <a:solidFill>
            <a:srgbClr val="E60012"/>
          </a:solidFill>
          <a:ln/>
        </p:spPr>
      </p:sp>
      <p:sp>
        <p:nvSpPr>
          <p:cNvPr id="19" name="Text 17"/>
          <p:cNvSpPr txBox="1"/>
          <p:nvPr/>
        </p:nvSpPr>
        <p:spPr>
          <a:xfrm>
            <a:off x="3886200" y="2880360"/>
            <a:ext cx="6583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お客様</a:t>
            </a:r>
            <a:endParaRPr lang="en-US" sz="850" dirty="0"/>
          </a:p>
        </p:txBody>
      </p:sp>
      <p:sp>
        <p:nvSpPr>
          <p:cNvPr id="20" name="Text 18"/>
          <p:cNvSpPr txBox="1"/>
          <p:nvPr/>
        </p:nvSpPr>
        <p:spPr>
          <a:xfrm>
            <a:off x="4754880" y="2880360"/>
            <a:ext cx="6812280" cy="237744"/>
          </a:xfrm>
          <a:prstGeom prst="rect">
            <a:avLst/>
          </a:prstGeom>
          <a:noFill/>
          <a:ln/>
        </p:spPr>
        <p:txBody>
          <a:bodyPr wrap="square" lIns="0" tIns="0" rIns="0" bIns="0" rtlCol="0" anchor="ctr"/>
          <a:lstStyle/>
          <a:p>
            <a:pPr indent="0" marL="0">
              <a:buNone/>
            </a:pPr>
            <a:r>
              <a:rPr lang="en-US" sz="900" dirty="0">
                <a:solidFill>
                  <a:srgbClr val="8A939D"/>
                </a:solidFill>
                <a:latin typeface="Meiryo" pitchFamily="34" charset="0"/>
                <a:ea typeface="Meiryo" pitchFamily="34" charset="-122"/>
                <a:cs typeface="Meiryo" pitchFamily="34" charset="-120"/>
              </a:rPr>
              <a:t>飲料工場 品質管理</a:t>
            </a:r>
            <a:endParaRPr lang="en-US" sz="900" dirty="0"/>
          </a:p>
        </p:txBody>
      </p:sp>
      <p:sp>
        <p:nvSpPr>
          <p:cNvPr id="21" name="Text 19"/>
          <p:cNvSpPr txBox="1"/>
          <p:nvPr/>
        </p:nvSpPr>
        <p:spPr>
          <a:xfrm>
            <a:off x="3886200" y="3172968"/>
            <a:ext cx="7726680" cy="329184"/>
          </a:xfrm>
          <a:prstGeom prst="rect">
            <a:avLst/>
          </a:prstGeom>
          <a:noFill/>
          <a:ln/>
        </p:spPr>
        <p:txBody>
          <a:bodyPr wrap="square" lIns="0" tIns="0" rIns="0" bIns="0" rtlCol="0" anchor="t"/>
          <a:lstStyle/>
          <a:p>
            <a:pPr indent="0" marL="0">
              <a:buNone/>
            </a:pPr>
            <a:r>
              <a:rPr lang="en-US" sz="1500" b="1" dirty="0">
                <a:solidFill>
                  <a:srgbClr val="FFFFFF"/>
                </a:solidFill>
                <a:latin typeface="Meiryo" pitchFamily="34" charset="0"/>
                <a:ea typeface="Meiryo" pitchFamily="34" charset="-122"/>
                <a:cs typeface="Meiryo" pitchFamily="34" charset="-120"/>
              </a:rPr>
              <a:t>高橋さん</a:t>
            </a:r>
            <a:endParaRPr lang="en-US" sz="1500" dirty="0"/>
          </a:p>
        </p:txBody>
      </p:sp>
      <p:sp>
        <p:nvSpPr>
          <p:cNvPr id="22" name="Text 20"/>
          <p:cNvSpPr txBox="1"/>
          <p:nvPr/>
        </p:nvSpPr>
        <p:spPr>
          <a:xfrm>
            <a:off x="3886200" y="3538728"/>
            <a:ext cx="7726680" cy="868680"/>
          </a:xfrm>
          <a:prstGeom prst="rect">
            <a:avLst/>
          </a:prstGeom>
          <a:noFill/>
          <a:ln/>
        </p:spPr>
        <p:txBody>
          <a:bodyPr wrap="square" lIns="0" tIns="0" rIns="0" bIns="0" rtlCol="0" anchor="t"/>
          <a:lstStyle/>
          <a:p>
            <a:pPr indent="0" marL="0">
              <a:buNone/>
            </a:pPr>
            <a:r>
              <a:rPr lang="en-US" sz="1900" b="1" dirty="0">
                <a:solidFill>
                  <a:srgbClr val="FFFFFF"/>
                </a:solidFill>
                <a:latin typeface="Meiryo" pitchFamily="34" charset="0"/>
                <a:ea typeface="Meiryo" pitchFamily="34" charset="-122"/>
                <a:cs typeface="Meiryo" pitchFamily="34" charset="-120"/>
              </a:rPr>
              <a:t>数量の照合は、私たち品質管理が担当しています。</a:t>
            </a:r>
            <a:endParaRPr lang="en-US" sz="1900" dirty="0"/>
          </a:p>
        </p:txBody>
      </p:sp>
      <p:sp>
        <p:nvSpPr>
          <p:cNvPr id="23" name="Shape 21"/>
          <p:cNvSpPr/>
          <p:nvPr/>
        </p:nvSpPr>
        <p:spPr>
          <a:xfrm>
            <a:off x="548640" y="4663440"/>
            <a:ext cx="11094415" cy="1188720"/>
          </a:xfrm>
          <a:prstGeom prst="rect">
            <a:avLst/>
          </a:prstGeom>
          <a:solidFill>
            <a:srgbClr val="2A2D33"/>
          </a:solidFill>
          <a:ln/>
        </p:spPr>
      </p:sp>
      <p:sp>
        <p:nvSpPr>
          <p:cNvPr id="24" name="Text 22"/>
          <p:cNvSpPr txBox="1"/>
          <p:nvPr/>
        </p:nvSpPr>
        <p:spPr>
          <a:xfrm>
            <a:off x="822960" y="4754880"/>
            <a:ext cx="2743200" cy="228600"/>
          </a:xfrm>
          <a:prstGeom prst="rect">
            <a:avLst/>
          </a:prstGeom>
          <a:noFill/>
          <a:ln/>
        </p:spPr>
        <p:txBody>
          <a:bodyPr wrap="square" lIns="0" tIns="0" rIns="0" bIns="0" rtlCol="0" anchor="t"/>
          <a:lstStyle/>
          <a:p>
            <a:pPr indent="0" marL="0">
              <a:buNone/>
            </a:pPr>
            <a:r>
              <a:rPr lang="en-US" sz="950" b="1" spc="200" kern="0" dirty="0">
                <a:solidFill>
                  <a:srgbClr val="E60012"/>
                </a:solidFill>
                <a:latin typeface="Meiryo" pitchFamily="34" charset="0"/>
                <a:ea typeface="Meiryo" pitchFamily="34" charset="-122"/>
                <a:cs typeface="Meiryo" pitchFamily="34" charset="-120"/>
              </a:rPr>
              <a:t>QUESTION</a:t>
            </a:r>
            <a:endParaRPr lang="en-US" sz="950" dirty="0"/>
          </a:p>
        </p:txBody>
      </p:sp>
      <p:sp>
        <p:nvSpPr>
          <p:cNvPr id="25" name="Text 23"/>
          <p:cNvSpPr txBox="1"/>
          <p:nvPr/>
        </p:nvSpPr>
        <p:spPr>
          <a:xfrm>
            <a:off x="822960" y="5010912"/>
            <a:ext cx="8961120" cy="73152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この言葉の裏に、何がありそうですか？　次に、何を聞きますか？</a:t>
            </a:r>
            <a:endParaRPr lang="en-US" sz="1900" dirty="0"/>
          </a:p>
        </p:txBody>
      </p:sp>
      <p:sp>
        <p:nvSpPr>
          <p:cNvPr id="26" name="Shape 24"/>
          <p:cNvSpPr/>
          <p:nvPr/>
        </p:nvSpPr>
        <p:spPr>
          <a:xfrm>
            <a:off x="10408615" y="4681728"/>
            <a:ext cx="868680" cy="868680"/>
          </a:xfrm>
          <a:prstGeom prst="ellipse">
            <a:avLst/>
          </a:prstGeom>
          <a:solidFill>
            <a:srgbClr val="E60012"/>
          </a:solidFill>
          <a:ln/>
        </p:spPr>
      </p:sp>
      <p:sp>
        <p:nvSpPr>
          <p:cNvPr id="27" name="Text 25"/>
          <p:cNvSpPr txBox="1"/>
          <p:nvPr/>
        </p:nvSpPr>
        <p:spPr>
          <a:xfrm>
            <a:off x="10408615" y="4773168"/>
            <a:ext cx="86868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30</a:t>
            </a:r>
            <a:endParaRPr lang="en-US" sz="2400" dirty="0"/>
          </a:p>
          <a:p>
            <a:pPr algn="ctr" indent="0" marL="0">
              <a:buNone/>
            </a:pPr>
            <a:r>
              <a:rPr lang="en-US" sz="1000" dirty="0">
                <a:solidFill>
                  <a:srgbClr val="FFFFFF"/>
                </a:solidFill>
                <a:latin typeface="Meiryo" pitchFamily="34" charset="0"/>
                <a:ea typeface="Meiryo" pitchFamily="34" charset="-122"/>
                <a:cs typeface="Meiryo" pitchFamily="34" charset="-120"/>
              </a:rPr>
              <a:t>秒</a:t>
            </a:r>
            <a:endParaRPr lang="en-US" sz="2400" dirty="0"/>
          </a:p>
        </p:txBody>
      </p:sp>
      <p:sp>
        <p:nvSpPr>
          <p:cNvPr id="28" name="Text 26"/>
          <p:cNvSpPr txBox="1"/>
          <p:nvPr/>
        </p:nvSpPr>
        <p:spPr>
          <a:xfrm>
            <a:off x="10134295" y="5596128"/>
            <a:ext cx="1417320" cy="228600"/>
          </a:xfrm>
          <a:prstGeom prst="rect">
            <a:avLst/>
          </a:prstGeom>
          <a:noFill/>
          <a:ln/>
        </p:spPr>
        <p:txBody>
          <a:bodyPr wrap="square" lIns="0" tIns="0" rIns="0" bIns="0" rtlCol="0" anchor="t"/>
          <a:lstStyle/>
          <a:p>
            <a:pPr algn="ctr" indent="0" marL="0">
              <a:buNone/>
            </a:pPr>
            <a:r>
              <a:rPr lang="en-US" sz="900" dirty="0">
                <a:solidFill>
                  <a:srgbClr val="8A939D"/>
                </a:solidFill>
                <a:latin typeface="Meiryo" pitchFamily="34" charset="0"/>
                <a:ea typeface="Meiryo" pitchFamily="34" charset="-122"/>
                <a:cs typeface="Meiryo" pitchFamily="34" charset="-120"/>
              </a:rPr>
              <a:t>考える時間</a:t>
            </a:r>
            <a:endParaRPr lang="en-US" sz="9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発見する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聞いてみると</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280160"/>
            <a:ext cx="6949440" cy="443484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2" name="Shape 10"/>
          <p:cNvSpPr/>
          <p:nvPr/>
        </p:nvSpPr>
        <p:spPr>
          <a:xfrm>
            <a:off x="822960" y="1417320"/>
            <a:ext cx="837590" cy="237744"/>
          </a:xfrm>
          <a:prstGeom prst="rect">
            <a:avLst/>
          </a:prstGeom>
          <a:solidFill>
            <a:srgbClr val="141517"/>
          </a:solidFill>
          <a:ln/>
        </p:spPr>
      </p:sp>
      <p:sp>
        <p:nvSpPr>
          <p:cNvPr id="13" name="Text 11"/>
          <p:cNvSpPr txBox="1"/>
          <p:nvPr/>
        </p:nvSpPr>
        <p:spPr>
          <a:xfrm>
            <a:off x="822960" y="1417320"/>
            <a:ext cx="83759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OPTEX-FA</a:t>
            </a:r>
            <a:endParaRPr lang="en-US" sz="850" dirty="0"/>
          </a:p>
        </p:txBody>
      </p:sp>
      <p:sp>
        <p:nvSpPr>
          <p:cNvPr id="14" name="Text 12"/>
          <p:cNvSpPr txBox="1"/>
          <p:nvPr/>
        </p:nvSpPr>
        <p:spPr>
          <a:xfrm>
            <a:off x="1691640" y="1417320"/>
            <a:ext cx="5486400" cy="237744"/>
          </a:xfrm>
          <a:prstGeom prst="rect">
            <a:avLst/>
          </a:prstGeom>
          <a:noFill/>
          <a:ln/>
        </p:spPr>
        <p:txBody>
          <a:bodyPr wrap="square" lIns="0" tIns="0" rIns="0" bIns="0" rtlCol="0" anchor="ctr"/>
          <a:lstStyle/>
          <a:p>
            <a:pPr indent="0" marL="0">
              <a:buNone/>
            </a:pPr>
            <a:r>
              <a:rPr lang="en-US" sz="900" dirty="0">
                <a:solidFill>
                  <a:srgbClr val="5A6470"/>
                </a:solidFill>
                <a:latin typeface="Meiryo" pitchFamily="34" charset="0"/>
                <a:ea typeface="Meiryo" pitchFamily="34" charset="-122"/>
                <a:cs typeface="Meiryo" pitchFamily="34" charset="-120"/>
              </a:rPr>
              <a:t>営業担当</a:t>
            </a:r>
            <a:endParaRPr lang="en-US" sz="900" dirty="0"/>
          </a:p>
        </p:txBody>
      </p:sp>
      <p:sp>
        <p:nvSpPr>
          <p:cNvPr id="15" name="Text 13"/>
          <p:cNvSpPr txBox="1"/>
          <p:nvPr/>
        </p:nvSpPr>
        <p:spPr>
          <a:xfrm>
            <a:off x="822960" y="1709928"/>
            <a:ext cx="6400800" cy="329184"/>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あなた</a:t>
            </a:r>
            <a:endParaRPr lang="en-US" sz="1500" dirty="0"/>
          </a:p>
        </p:txBody>
      </p:sp>
      <p:sp>
        <p:nvSpPr>
          <p:cNvPr id="16" name="Text 14"/>
          <p:cNvSpPr txBox="1"/>
          <p:nvPr/>
        </p:nvSpPr>
        <p:spPr>
          <a:xfrm>
            <a:off x="822960" y="2075688"/>
            <a:ext cx="6400800" cy="868680"/>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数が合わないとき、確認にどれくらい手間がかかっていますか？</a:t>
            </a:r>
            <a:endParaRPr lang="en-US" sz="1500" dirty="0"/>
          </a:p>
        </p:txBody>
      </p:sp>
      <p:sp>
        <p:nvSpPr>
          <p:cNvPr id="17" name="Shape 15"/>
          <p:cNvSpPr/>
          <p:nvPr/>
        </p:nvSpPr>
        <p:spPr>
          <a:xfrm>
            <a:off x="822960" y="2926080"/>
            <a:ext cx="6400800" cy="0"/>
          </a:xfrm>
          <a:prstGeom prst="line">
            <a:avLst/>
          </a:prstGeom>
          <a:noFill/>
          <a:ln w="12700">
            <a:solidFill>
              <a:srgbClr val="E6E8EB"/>
            </a:solidFill>
            <a:prstDash val="solid"/>
          </a:ln>
        </p:spPr>
      </p:sp>
      <p:sp>
        <p:nvSpPr>
          <p:cNvPr id="18" name="Shape 16"/>
          <p:cNvSpPr/>
          <p:nvPr/>
        </p:nvSpPr>
        <p:spPr>
          <a:xfrm>
            <a:off x="822960" y="3108960"/>
            <a:ext cx="658368" cy="237744"/>
          </a:xfrm>
          <a:prstGeom prst="rect">
            <a:avLst/>
          </a:prstGeom>
          <a:solidFill>
            <a:srgbClr val="E60012"/>
          </a:solidFill>
          <a:ln/>
        </p:spPr>
      </p:sp>
      <p:sp>
        <p:nvSpPr>
          <p:cNvPr id="19" name="Text 17"/>
          <p:cNvSpPr txBox="1"/>
          <p:nvPr/>
        </p:nvSpPr>
        <p:spPr>
          <a:xfrm>
            <a:off x="822960" y="3108960"/>
            <a:ext cx="6583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お客様</a:t>
            </a:r>
            <a:endParaRPr lang="en-US" sz="850" dirty="0"/>
          </a:p>
        </p:txBody>
      </p:sp>
      <p:sp>
        <p:nvSpPr>
          <p:cNvPr id="20" name="Text 18"/>
          <p:cNvSpPr txBox="1"/>
          <p:nvPr/>
        </p:nvSpPr>
        <p:spPr>
          <a:xfrm>
            <a:off x="1691640" y="3108960"/>
            <a:ext cx="5486400" cy="237744"/>
          </a:xfrm>
          <a:prstGeom prst="rect">
            <a:avLst/>
          </a:prstGeom>
          <a:noFill/>
          <a:ln/>
        </p:spPr>
        <p:txBody>
          <a:bodyPr wrap="square" lIns="0" tIns="0" rIns="0" bIns="0" rtlCol="0" anchor="ctr"/>
          <a:lstStyle/>
          <a:p>
            <a:pPr indent="0" marL="0">
              <a:buNone/>
            </a:pPr>
            <a:r>
              <a:rPr lang="en-US" sz="900" dirty="0">
                <a:solidFill>
                  <a:srgbClr val="5A6470"/>
                </a:solidFill>
                <a:latin typeface="Meiryo" pitchFamily="34" charset="0"/>
                <a:ea typeface="Meiryo" pitchFamily="34" charset="-122"/>
                <a:cs typeface="Meiryo" pitchFamily="34" charset="-120"/>
              </a:rPr>
              <a:t>飲料工場 品質管理</a:t>
            </a:r>
            <a:endParaRPr lang="en-US" sz="900" dirty="0"/>
          </a:p>
        </p:txBody>
      </p:sp>
      <p:sp>
        <p:nvSpPr>
          <p:cNvPr id="21" name="Text 19"/>
          <p:cNvSpPr txBox="1"/>
          <p:nvPr/>
        </p:nvSpPr>
        <p:spPr>
          <a:xfrm>
            <a:off x="822960" y="3401568"/>
            <a:ext cx="6400800" cy="329184"/>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高橋さん</a:t>
            </a:r>
            <a:endParaRPr lang="en-US" sz="1500" dirty="0"/>
          </a:p>
        </p:txBody>
      </p:sp>
      <p:sp>
        <p:nvSpPr>
          <p:cNvPr id="22" name="Text 20"/>
          <p:cNvSpPr txBox="1"/>
          <p:nvPr/>
        </p:nvSpPr>
        <p:spPr>
          <a:xfrm>
            <a:off x="822960" y="3767328"/>
            <a:ext cx="6400800" cy="868680"/>
          </a:xfrm>
          <a:prstGeom prst="rect">
            <a:avLst/>
          </a:prstGeom>
          <a:noFill/>
          <a:ln/>
        </p:spPr>
        <p:txBody>
          <a:bodyPr wrap="square" lIns="0" tIns="0" rIns="0" bIns="0" rtlCol="0" anchor="t"/>
          <a:lstStyle/>
          <a:p>
            <a:pPr indent="0" marL="0">
              <a:buNone/>
            </a:pPr>
            <a:r>
              <a:rPr lang="en-US" sz="1800" b="1" dirty="0">
                <a:solidFill>
                  <a:srgbClr val="1E2126"/>
                </a:solidFill>
                <a:latin typeface="Meiryo" pitchFamily="34" charset="0"/>
                <a:ea typeface="Meiryo" pitchFamily="34" charset="-122"/>
                <a:cs typeface="Meiryo" pitchFamily="34" charset="-120"/>
              </a:rPr>
              <a:t>数が合わないと、確認し直さなければいけません。ときには、ラインを止めることもあります。</a:t>
            </a:r>
            <a:endParaRPr lang="en-US" sz="1800" dirty="0"/>
          </a:p>
        </p:txBody>
      </p:sp>
      <p:sp>
        <p:nvSpPr>
          <p:cNvPr id="23" name="Shape 21"/>
          <p:cNvSpPr/>
          <p:nvPr/>
        </p:nvSpPr>
        <p:spPr>
          <a:xfrm>
            <a:off x="822960" y="4800600"/>
            <a:ext cx="6400800" cy="685800"/>
          </a:xfrm>
          <a:prstGeom prst="rect">
            <a:avLst/>
          </a:prstGeom>
          <a:solidFill>
            <a:srgbClr val="FDECEE"/>
          </a:solidFill>
          <a:ln/>
        </p:spPr>
      </p:sp>
      <p:sp>
        <p:nvSpPr>
          <p:cNvPr id="24" name="Text 22"/>
          <p:cNvSpPr txBox="1"/>
          <p:nvPr/>
        </p:nvSpPr>
        <p:spPr>
          <a:xfrm>
            <a:off x="960120" y="4800600"/>
            <a:ext cx="6217920" cy="685800"/>
          </a:xfrm>
          <a:prstGeom prst="rect">
            <a:avLst/>
          </a:prstGeom>
          <a:noFill/>
          <a:ln/>
        </p:spPr>
        <p:txBody>
          <a:bodyPr wrap="square" lIns="0" tIns="0" rIns="0" bIns="0" rtlCol="0" anchor="ctr"/>
          <a:lstStyle/>
          <a:p>
            <a:pPr indent="0" marL="0">
              <a:buNone/>
            </a:pPr>
            <a:r>
              <a:rPr lang="en-US" sz="1350" b="1" dirty="0">
                <a:solidFill>
                  <a:srgbClr val="E60012"/>
                </a:solidFill>
                <a:latin typeface="Meiryo" pitchFamily="34" charset="0"/>
                <a:ea typeface="Meiryo" pitchFamily="34" charset="-122"/>
                <a:cs typeface="Meiryo" pitchFamily="34" charset="-120"/>
              </a:rPr>
              <a:t>「何とか対応できている」の裏に、確認のし直しとライン停止があった</a:t>
            </a:r>
            <a:endParaRPr lang="en-US" sz="1350" dirty="0"/>
          </a:p>
        </p:txBody>
      </p:sp>
      <p:sp>
        <p:nvSpPr>
          <p:cNvPr id="25" name="Text 23"/>
          <p:cNvSpPr txBox="1"/>
          <p:nvPr/>
        </p:nvSpPr>
        <p:spPr>
          <a:xfrm>
            <a:off x="7772400" y="1280160"/>
            <a:ext cx="3840480" cy="274320"/>
          </a:xfrm>
          <a:prstGeom prst="rect">
            <a:avLst/>
          </a:prstGeom>
          <a:noFill/>
          <a:ln/>
        </p:spPr>
        <p:txBody>
          <a:bodyPr wrap="square" lIns="0" tIns="0" rIns="0" bIns="0" rtlCol="0" anchor="t"/>
          <a:lstStyle/>
          <a:p>
            <a:pPr indent="0" marL="0">
              <a:buNone/>
            </a:pPr>
            <a:r>
              <a:rPr lang="en-US" sz="1200" b="1" dirty="0">
                <a:solidFill>
                  <a:srgbClr val="5A6470"/>
                </a:solidFill>
                <a:latin typeface="Meiryo" pitchFamily="34" charset="0"/>
                <a:ea typeface="Meiryo" pitchFamily="34" charset="-122"/>
                <a:cs typeface="Meiryo" pitchFamily="34" charset="-120"/>
              </a:rPr>
              <a:t>ほかのことを聞くと</a:t>
            </a:r>
            <a:endParaRPr lang="en-US" sz="1200" dirty="0"/>
          </a:p>
        </p:txBody>
      </p:sp>
      <p:sp>
        <p:nvSpPr>
          <p:cNvPr id="26" name="Shape 24"/>
          <p:cNvSpPr/>
          <p:nvPr/>
        </p:nvSpPr>
        <p:spPr>
          <a:xfrm>
            <a:off x="7772400" y="1645920"/>
            <a:ext cx="3867912" cy="1783080"/>
          </a:xfrm>
          <a:prstGeom prst="rect">
            <a:avLst/>
          </a:prstGeom>
          <a:solidFill>
            <a:srgbClr val="FFFFFF"/>
          </a:solidFill>
          <a:ln/>
        </p:spPr>
      </p:sp>
      <p:sp>
        <p:nvSpPr>
          <p:cNvPr id="27" name="Text 25"/>
          <p:cNvSpPr txBox="1"/>
          <p:nvPr/>
        </p:nvSpPr>
        <p:spPr>
          <a:xfrm>
            <a:off x="7955280" y="1783080"/>
            <a:ext cx="3566160" cy="320040"/>
          </a:xfrm>
          <a:prstGeom prst="rect">
            <a:avLst/>
          </a:prstGeom>
          <a:noFill/>
          <a:ln/>
        </p:spPr>
        <p:txBody>
          <a:bodyPr wrap="square" lIns="0" tIns="0" rIns="0" bIns="0" rtlCol="0" anchor="t"/>
          <a:lstStyle/>
          <a:p>
            <a:pPr indent="0" marL="0">
              <a:buNone/>
            </a:pPr>
            <a:r>
              <a:rPr lang="en-US" sz="1300" b="1" dirty="0">
                <a:solidFill>
                  <a:srgbClr val="1E2126"/>
                </a:solidFill>
                <a:latin typeface="Meiryo" pitchFamily="34" charset="0"/>
                <a:ea typeface="Meiryo" pitchFamily="34" charset="-122"/>
                <a:cs typeface="Meiryo" pitchFamily="34" charset="-120"/>
              </a:rPr>
              <a:t>価格を聞いたら</a:t>
            </a:r>
            <a:endParaRPr lang="en-US" sz="1300" dirty="0"/>
          </a:p>
        </p:txBody>
      </p:sp>
      <p:sp>
        <p:nvSpPr>
          <p:cNvPr id="28" name="Text 26"/>
          <p:cNvSpPr txBox="1"/>
          <p:nvPr/>
        </p:nvSpPr>
        <p:spPr>
          <a:xfrm>
            <a:off x="7955280" y="2194560"/>
            <a:ext cx="3566160" cy="1097280"/>
          </a:xfrm>
          <a:prstGeom prst="rect">
            <a:avLst/>
          </a:prstGeom>
          <a:noFill/>
          <a:ln/>
        </p:spPr>
        <p:txBody>
          <a:bodyPr wrap="square" lIns="0" tIns="0" rIns="0" bIns="0" rtlCol="0" anchor="t"/>
          <a:lstStyle/>
          <a:p>
            <a:pPr indent="0" marL="0">
              <a:buNone/>
            </a:pPr>
            <a:r>
              <a:rPr lang="en-US" sz="1300" dirty="0">
                <a:solidFill>
                  <a:srgbClr val="5A6470"/>
                </a:solidFill>
                <a:latin typeface="Meiryo" pitchFamily="34" charset="0"/>
                <a:ea typeface="Meiryo" pitchFamily="34" charset="-122"/>
                <a:cs typeface="Meiryo" pitchFamily="34" charset="-120"/>
              </a:rPr>
              <a:t>「価格の前に、何が原因なのかを知りたいですね。」</a:t>
            </a:r>
            <a:endParaRPr lang="en-US" sz="1300" dirty="0"/>
          </a:p>
        </p:txBody>
      </p:sp>
      <p:sp>
        <p:nvSpPr>
          <p:cNvPr id="29" name="Shape 27"/>
          <p:cNvSpPr/>
          <p:nvPr/>
        </p:nvSpPr>
        <p:spPr>
          <a:xfrm>
            <a:off x="7772400" y="3657600"/>
            <a:ext cx="3867912" cy="1783080"/>
          </a:xfrm>
          <a:prstGeom prst="rect">
            <a:avLst/>
          </a:prstGeom>
          <a:solidFill>
            <a:srgbClr val="FFFFFF"/>
          </a:solidFill>
          <a:ln/>
        </p:spPr>
      </p:sp>
      <p:sp>
        <p:nvSpPr>
          <p:cNvPr id="30" name="Text 28"/>
          <p:cNvSpPr txBox="1"/>
          <p:nvPr/>
        </p:nvSpPr>
        <p:spPr>
          <a:xfrm>
            <a:off x="7955280" y="3794760"/>
            <a:ext cx="3566160" cy="320040"/>
          </a:xfrm>
          <a:prstGeom prst="rect">
            <a:avLst/>
          </a:prstGeom>
          <a:noFill/>
          <a:ln/>
        </p:spPr>
        <p:txBody>
          <a:bodyPr wrap="square" lIns="0" tIns="0" rIns="0" bIns="0" rtlCol="0" anchor="t"/>
          <a:lstStyle/>
          <a:p>
            <a:pPr indent="0" marL="0">
              <a:buNone/>
            </a:pPr>
            <a:r>
              <a:rPr lang="en-US" sz="1300" b="1" dirty="0">
                <a:solidFill>
                  <a:srgbClr val="1E2126"/>
                </a:solidFill>
                <a:latin typeface="Meiryo" pitchFamily="34" charset="0"/>
                <a:ea typeface="Meiryo" pitchFamily="34" charset="-122"/>
                <a:cs typeface="Meiryo" pitchFamily="34" charset="-120"/>
              </a:rPr>
              <a:t>他社の事例を聞いたら</a:t>
            </a:r>
            <a:endParaRPr lang="en-US" sz="1300" dirty="0"/>
          </a:p>
        </p:txBody>
      </p:sp>
      <p:sp>
        <p:nvSpPr>
          <p:cNvPr id="31" name="Text 29"/>
          <p:cNvSpPr txBox="1"/>
          <p:nvPr/>
        </p:nvSpPr>
        <p:spPr>
          <a:xfrm>
            <a:off x="7955280" y="4206240"/>
            <a:ext cx="3566160" cy="1097280"/>
          </a:xfrm>
          <a:prstGeom prst="rect">
            <a:avLst/>
          </a:prstGeom>
          <a:noFill/>
          <a:ln/>
        </p:spPr>
        <p:txBody>
          <a:bodyPr wrap="square" lIns="0" tIns="0" rIns="0" bIns="0" rtlCol="0" anchor="t"/>
          <a:lstStyle/>
          <a:p>
            <a:pPr indent="0" marL="0">
              <a:buNone/>
            </a:pPr>
            <a:r>
              <a:rPr lang="en-US" sz="1300" dirty="0">
                <a:solidFill>
                  <a:srgbClr val="5A6470"/>
                </a:solidFill>
                <a:latin typeface="Meiryo" pitchFamily="34" charset="0"/>
                <a:ea typeface="Meiryo" pitchFamily="34" charset="-122"/>
                <a:cs typeface="Meiryo" pitchFamily="34" charset="-120"/>
              </a:rPr>
              <a:t>「うちの現場の状況を見てほしいです。」</a:t>
            </a:r>
            <a:endParaRPr lang="en-US" sz="13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発見する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ワーク3　本当の困りごとを見つけよう</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Text 9"/>
          <p:cNvSpPr txBox="1"/>
          <p:nvPr/>
        </p:nvSpPr>
        <p:spPr>
          <a:xfrm>
            <a:off x="548640" y="1325880"/>
            <a:ext cx="2743200" cy="274320"/>
          </a:xfrm>
          <a:prstGeom prst="rect">
            <a:avLst/>
          </a:prstGeom>
          <a:noFill/>
          <a:ln/>
        </p:spPr>
        <p:txBody>
          <a:bodyPr wrap="square" lIns="0" tIns="0" rIns="0" bIns="0" rtlCol="0" anchor="t"/>
          <a:lstStyle/>
          <a:p>
            <a:pPr indent="0" marL="0">
              <a:buNone/>
            </a:pPr>
            <a:r>
              <a:rPr lang="en-US" sz="1100" b="1" spc="300" kern="0" dirty="0">
                <a:solidFill>
                  <a:srgbClr val="E60012"/>
                </a:solidFill>
                <a:latin typeface="Meiryo" pitchFamily="34" charset="0"/>
                <a:ea typeface="Meiryo" pitchFamily="34" charset="-122"/>
                <a:cs typeface="Meiryo" pitchFamily="34" charset="-120"/>
              </a:rPr>
              <a:t>WORK</a:t>
            </a:r>
            <a:endParaRPr lang="en-US" sz="1100" dirty="0"/>
          </a:p>
        </p:txBody>
      </p:sp>
      <p:sp>
        <p:nvSpPr>
          <p:cNvPr id="12" name="Text 10"/>
          <p:cNvSpPr txBox="1"/>
          <p:nvPr/>
        </p:nvSpPr>
        <p:spPr>
          <a:xfrm>
            <a:off x="548640" y="1645920"/>
            <a:ext cx="11094415" cy="155448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誤カウントがなくなると</a:t>
            </a:r>
            <a:endParaRPr lang="en-US" sz="3400" dirty="0"/>
          </a:p>
          <a:p>
            <a:pPr indent="0" marL="0">
              <a:buNone/>
            </a:pPr>
            <a:r>
              <a:rPr lang="en-US" sz="3400" b="1" dirty="0">
                <a:solidFill>
                  <a:srgbClr val="FFFFFF"/>
                </a:solidFill>
                <a:latin typeface="Meiryo" pitchFamily="34" charset="0"/>
                <a:ea typeface="Meiryo" pitchFamily="34" charset="-122"/>
                <a:cs typeface="Meiryo" pitchFamily="34" charset="-120"/>
              </a:rPr>
              <a:t>お客様は何がうれしいのでしょうか？</a:t>
            </a:r>
            <a:endParaRPr lang="en-US" sz="3400" dirty="0"/>
          </a:p>
        </p:txBody>
      </p:sp>
      <p:sp>
        <p:nvSpPr>
          <p:cNvPr id="13" name="Shape 11"/>
          <p:cNvSpPr/>
          <p:nvPr/>
        </p:nvSpPr>
        <p:spPr>
          <a:xfrm>
            <a:off x="548640" y="3611880"/>
            <a:ext cx="3291840" cy="1005840"/>
          </a:xfrm>
          <a:prstGeom prst="rect">
            <a:avLst/>
          </a:prstGeom>
          <a:solidFill>
            <a:srgbClr val="2A2D33"/>
          </a:solidFill>
          <a:ln/>
        </p:spPr>
      </p:sp>
      <p:sp>
        <p:nvSpPr>
          <p:cNvPr id="14" name="Text 12"/>
          <p:cNvSpPr txBox="1"/>
          <p:nvPr/>
        </p:nvSpPr>
        <p:spPr>
          <a:xfrm>
            <a:off x="777240" y="3703320"/>
            <a:ext cx="2834640" cy="411480"/>
          </a:xfrm>
          <a:prstGeom prst="rect">
            <a:avLst/>
          </a:prstGeom>
          <a:noFill/>
          <a:ln/>
        </p:spPr>
        <p:txBody>
          <a:bodyPr wrap="square" lIns="0" tIns="0" rIns="0" bIns="0" rtlCol="0" anchor="t"/>
          <a:lstStyle/>
          <a:p>
            <a:pPr indent="0" marL="0">
              <a:buNone/>
            </a:pPr>
            <a:r>
              <a:rPr lang="en-US" sz="2000" b="1" dirty="0">
                <a:solidFill>
                  <a:srgbClr val="E60012"/>
                </a:solidFill>
                <a:latin typeface="Meiryo" pitchFamily="34" charset="0"/>
                <a:ea typeface="Meiryo" pitchFamily="34" charset="-122"/>
                <a:cs typeface="Meiryo" pitchFamily="34" charset="-120"/>
              </a:rPr>
              <a:t>1分</a:t>
            </a:r>
            <a:endParaRPr lang="en-US" sz="2000" dirty="0"/>
          </a:p>
        </p:txBody>
      </p:sp>
      <p:sp>
        <p:nvSpPr>
          <p:cNvPr id="15" name="Text 13"/>
          <p:cNvSpPr txBox="1"/>
          <p:nvPr/>
        </p:nvSpPr>
        <p:spPr>
          <a:xfrm>
            <a:off x="777240" y="4114800"/>
            <a:ext cx="2834640" cy="411480"/>
          </a:xfrm>
          <a:prstGeom prst="rect">
            <a:avLst/>
          </a:prstGeom>
          <a:noFill/>
          <a:ln/>
        </p:spPr>
        <p:txBody>
          <a:bodyPr wrap="square" lIns="0" tIns="0" rIns="0" bIns="0" rtlCol="0" anchor="t"/>
          <a:lstStyle/>
          <a:p>
            <a:pPr indent="0" marL="0">
              <a:buNone/>
            </a:pPr>
            <a:r>
              <a:rPr lang="en-US" sz="1300" dirty="0">
                <a:solidFill>
                  <a:srgbClr val="FFFFFF"/>
                </a:solidFill>
                <a:latin typeface="Meiryo" pitchFamily="34" charset="0"/>
                <a:ea typeface="Meiryo" pitchFamily="34" charset="-122"/>
                <a:cs typeface="Meiryo" pitchFamily="34" charset="-120"/>
              </a:rPr>
              <a:t>ひとりで書く</a:t>
            </a:r>
            <a:endParaRPr lang="en-US" sz="1300" dirty="0"/>
          </a:p>
        </p:txBody>
      </p:sp>
      <p:sp>
        <p:nvSpPr>
          <p:cNvPr id="16" name="Shape 14"/>
          <p:cNvSpPr/>
          <p:nvPr/>
        </p:nvSpPr>
        <p:spPr>
          <a:xfrm>
            <a:off x="4069080" y="3611880"/>
            <a:ext cx="3291840" cy="1005840"/>
          </a:xfrm>
          <a:prstGeom prst="rect">
            <a:avLst/>
          </a:prstGeom>
          <a:solidFill>
            <a:srgbClr val="2A2D33"/>
          </a:solidFill>
          <a:ln/>
        </p:spPr>
      </p:sp>
      <p:sp>
        <p:nvSpPr>
          <p:cNvPr id="17" name="Text 15"/>
          <p:cNvSpPr txBox="1"/>
          <p:nvPr/>
        </p:nvSpPr>
        <p:spPr>
          <a:xfrm>
            <a:off x="4297680" y="3703320"/>
            <a:ext cx="2834640" cy="411480"/>
          </a:xfrm>
          <a:prstGeom prst="rect">
            <a:avLst/>
          </a:prstGeom>
          <a:noFill/>
          <a:ln/>
        </p:spPr>
        <p:txBody>
          <a:bodyPr wrap="square" lIns="0" tIns="0" rIns="0" bIns="0" rtlCol="0" anchor="t"/>
          <a:lstStyle/>
          <a:p>
            <a:pPr indent="0" marL="0">
              <a:buNone/>
            </a:pPr>
            <a:r>
              <a:rPr lang="en-US" sz="2000" b="1" dirty="0">
                <a:solidFill>
                  <a:srgbClr val="E60012"/>
                </a:solidFill>
                <a:latin typeface="Meiryo" pitchFamily="34" charset="0"/>
                <a:ea typeface="Meiryo" pitchFamily="34" charset="-122"/>
                <a:cs typeface="Meiryo" pitchFamily="34" charset="-120"/>
              </a:rPr>
              <a:t>1分30秒</a:t>
            </a:r>
            <a:endParaRPr lang="en-US" sz="2000" dirty="0"/>
          </a:p>
        </p:txBody>
      </p:sp>
      <p:sp>
        <p:nvSpPr>
          <p:cNvPr id="18" name="Text 16"/>
          <p:cNvSpPr txBox="1"/>
          <p:nvPr/>
        </p:nvSpPr>
        <p:spPr>
          <a:xfrm>
            <a:off x="4297680" y="4114800"/>
            <a:ext cx="2834640" cy="411480"/>
          </a:xfrm>
          <a:prstGeom prst="rect">
            <a:avLst/>
          </a:prstGeom>
          <a:noFill/>
          <a:ln/>
        </p:spPr>
        <p:txBody>
          <a:bodyPr wrap="square" lIns="0" tIns="0" rIns="0" bIns="0" rtlCol="0" anchor="t"/>
          <a:lstStyle/>
          <a:p>
            <a:pPr indent="0" marL="0">
              <a:buNone/>
            </a:pPr>
            <a:r>
              <a:rPr lang="en-US" sz="1300" dirty="0">
                <a:solidFill>
                  <a:srgbClr val="FFFFFF"/>
                </a:solidFill>
                <a:latin typeface="Meiryo" pitchFamily="34" charset="0"/>
                <a:ea typeface="Meiryo" pitchFamily="34" charset="-122"/>
                <a:cs typeface="Meiryo" pitchFamily="34" charset="-120"/>
              </a:rPr>
              <a:t>グループで話し、1つにまとめる</a:t>
            </a:r>
            <a:endParaRPr lang="en-US" sz="1300" dirty="0"/>
          </a:p>
        </p:txBody>
      </p:sp>
      <p:sp>
        <p:nvSpPr>
          <p:cNvPr id="19" name="Shape 17"/>
          <p:cNvSpPr/>
          <p:nvPr/>
        </p:nvSpPr>
        <p:spPr>
          <a:xfrm>
            <a:off x="7589520" y="3611880"/>
            <a:ext cx="3291840" cy="1005840"/>
          </a:xfrm>
          <a:prstGeom prst="rect">
            <a:avLst/>
          </a:prstGeom>
          <a:solidFill>
            <a:srgbClr val="2A2D33"/>
          </a:solidFill>
          <a:ln/>
        </p:spPr>
      </p:sp>
      <p:sp>
        <p:nvSpPr>
          <p:cNvPr id="20" name="Text 18"/>
          <p:cNvSpPr txBox="1"/>
          <p:nvPr/>
        </p:nvSpPr>
        <p:spPr>
          <a:xfrm>
            <a:off x="7818120" y="3703320"/>
            <a:ext cx="2834640" cy="411480"/>
          </a:xfrm>
          <a:prstGeom prst="rect">
            <a:avLst/>
          </a:prstGeom>
          <a:noFill/>
          <a:ln/>
        </p:spPr>
        <p:txBody>
          <a:bodyPr wrap="square" lIns="0" tIns="0" rIns="0" bIns="0" rtlCol="0" anchor="t"/>
          <a:lstStyle/>
          <a:p>
            <a:pPr indent="0" marL="0">
              <a:buNone/>
            </a:pPr>
            <a:r>
              <a:rPr lang="en-US" sz="2000" b="1" dirty="0">
                <a:solidFill>
                  <a:srgbClr val="E60012"/>
                </a:solidFill>
                <a:latin typeface="Meiryo" pitchFamily="34" charset="0"/>
                <a:ea typeface="Meiryo" pitchFamily="34" charset="-122"/>
                <a:cs typeface="Meiryo" pitchFamily="34" charset="-120"/>
              </a:rPr>
              <a:t>30秒</a:t>
            </a:r>
            <a:endParaRPr lang="en-US" sz="2000" dirty="0"/>
          </a:p>
        </p:txBody>
      </p:sp>
      <p:sp>
        <p:nvSpPr>
          <p:cNvPr id="21" name="Text 19"/>
          <p:cNvSpPr txBox="1"/>
          <p:nvPr/>
        </p:nvSpPr>
        <p:spPr>
          <a:xfrm>
            <a:off x="7818120" y="4114800"/>
            <a:ext cx="2834640" cy="411480"/>
          </a:xfrm>
          <a:prstGeom prst="rect">
            <a:avLst/>
          </a:prstGeom>
          <a:noFill/>
          <a:ln/>
        </p:spPr>
        <p:txBody>
          <a:bodyPr wrap="square" lIns="0" tIns="0" rIns="0" bIns="0" rtlCol="0" anchor="t"/>
          <a:lstStyle/>
          <a:p>
            <a:pPr indent="0" marL="0">
              <a:buNone/>
            </a:pPr>
            <a:r>
              <a:rPr lang="en-US" sz="1300" dirty="0">
                <a:solidFill>
                  <a:srgbClr val="FFFFFF"/>
                </a:solidFill>
                <a:latin typeface="Meiryo" pitchFamily="34" charset="0"/>
                <a:ea typeface="Meiryo" pitchFamily="34" charset="-122"/>
                <a:cs typeface="Meiryo" pitchFamily="34" charset="-120"/>
              </a:rPr>
              <a:t>2グループが発表</a:t>
            </a:r>
            <a:endParaRPr lang="en-US" sz="1300" dirty="0"/>
          </a:p>
        </p:txBody>
      </p:sp>
      <p:sp>
        <p:nvSpPr>
          <p:cNvPr id="22" name="Text 20"/>
          <p:cNvSpPr txBox="1"/>
          <p:nvPr/>
        </p:nvSpPr>
        <p:spPr>
          <a:xfrm>
            <a:off x="548640" y="4983480"/>
            <a:ext cx="11094415" cy="41148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手がかり：佐藤さん（設備課）と高橋さん（品質管理）、それぞれの立場で考えると？</a:t>
            </a:r>
            <a:endParaRPr lang="en-US" sz="14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発見する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目の前の問題の、その先には？</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325880"/>
            <a:ext cx="10149840" cy="1005840"/>
          </a:xfrm>
          <a:prstGeom prst="rect">
            <a:avLst/>
          </a:prstGeom>
          <a:solidFill>
            <a:srgbClr val="5A6470"/>
          </a:solidFill>
          <a:ln/>
        </p:spPr>
      </p:sp>
      <p:sp>
        <p:nvSpPr>
          <p:cNvPr id="12" name="Text 10"/>
          <p:cNvSpPr txBox="1"/>
          <p:nvPr/>
        </p:nvSpPr>
        <p:spPr>
          <a:xfrm>
            <a:off x="777240" y="1417320"/>
            <a:ext cx="2743200" cy="274320"/>
          </a:xfrm>
          <a:prstGeom prst="rect">
            <a:avLst/>
          </a:prstGeom>
          <a:noFill/>
          <a:ln/>
        </p:spPr>
        <p:txBody>
          <a:bodyPr wrap="square" lIns="0" tIns="0" rIns="0" bIns="0" rtlCol="0" anchor="t"/>
          <a:lstStyle/>
          <a:p>
            <a:pPr indent="0" marL="0">
              <a:buNone/>
            </a:pPr>
            <a:r>
              <a:rPr lang="en-US" sz="1050" b="1" dirty="0">
                <a:solidFill>
                  <a:srgbClr val="E6E8EB"/>
                </a:solidFill>
                <a:latin typeface="Meiryo" pitchFamily="34" charset="0"/>
                <a:ea typeface="Meiryo" pitchFamily="34" charset="-122"/>
                <a:cs typeface="Meiryo" pitchFamily="34" charset="-120"/>
              </a:rPr>
              <a:t>表面の問題</a:t>
            </a:r>
            <a:endParaRPr lang="en-US" sz="1050" dirty="0"/>
          </a:p>
        </p:txBody>
      </p:sp>
      <p:sp>
        <p:nvSpPr>
          <p:cNvPr id="13" name="Text 11"/>
          <p:cNvSpPr txBox="1"/>
          <p:nvPr/>
        </p:nvSpPr>
        <p:spPr>
          <a:xfrm>
            <a:off x="777240" y="1691640"/>
            <a:ext cx="9692640" cy="54864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ペットボトルを、実際より多く数えてしまう</a:t>
            </a:r>
            <a:endParaRPr lang="en-US" sz="1700" dirty="0"/>
          </a:p>
        </p:txBody>
      </p:sp>
      <p:sp>
        <p:nvSpPr>
          <p:cNvPr id="14" name="Shape 12"/>
          <p:cNvSpPr/>
          <p:nvPr/>
        </p:nvSpPr>
        <p:spPr>
          <a:xfrm>
            <a:off x="1463040" y="2514600"/>
            <a:ext cx="9235440" cy="1005840"/>
          </a:xfrm>
          <a:prstGeom prst="rect">
            <a:avLst/>
          </a:prstGeom>
          <a:solidFill>
            <a:srgbClr val="141517"/>
          </a:solidFill>
          <a:ln/>
        </p:spPr>
      </p:sp>
      <p:sp>
        <p:nvSpPr>
          <p:cNvPr id="15" name="Text 13"/>
          <p:cNvSpPr txBox="1"/>
          <p:nvPr/>
        </p:nvSpPr>
        <p:spPr>
          <a:xfrm>
            <a:off x="1691640" y="2606040"/>
            <a:ext cx="2743200" cy="274320"/>
          </a:xfrm>
          <a:prstGeom prst="rect">
            <a:avLst/>
          </a:prstGeom>
          <a:noFill/>
          <a:ln/>
        </p:spPr>
        <p:txBody>
          <a:bodyPr wrap="square" lIns="0" tIns="0" rIns="0" bIns="0" rtlCol="0" anchor="t"/>
          <a:lstStyle/>
          <a:p>
            <a:pPr indent="0" marL="0">
              <a:buNone/>
            </a:pPr>
            <a:r>
              <a:rPr lang="en-US" sz="1050" b="1" dirty="0">
                <a:solidFill>
                  <a:srgbClr val="E6E8EB"/>
                </a:solidFill>
                <a:latin typeface="Meiryo" pitchFamily="34" charset="0"/>
                <a:ea typeface="Meiryo" pitchFamily="34" charset="-122"/>
                <a:cs typeface="Meiryo" pitchFamily="34" charset="-120"/>
              </a:rPr>
              <a:t>業務への影響</a:t>
            </a:r>
            <a:endParaRPr lang="en-US" sz="1050" dirty="0"/>
          </a:p>
        </p:txBody>
      </p:sp>
      <p:sp>
        <p:nvSpPr>
          <p:cNvPr id="16" name="Text 14"/>
          <p:cNvSpPr txBox="1"/>
          <p:nvPr/>
        </p:nvSpPr>
        <p:spPr>
          <a:xfrm>
            <a:off x="1691640" y="2880360"/>
            <a:ext cx="8778240" cy="54864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数量の確認し直し／ときにライン停止／品質管理の負担</a:t>
            </a:r>
            <a:endParaRPr lang="en-US" sz="1700" dirty="0"/>
          </a:p>
        </p:txBody>
      </p:sp>
      <p:sp>
        <p:nvSpPr>
          <p:cNvPr id="17" name="Shape 15"/>
          <p:cNvSpPr/>
          <p:nvPr/>
        </p:nvSpPr>
        <p:spPr>
          <a:xfrm>
            <a:off x="2377440" y="3703320"/>
            <a:ext cx="8321040" cy="1005840"/>
          </a:xfrm>
          <a:prstGeom prst="rect">
            <a:avLst/>
          </a:prstGeom>
          <a:solidFill>
            <a:srgbClr val="FFFFFF"/>
          </a:solidFill>
          <a:ln w="25400">
            <a:solidFill>
              <a:srgbClr val="E60012"/>
            </a:solidFill>
            <a:prstDash val="dash"/>
          </a:ln>
        </p:spPr>
      </p:sp>
      <p:sp>
        <p:nvSpPr>
          <p:cNvPr id="18" name="Text 16"/>
          <p:cNvSpPr txBox="1"/>
          <p:nvPr/>
        </p:nvSpPr>
        <p:spPr>
          <a:xfrm>
            <a:off x="2606040" y="3794760"/>
            <a:ext cx="2743200" cy="274320"/>
          </a:xfrm>
          <a:prstGeom prst="rect">
            <a:avLst/>
          </a:prstGeom>
          <a:noFill/>
          <a:ln/>
        </p:spPr>
        <p:txBody>
          <a:bodyPr wrap="square" lIns="0" tIns="0" rIns="0" bIns="0" rtlCol="0" anchor="t"/>
          <a:lstStyle/>
          <a:p>
            <a:pPr indent="0" marL="0">
              <a:buNone/>
            </a:pPr>
            <a:r>
              <a:rPr lang="en-US" sz="1050" b="1" dirty="0">
                <a:solidFill>
                  <a:srgbClr val="E60012"/>
                </a:solidFill>
                <a:latin typeface="Meiryo" pitchFamily="34" charset="0"/>
                <a:ea typeface="Meiryo" pitchFamily="34" charset="-122"/>
                <a:cs typeface="Meiryo" pitchFamily="34" charset="-120"/>
              </a:rPr>
              <a:t>本当に実現したいこと</a:t>
            </a:r>
            <a:endParaRPr lang="en-US" sz="1050" dirty="0"/>
          </a:p>
        </p:txBody>
      </p:sp>
      <p:sp>
        <p:nvSpPr>
          <p:cNvPr id="19" name="Text 17"/>
          <p:cNvSpPr txBox="1"/>
          <p:nvPr/>
        </p:nvSpPr>
        <p:spPr>
          <a:xfrm>
            <a:off x="2606040" y="4069080"/>
            <a:ext cx="7863840" cy="548640"/>
          </a:xfrm>
          <a:prstGeom prst="rect">
            <a:avLst/>
          </a:prstGeom>
          <a:noFill/>
          <a:ln/>
        </p:spPr>
        <p:txBody>
          <a:bodyPr wrap="square" lIns="0" tIns="0" rIns="0" bIns="0" rtlCol="0" anchor="ctr"/>
          <a:lstStyle/>
          <a:p>
            <a:pPr indent="0" marL="0">
              <a:buNone/>
            </a:pPr>
            <a:r>
              <a:rPr lang="en-US" sz="2400" b="1" dirty="0">
                <a:solidFill>
                  <a:srgbClr val="E60012"/>
                </a:solidFill>
                <a:latin typeface="Meiryo" pitchFamily="34" charset="0"/>
                <a:ea typeface="Meiryo" pitchFamily="34" charset="-122"/>
                <a:cs typeface="Meiryo" pitchFamily="34" charset="-120"/>
              </a:rPr>
              <a:t>？</a:t>
            </a:r>
            <a:endParaRPr lang="en-US" sz="2400" dirty="0"/>
          </a:p>
        </p:txBody>
      </p:sp>
      <p:sp>
        <p:nvSpPr>
          <p:cNvPr id="20" name="Text 18"/>
          <p:cNvSpPr txBox="1"/>
          <p:nvPr/>
        </p:nvSpPr>
        <p:spPr>
          <a:xfrm>
            <a:off x="548640" y="5120640"/>
            <a:ext cx="11094415" cy="457200"/>
          </a:xfrm>
          <a:prstGeom prst="rect">
            <a:avLst/>
          </a:prstGeom>
          <a:noFill/>
          <a:ln/>
        </p:spPr>
        <p:txBody>
          <a:bodyPr wrap="square" lIns="0" tIns="0" rIns="0" bIns="0" rtlCol="0" anchor="t"/>
          <a:lstStyle/>
          <a:p>
            <a:pPr indent="0" marL="0">
              <a:buNone/>
            </a:pPr>
            <a:r>
              <a:rPr lang="en-US" sz="1800" b="1" dirty="0">
                <a:solidFill>
                  <a:srgbClr val="1E2126"/>
                </a:solidFill>
                <a:latin typeface="Meiryo" pitchFamily="34" charset="0"/>
                <a:ea typeface="Meiryo" pitchFamily="34" charset="-122"/>
                <a:cs typeface="Meiryo" pitchFamily="34" charset="-120"/>
              </a:rPr>
              <a:t>3段目に入る言葉を、皆さんの答えから考えてみましょう</a:t>
            </a:r>
            <a:endParaRPr lang="en-US" sz="18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発見する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お客様が本当に実現したいこと</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325880"/>
            <a:ext cx="6766560" cy="1005840"/>
          </a:xfrm>
          <a:prstGeom prst="rect">
            <a:avLst/>
          </a:prstGeom>
          <a:solidFill>
            <a:srgbClr val="5A6470"/>
          </a:solidFill>
          <a:ln/>
        </p:spPr>
      </p:sp>
      <p:sp>
        <p:nvSpPr>
          <p:cNvPr id="12" name="Text 10"/>
          <p:cNvSpPr txBox="1"/>
          <p:nvPr/>
        </p:nvSpPr>
        <p:spPr>
          <a:xfrm>
            <a:off x="777240" y="1417320"/>
            <a:ext cx="2743200" cy="274320"/>
          </a:xfrm>
          <a:prstGeom prst="rect">
            <a:avLst/>
          </a:prstGeom>
          <a:noFill/>
          <a:ln/>
        </p:spPr>
        <p:txBody>
          <a:bodyPr wrap="square" lIns="0" tIns="0" rIns="0" bIns="0" rtlCol="0" anchor="t"/>
          <a:lstStyle/>
          <a:p>
            <a:pPr indent="0" marL="0">
              <a:buNone/>
            </a:pPr>
            <a:r>
              <a:rPr lang="en-US" sz="1050" b="1" dirty="0">
                <a:solidFill>
                  <a:srgbClr val="E6E8EB"/>
                </a:solidFill>
                <a:latin typeface="Meiryo" pitchFamily="34" charset="0"/>
                <a:ea typeface="Meiryo" pitchFamily="34" charset="-122"/>
                <a:cs typeface="Meiryo" pitchFamily="34" charset="-120"/>
              </a:rPr>
              <a:t>表面の問題</a:t>
            </a:r>
            <a:endParaRPr lang="en-US" sz="1050" dirty="0"/>
          </a:p>
        </p:txBody>
      </p:sp>
      <p:sp>
        <p:nvSpPr>
          <p:cNvPr id="13" name="Text 11"/>
          <p:cNvSpPr txBox="1"/>
          <p:nvPr/>
        </p:nvSpPr>
        <p:spPr>
          <a:xfrm>
            <a:off x="777240" y="1691640"/>
            <a:ext cx="6309360" cy="54864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ペットボトルを、実際より多く数えてしまう</a:t>
            </a:r>
            <a:endParaRPr lang="en-US" sz="1700" dirty="0"/>
          </a:p>
        </p:txBody>
      </p:sp>
      <p:sp>
        <p:nvSpPr>
          <p:cNvPr id="14" name="Shape 12"/>
          <p:cNvSpPr/>
          <p:nvPr/>
        </p:nvSpPr>
        <p:spPr>
          <a:xfrm>
            <a:off x="1463040" y="2514600"/>
            <a:ext cx="5852160" cy="1005840"/>
          </a:xfrm>
          <a:prstGeom prst="rect">
            <a:avLst/>
          </a:prstGeom>
          <a:solidFill>
            <a:srgbClr val="141517"/>
          </a:solidFill>
          <a:ln/>
        </p:spPr>
      </p:sp>
      <p:sp>
        <p:nvSpPr>
          <p:cNvPr id="15" name="Text 13"/>
          <p:cNvSpPr txBox="1"/>
          <p:nvPr/>
        </p:nvSpPr>
        <p:spPr>
          <a:xfrm>
            <a:off x="1691640" y="2606040"/>
            <a:ext cx="2743200" cy="274320"/>
          </a:xfrm>
          <a:prstGeom prst="rect">
            <a:avLst/>
          </a:prstGeom>
          <a:noFill/>
          <a:ln/>
        </p:spPr>
        <p:txBody>
          <a:bodyPr wrap="square" lIns="0" tIns="0" rIns="0" bIns="0" rtlCol="0" anchor="t"/>
          <a:lstStyle/>
          <a:p>
            <a:pPr indent="0" marL="0">
              <a:buNone/>
            </a:pPr>
            <a:r>
              <a:rPr lang="en-US" sz="1050" b="1" dirty="0">
                <a:solidFill>
                  <a:srgbClr val="E6E8EB"/>
                </a:solidFill>
                <a:latin typeface="Meiryo" pitchFamily="34" charset="0"/>
                <a:ea typeface="Meiryo" pitchFamily="34" charset="-122"/>
                <a:cs typeface="Meiryo" pitchFamily="34" charset="-120"/>
              </a:rPr>
              <a:t>業務への影響</a:t>
            </a:r>
            <a:endParaRPr lang="en-US" sz="1050" dirty="0"/>
          </a:p>
        </p:txBody>
      </p:sp>
      <p:sp>
        <p:nvSpPr>
          <p:cNvPr id="16" name="Text 14"/>
          <p:cNvSpPr txBox="1"/>
          <p:nvPr/>
        </p:nvSpPr>
        <p:spPr>
          <a:xfrm>
            <a:off x="1691640" y="2880360"/>
            <a:ext cx="5394960" cy="54864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数量の確認し直し／ときにライン停止／品質管理の負担</a:t>
            </a:r>
            <a:endParaRPr lang="en-US" sz="1700" dirty="0"/>
          </a:p>
        </p:txBody>
      </p:sp>
      <p:sp>
        <p:nvSpPr>
          <p:cNvPr id="17" name="Shape 15"/>
          <p:cNvSpPr/>
          <p:nvPr/>
        </p:nvSpPr>
        <p:spPr>
          <a:xfrm>
            <a:off x="2377440" y="3703320"/>
            <a:ext cx="4937760" cy="1005840"/>
          </a:xfrm>
          <a:prstGeom prst="rect">
            <a:avLst/>
          </a:prstGeom>
          <a:solidFill>
            <a:srgbClr val="E60012"/>
          </a:solidFill>
          <a:ln/>
        </p:spPr>
      </p:sp>
      <p:sp>
        <p:nvSpPr>
          <p:cNvPr id="18" name="Text 16"/>
          <p:cNvSpPr txBox="1"/>
          <p:nvPr/>
        </p:nvSpPr>
        <p:spPr>
          <a:xfrm>
            <a:off x="2606040" y="3794760"/>
            <a:ext cx="2743200" cy="274320"/>
          </a:xfrm>
          <a:prstGeom prst="rect">
            <a:avLst/>
          </a:prstGeom>
          <a:noFill/>
          <a:ln/>
        </p:spPr>
        <p:txBody>
          <a:bodyPr wrap="square" lIns="0" tIns="0" rIns="0" bIns="0" rtlCol="0" anchor="t"/>
          <a:lstStyle/>
          <a:p>
            <a:pPr indent="0" marL="0">
              <a:buNone/>
            </a:pPr>
            <a:r>
              <a:rPr lang="en-US" sz="1050" b="1" dirty="0">
                <a:solidFill>
                  <a:srgbClr val="E6E8EB"/>
                </a:solidFill>
                <a:latin typeface="Meiryo" pitchFamily="34" charset="0"/>
                <a:ea typeface="Meiryo" pitchFamily="34" charset="-122"/>
                <a:cs typeface="Meiryo" pitchFamily="34" charset="-120"/>
              </a:rPr>
              <a:t>本当に実現したいこと</a:t>
            </a:r>
            <a:endParaRPr lang="en-US" sz="1050" dirty="0"/>
          </a:p>
        </p:txBody>
      </p:sp>
      <p:sp>
        <p:nvSpPr>
          <p:cNvPr id="19" name="Text 17"/>
          <p:cNvSpPr txBox="1"/>
          <p:nvPr/>
        </p:nvSpPr>
        <p:spPr>
          <a:xfrm>
            <a:off x="2606040" y="4069080"/>
            <a:ext cx="448056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安定した生産を続けたい</a:t>
            </a:r>
            <a:endParaRPr lang="en-US" sz="2400" dirty="0"/>
          </a:p>
        </p:txBody>
      </p:sp>
      <p:sp>
        <p:nvSpPr>
          <p:cNvPr id="20" name="Shape 18"/>
          <p:cNvSpPr/>
          <p:nvPr/>
        </p:nvSpPr>
        <p:spPr>
          <a:xfrm>
            <a:off x="7863840" y="1325880"/>
            <a:ext cx="3776472" cy="338328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1" name="Shape 19"/>
          <p:cNvSpPr/>
          <p:nvPr/>
        </p:nvSpPr>
        <p:spPr>
          <a:xfrm>
            <a:off x="8046720" y="1463040"/>
            <a:ext cx="658368" cy="237744"/>
          </a:xfrm>
          <a:prstGeom prst="rect">
            <a:avLst/>
          </a:prstGeom>
          <a:solidFill>
            <a:srgbClr val="E60012"/>
          </a:solidFill>
          <a:ln/>
        </p:spPr>
      </p:sp>
      <p:sp>
        <p:nvSpPr>
          <p:cNvPr id="22" name="Text 20"/>
          <p:cNvSpPr txBox="1"/>
          <p:nvPr/>
        </p:nvSpPr>
        <p:spPr>
          <a:xfrm>
            <a:off x="8046720" y="1463040"/>
            <a:ext cx="65836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eiryo" pitchFamily="34" charset="0"/>
                <a:ea typeface="Meiryo" pitchFamily="34" charset="-122"/>
                <a:cs typeface="Meiryo" pitchFamily="34" charset="-120"/>
              </a:rPr>
              <a:t>お客様</a:t>
            </a:r>
            <a:endParaRPr lang="en-US" sz="850" dirty="0"/>
          </a:p>
        </p:txBody>
      </p:sp>
      <p:sp>
        <p:nvSpPr>
          <p:cNvPr id="23" name="Text 21"/>
          <p:cNvSpPr txBox="1"/>
          <p:nvPr/>
        </p:nvSpPr>
        <p:spPr>
          <a:xfrm>
            <a:off x="8915400" y="1463040"/>
            <a:ext cx="2514600" cy="237744"/>
          </a:xfrm>
          <a:prstGeom prst="rect">
            <a:avLst/>
          </a:prstGeom>
          <a:noFill/>
          <a:ln/>
        </p:spPr>
        <p:txBody>
          <a:bodyPr wrap="square" lIns="0" tIns="0" rIns="0" bIns="0" rtlCol="0" anchor="ctr"/>
          <a:lstStyle/>
          <a:p>
            <a:pPr indent="0" marL="0">
              <a:buNone/>
            </a:pPr>
            <a:r>
              <a:rPr lang="en-US" sz="900" dirty="0">
                <a:solidFill>
                  <a:srgbClr val="5A6470"/>
                </a:solidFill>
                <a:latin typeface="Meiryo" pitchFamily="34" charset="0"/>
                <a:ea typeface="Meiryo" pitchFamily="34" charset="-122"/>
                <a:cs typeface="Meiryo" pitchFamily="34" charset="-120"/>
              </a:rPr>
              <a:t>飲料工場 設備課</a:t>
            </a:r>
            <a:endParaRPr lang="en-US" sz="900" dirty="0"/>
          </a:p>
        </p:txBody>
      </p:sp>
      <p:sp>
        <p:nvSpPr>
          <p:cNvPr id="24" name="Text 22"/>
          <p:cNvSpPr txBox="1"/>
          <p:nvPr/>
        </p:nvSpPr>
        <p:spPr>
          <a:xfrm>
            <a:off x="8046720" y="1755648"/>
            <a:ext cx="3429000" cy="329184"/>
          </a:xfrm>
          <a:prstGeom prst="rect">
            <a:avLst/>
          </a:prstGeom>
          <a:noFill/>
          <a:ln/>
        </p:spPr>
        <p:txBody>
          <a:bodyPr wrap="square" lIns="0" tIns="0" rIns="0" bIns="0" rtlCol="0" anchor="t"/>
          <a:lstStyle/>
          <a:p>
            <a:pPr indent="0" marL="0">
              <a:buNone/>
            </a:pPr>
            <a:r>
              <a:rPr lang="en-US" sz="1500" b="1" dirty="0">
                <a:solidFill>
                  <a:srgbClr val="1E2126"/>
                </a:solidFill>
                <a:latin typeface="Meiryo" pitchFamily="34" charset="0"/>
                <a:ea typeface="Meiryo" pitchFamily="34" charset="-122"/>
                <a:cs typeface="Meiryo" pitchFamily="34" charset="-120"/>
              </a:rPr>
              <a:t>佐藤さん</a:t>
            </a:r>
            <a:endParaRPr lang="en-US" sz="1500" dirty="0"/>
          </a:p>
        </p:txBody>
      </p:sp>
      <p:sp>
        <p:nvSpPr>
          <p:cNvPr id="25" name="Text 23"/>
          <p:cNvSpPr txBox="1"/>
          <p:nvPr/>
        </p:nvSpPr>
        <p:spPr>
          <a:xfrm>
            <a:off x="8046720" y="2121408"/>
            <a:ext cx="3429000" cy="868680"/>
          </a:xfrm>
          <a:prstGeom prst="rect">
            <a:avLst/>
          </a:prstGeom>
          <a:noFill/>
          <a:ln/>
        </p:spPr>
        <p:txBody>
          <a:bodyPr wrap="square" lIns="0" tIns="0" rIns="0" bIns="0" rtlCol="0" anchor="t"/>
          <a:lstStyle/>
          <a:p>
            <a:pPr indent="0" marL="0">
              <a:buNone/>
            </a:pPr>
            <a:r>
              <a:rPr lang="en-US" sz="1400" b="1" dirty="0">
                <a:solidFill>
                  <a:srgbClr val="1E2126"/>
                </a:solidFill>
                <a:latin typeface="Meiryo" pitchFamily="34" charset="0"/>
                <a:ea typeface="Meiryo" pitchFamily="34" charset="-122"/>
                <a:cs typeface="Meiryo" pitchFamily="34" charset="-120"/>
              </a:rPr>
              <a:t>そうなんです。確認やライン停止がなくなれば、安心して生産できます。価格より、安定して生産できるかが大事です。</a:t>
            </a:r>
            <a:endParaRPr lang="en-US" sz="1400" dirty="0"/>
          </a:p>
        </p:txBody>
      </p:sp>
      <p:sp>
        <p:nvSpPr>
          <p:cNvPr id="26" name="Text 24"/>
          <p:cNvSpPr txBox="1"/>
          <p:nvPr/>
        </p:nvSpPr>
        <p:spPr>
          <a:xfrm>
            <a:off x="548640" y="5120640"/>
            <a:ext cx="11094415" cy="548640"/>
          </a:xfrm>
          <a:prstGeom prst="rect">
            <a:avLst/>
          </a:prstGeom>
          <a:noFill/>
          <a:ln/>
        </p:spPr>
        <p:txBody>
          <a:bodyPr wrap="square" lIns="0" tIns="0" rIns="0" bIns="0" rtlCol="0" anchor="t"/>
          <a:lstStyle/>
          <a:p>
            <a:pPr indent="0" marL="0">
              <a:buNone/>
            </a:pPr>
            <a:r>
              <a:rPr lang="en-US" sz="2100" b="1" dirty="0">
                <a:solidFill>
                  <a:srgbClr val="1E2126"/>
                </a:solidFill>
                <a:latin typeface="Meiryo" pitchFamily="34" charset="0"/>
                <a:ea typeface="Meiryo" pitchFamily="34" charset="-122"/>
                <a:cs typeface="Meiryo" pitchFamily="34" charset="-120"/>
              </a:rPr>
              <a:t>目の前の問題と、お客様が本当に実現したいことは違う</a:t>
            </a:r>
            <a:endParaRPr lang="en-US" sz="21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発見する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お客様の要求　＝　提案の判断基準</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325880"/>
            <a:ext cx="3566160" cy="32004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2" name="Text 10"/>
          <p:cNvSpPr txBox="1"/>
          <p:nvPr/>
        </p:nvSpPr>
        <p:spPr>
          <a:xfrm>
            <a:off x="777240" y="1463040"/>
            <a:ext cx="1828800" cy="274320"/>
          </a:xfrm>
          <a:prstGeom prst="rect">
            <a:avLst/>
          </a:prstGeom>
          <a:noFill/>
          <a:ln/>
        </p:spPr>
        <p:txBody>
          <a:bodyPr wrap="square" lIns="0" tIns="0" rIns="0" bIns="0" rtlCol="0" anchor="t"/>
          <a:lstStyle/>
          <a:p>
            <a:pPr indent="0" marL="0">
              <a:buNone/>
            </a:pPr>
            <a:r>
              <a:rPr lang="en-US" sz="1100" b="1" dirty="0">
                <a:solidFill>
                  <a:srgbClr val="E60012"/>
                </a:solidFill>
                <a:latin typeface="Meiryo" pitchFamily="34" charset="0"/>
                <a:ea typeface="Meiryo" pitchFamily="34" charset="-122"/>
                <a:cs typeface="Meiryo" pitchFamily="34" charset="-120"/>
              </a:rPr>
              <a:t>要求 1</a:t>
            </a:r>
            <a:endParaRPr lang="en-US" sz="1100" dirty="0"/>
          </a:p>
        </p:txBody>
      </p:sp>
      <p:sp>
        <p:nvSpPr>
          <p:cNvPr id="13" name="Text 11"/>
          <p:cNvSpPr txBox="1"/>
          <p:nvPr/>
        </p:nvSpPr>
        <p:spPr>
          <a:xfrm>
            <a:off x="777240" y="1783080"/>
            <a:ext cx="3108960" cy="868680"/>
          </a:xfrm>
          <a:prstGeom prst="rect">
            <a:avLst/>
          </a:prstGeom>
          <a:noFill/>
          <a:ln/>
        </p:spPr>
        <p:txBody>
          <a:bodyPr wrap="square" lIns="0" tIns="0" rIns="0" bIns="0" rtlCol="0" anchor="t"/>
          <a:lstStyle/>
          <a:p>
            <a:pPr indent="0" marL="0">
              <a:buNone/>
            </a:pPr>
            <a:r>
              <a:rPr lang="en-US" sz="1900" b="1" dirty="0">
                <a:solidFill>
                  <a:srgbClr val="1E2126"/>
                </a:solidFill>
                <a:latin typeface="Meiryo" pitchFamily="34" charset="0"/>
                <a:ea typeface="Meiryo" pitchFamily="34" charset="-122"/>
                <a:cs typeface="Meiryo" pitchFamily="34" charset="-120"/>
              </a:rPr>
              <a:t>正確に数えられる</a:t>
            </a:r>
            <a:endParaRPr lang="en-US" sz="1900" dirty="0"/>
          </a:p>
        </p:txBody>
      </p:sp>
      <p:sp>
        <p:nvSpPr>
          <p:cNvPr id="14" name="Text 12"/>
          <p:cNvSpPr txBox="1"/>
          <p:nvPr/>
        </p:nvSpPr>
        <p:spPr>
          <a:xfrm>
            <a:off x="777240" y="2697480"/>
            <a:ext cx="3108960" cy="1097280"/>
          </a:xfrm>
          <a:prstGeom prst="rect">
            <a:avLst/>
          </a:prstGeom>
          <a:noFill/>
          <a:ln/>
        </p:spPr>
        <p:txBody>
          <a:bodyPr wrap="square" lIns="0" tIns="0" rIns="0" bIns="0" rtlCol="0" anchor="t"/>
          <a:lstStyle/>
          <a:p>
            <a:pPr indent="0" marL="0">
              <a:buNone/>
            </a:pPr>
            <a:r>
              <a:rPr lang="en-US" sz="1250" dirty="0">
                <a:solidFill>
                  <a:srgbClr val="5A6470"/>
                </a:solidFill>
                <a:latin typeface="Meiryo" pitchFamily="34" charset="0"/>
                <a:ea typeface="Meiryo" pitchFamily="34" charset="-122"/>
                <a:cs typeface="Meiryo" pitchFamily="34" charset="-120"/>
              </a:rPr>
              <a:t>ボトル1本につき合図1回。表示本数と通過本数が合う</a:t>
            </a:r>
            <a:endParaRPr lang="en-US" sz="1250" dirty="0"/>
          </a:p>
        </p:txBody>
      </p:sp>
      <p:sp>
        <p:nvSpPr>
          <p:cNvPr id="15" name="Text 13"/>
          <p:cNvSpPr txBox="1"/>
          <p:nvPr/>
        </p:nvSpPr>
        <p:spPr>
          <a:xfrm>
            <a:off x="777240" y="4069080"/>
            <a:ext cx="3108960" cy="274320"/>
          </a:xfrm>
          <a:prstGeom prst="rect">
            <a:avLst/>
          </a:prstGeom>
          <a:noFill/>
          <a:ln/>
        </p:spPr>
        <p:txBody>
          <a:bodyPr wrap="square" lIns="0" tIns="0" rIns="0" bIns="0" rtlCol="0" anchor="t"/>
          <a:lstStyle/>
          <a:p>
            <a:pPr indent="0" marL="0">
              <a:buNone/>
            </a:pPr>
            <a:r>
              <a:rPr lang="en-US" sz="950" dirty="0">
                <a:solidFill>
                  <a:srgbClr val="5A6470"/>
                </a:solidFill>
                <a:latin typeface="Meiryo" pitchFamily="34" charset="0"/>
                <a:ea typeface="Meiryo" pitchFamily="34" charset="-122"/>
                <a:cs typeface="Meiryo" pitchFamily="34" charset="-120"/>
              </a:rPr>
              <a:t>出どころ：はじめの相談</a:t>
            </a:r>
            <a:endParaRPr lang="en-US" sz="950" dirty="0"/>
          </a:p>
        </p:txBody>
      </p:sp>
      <p:sp>
        <p:nvSpPr>
          <p:cNvPr id="16" name="Shape 14"/>
          <p:cNvSpPr/>
          <p:nvPr/>
        </p:nvSpPr>
        <p:spPr>
          <a:xfrm>
            <a:off x="4315968" y="1325880"/>
            <a:ext cx="3566160" cy="32004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7" name="Text 15"/>
          <p:cNvSpPr txBox="1"/>
          <p:nvPr/>
        </p:nvSpPr>
        <p:spPr>
          <a:xfrm>
            <a:off x="4544568" y="1463040"/>
            <a:ext cx="1828800" cy="274320"/>
          </a:xfrm>
          <a:prstGeom prst="rect">
            <a:avLst/>
          </a:prstGeom>
          <a:noFill/>
          <a:ln/>
        </p:spPr>
        <p:txBody>
          <a:bodyPr wrap="square" lIns="0" tIns="0" rIns="0" bIns="0" rtlCol="0" anchor="t"/>
          <a:lstStyle/>
          <a:p>
            <a:pPr indent="0" marL="0">
              <a:buNone/>
            </a:pPr>
            <a:r>
              <a:rPr lang="en-US" sz="1100" b="1" dirty="0">
                <a:solidFill>
                  <a:srgbClr val="E60012"/>
                </a:solidFill>
                <a:latin typeface="Meiryo" pitchFamily="34" charset="0"/>
                <a:ea typeface="Meiryo" pitchFamily="34" charset="-122"/>
                <a:cs typeface="Meiryo" pitchFamily="34" charset="-120"/>
              </a:rPr>
              <a:t>要求 2</a:t>
            </a:r>
            <a:endParaRPr lang="en-US" sz="1100" dirty="0"/>
          </a:p>
        </p:txBody>
      </p:sp>
      <p:sp>
        <p:nvSpPr>
          <p:cNvPr id="18" name="Text 16"/>
          <p:cNvSpPr txBox="1"/>
          <p:nvPr/>
        </p:nvSpPr>
        <p:spPr>
          <a:xfrm>
            <a:off x="4544568" y="1783080"/>
            <a:ext cx="3108960" cy="868680"/>
          </a:xfrm>
          <a:prstGeom prst="rect">
            <a:avLst/>
          </a:prstGeom>
          <a:noFill/>
          <a:ln/>
        </p:spPr>
        <p:txBody>
          <a:bodyPr wrap="square" lIns="0" tIns="0" rIns="0" bIns="0" rtlCol="0" anchor="t"/>
          <a:lstStyle/>
          <a:p>
            <a:pPr indent="0" marL="0">
              <a:buNone/>
            </a:pPr>
            <a:r>
              <a:rPr lang="en-US" sz="1900" b="1" dirty="0">
                <a:solidFill>
                  <a:srgbClr val="1E2126"/>
                </a:solidFill>
                <a:latin typeface="Meiryo" pitchFamily="34" charset="0"/>
                <a:ea typeface="Meiryo" pitchFamily="34" charset="-122"/>
                <a:cs typeface="Meiryo" pitchFamily="34" charset="-120"/>
              </a:rPr>
              <a:t>確認のし直し・ライン停止を減らす</a:t>
            </a:r>
            <a:endParaRPr lang="en-US" sz="1900" dirty="0"/>
          </a:p>
        </p:txBody>
      </p:sp>
      <p:sp>
        <p:nvSpPr>
          <p:cNvPr id="19" name="Text 17"/>
          <p:cNvSpPr txBox="1"/>
          <p:nvPr/>
        </p:nvSpPr>
        <p:spPr>
          <a:xfrm>
            <a:off x="4544568" y="2697480"/>
            <a:ext cx="3108960" cy="1097280"/>
          </a:xfrm>
          <a:prstGeom prst="rect">
            <a:avLst/>
          </a:prstGeom>
          <a:noFill/>
          <a:ln/>
        </p:spPr>
        <p:txBody>
          <a:bodyPr wrap="square" lIns="0" tIns="0" rIns="0" bIns="0" rtlCol="0" anchor="t"/>
          <a:lstStyle/>
          <a:p>
            <a:pPr indent="0" marL="0">
              <a:buNone/>
            </a:pPr>
            <a:r>
              <a:rPr lang="en-US" sz="1250" dirty="0">
                <a:solidFill>
                  <a:srgbClr val="5A6470"/>
                </a:solidFill>
                <a:latin typeface="Meiryo" pitchFamily="34" charset="0"/>
                <a:ea typeface="Meiryo" pitchFamily="34" charset="-122"/>
                <a:cs typeface="Meiryo" pitchFamily="34" charset="-120"/>
              </a:rPr>
              <a:t>品質管理の負担を減らす</a:t>
            </a:r>
            <a:endParaRPr lang="en-US" sz="1250" dirty="0"/>
          </a:p>
        </p:txBody>
      </p:sp>
      <p:sp>
        <p:nvSpPr>
          <p:cNvPr id="20" name="Text 18"/>
          <p:cNvSpPr txBox="1"/>
          <p:nvPr/>
        </p:nvSpPr>
        <p:spPr>
          <a:xfrm>
            <a:off x="4544568" y="4069080"/>
            <a:ext cx="3108960" cy="274320"/>
          </a:xfrm>
          <a:prstGeom prst="rect">
            <a:avLst/>
          </a:prstGeom>
          <a:noFill/>
          <a:ln/>
        </p:spPr>
        <p:txBody>
          <a:bodyPr wrap="square" lIns="0" tIns="0" rIns="0" bIns="0" rtlCol="0" anchor="t"/>
          <a:lstStyle/>
          <a:p>
            <a:pPr indent="0" marL="0">
              <a:buNone/>
            </a:pPr>
            <a:r>
              <a:rPr lang="en-US" sz="950" dirty="0">
                <a:solidFill>
                  <a:srgbClr val="5A6470"/>
                </a:solidFill>
                <a:latin typeface="Meiryo" pitchFamily="34" charset="0"/>
                <a:ea typeface="Meiryo" pitchFamily="34" charset="-122"/>
                <a:cs typeface="Meiryo" pitchFamily="34" charset="-120"/>
              </a:rPr>
              <a:t>出どころ：高橋さんの答え</a:t>
            </a:r>
            <a:endParaRPr lang="en-US" sz="950" dirty="0"/>
          </a:p>
        </p:txBody>
      </p:sp>
      <p:sp>
        <p:nvSpPr>
          <p:cNvPr id="21" name="Shape 19"/>
          <p:cNvSpPr/>
          <p:nvPr/>
        </p:nvSpPr>
        <p:spPr>
          <a:xfrm>
            <a:off x="8083296" y="1325880"/>
            <a:ext cx="3566160" cy="320040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22" name="Text 20"/>
          <p:cNvSpPr txBox="1"/>
          <p:nvPr/>
        </p:nvSpPr>
        <p:spPr>
          <a:xfrm>
            <a:off x="8311896" y="1463040"/>
            <a:ext cx="1828800" cy="274320"/>
          </a:xfrm>
          <a:prstGeom prst="rect">
            <a:avLst/>
          </a:prstGeom>
          <a:noFill/>
          <a:ln/>
        </p:spPr>
        <p:txBody>
          <a:bodyPr wrap="square" lIns="0" tIns="0" rIns="0" bIns="0" rtlCol="0" anchor="t"/>
          <a:lstStyle/>
          <a:p>
            <a:pPr indent="0" marL="0">
              <a:buNone/>
            </a:pPr>
            <a:r>
              <a:rPr lang="en-US" sz="1100" b="1" dirty="0">
                <a:solidFill>
                  <a:srgbClr val="E60012"/>
                </a:solidFill>
                <a:latin typeface="Meiryo" pitchFamily="34" charset="0"/>
                <a:ea typeface="Meiryo" pitchFamily="34" charset="-122"/>
                <a:cs typeface="Meiryo" pitchFamily="34" charset="-120"/>
              </a:rPr>
              <a:t>要求 3</a:t>
            </a:r>
            <a:endParaRPr lang="en-US" sz="1100" dirty="0"/>
          </a:p>
        </p:txBody>
      </p:sp>
      <p:sp>
        <p:nvSpPr>
          <p:cNvPr id="23" name="Text 21"/>
          <p:cNvSpPr txBox="1"/>
          <p:nvPr/>
        </p:nvSpPr>
        <p:spPr>
          <a:xfrm>
            <a:off x="8311896" y="1783080"/>
            <a:ext cx="3108960" cy="868680"/>
          </a:xfrm>
          <a:prstGeom prst="rect">
            <a:avLst/>
          </a:prstGeom>
          <a:noFill/>
          <a:ln/>
        </p:spPr>
        <p:txBody>
          <a:bodyPr wrap="square" lIns="0" tIns="0" rIns="0" bIns="0" rtlCol="0" anchor="t"/>
          <a:lstStyle/>
          <a:p>
            <a:pPr indent="0" marL="0">
              <a:buNone/>
            </a:pPr>
            <a:r>
              <a:rPr lang="en-US" sz="1900" b="1" dirty="0">
                <a:solidFill>
                  <a:srgbClr val="1E2126"/>
                </a:solidFill>
                <a:latin typeface="Meiryo" pitchFamily="34" charset="0"/>
                <a:ea typeface="Meiryo" pitchFamily="34" charset="-122"/>
                <a:cs typeface="Meiryo" pitchFamily="34" charset="-120"/>
              </a:rPr>
              <a:t>生産を止めずに改善する</a:t>
            </a:r>
            <a:endParaRPr lang="en-US" sz="1900" dirty="0"/>
          </a:p>
        </p:txBody>
      </p:sp>
      <p:sp>
        <p:nvSpPr>
          <p:cNvPr id="24" name="Text 22"/>
          <p:cNvSpPr txBox="1"/>
          <p:nvPr/>
        </p:nvSpPr>
        <p:spPr>
          <a:xfrm>
            <a:off x="8311896" y="2697480"/>
            <a:ext cx="3108960" cy="1097280"/>
          </a:xfrm>
          <a:prstGeom prst="rect">
            <a:avLst/>
          </a:prstGeom>
          <a:noFill/>
          <a:ln/>
        </p:spPr>
        <p:txBody>
          <a:bodyPr wrap="square" lIns="0" tIns="0" rIns="0" bIns="0" rtlCol="0" anchor="t"/>
          <a:lstStyle/>
          <a:p>
            <a:pPr indent="0" marL="0">
              <a:buNone/>
            </a:pPr>
            <a:r>
              <a:rPr lang="en-US" sz="1250" dirty="0">
                <a:solidFill>
                  <a:srgbClr val="5A6470"/>
                </a:solidFill>
                <a:latin typeface="Meiryo" pitchFamily="34" charset="0"/>
                <a:ea typeface="Meiryo" pitchFamily="34" charset="-122"/>
                <a:cs typeface="Meiryo" pitchFamily="34" charset="-120"/>
              </a:rPr>
              <a:t>速度は落とせない。人の作業は増やしたくない。直らない交換は困る</a:t>
            </a:r>
            <a:endParaRPr lang="en-US" sz="1250" dirty="0"/>
          </a:p>
        </p:txBody>
      </p:sp>
      <p:sp>
        <p:nvSpPr>
          <p:cNvPr id="25" name="Text 23"/>
          <p:cNvSpPr txBox="1"/>
          <p:nvPr/>
        </p:nvSpPr>
        <p:spPr>
          <a:xfrm>
            <a:off x="8311896" y="4069080"/>
            <a:ext cx="3108960" cy="274320"/>
          </a:xfrm>
          <a:prstGeom prst="rect">
            <a:avLst/>
          </a:prstGeom>
          <a:noFill/>
          <a:ln/>
        </p:spPr>
        <p:txBody>
          <a:bodyPr wrap="square" lIns="0" tIns="0" rIns="0" bIns="0" rtlCol="0" anchor="t"/>
          <a:lstStyle/>
          <a:p>
            <a:pPr indent="0" marL="0">
              <a:buNone/>
            </a:pPr>
            <a:r>
              <a:rPr lang="en-US" sz="950" dirty="0">
                <a:solidFill>
                  <a:srgbClr val="5A6470"/>
                </a:solidFill>
                <a:latin typeface="Meiryo" pitchFamily="34" charset="0"/>
                <a:ea typeface="Meiryo" pitchFamily="34" charset="-122"/>
                <a:cs typeface="Meiryo" pitchFamily="34" charset="-120"/>
              </a:rPr>
              <a:t>出どころ：問い3などへの反応</a:t>
            </a:r>
            <a:endParaRPr lang="en-US" sz="950" dirty="0"/>
          </a:p>
        </p:txBody>
      </p:sp>
      <p:sp>
        <p:nvSpPr>
          <p:cNvPr id="26" name="Shape 24"/>
          <p:cNvSpPr/>
          <p:nvPr/>
        </p:nvSpPr>
        <p:spPr>
          <a:xfrm>
            <a:off x="548640" y="4846320"/>
            <a:ext cx="11094415" cy="914400"/>
          </a:xfrm>
          <a:prstGeom prst="rect">
            <a:avLst/>
          </a:prstGeom>
          <a:solidFill>
            <a:srgbClr val="141517"/>
          </a:solidFill>
          <a:ln/>
        </p:spPr>
      </p:sp>
      <p:sp>
        <p:nvSpPr>
          <p:cNvPr id="27" name="Text 25"/>
          <p:cNvSpPr txBox="1"/>
          <p:nvPr/>
        </p:nvSpPr>
        <p:spPr>
          <a:xfrm>
            <a:off x="548640" y="4846320"/>
            <a:ext cx="11094415" cy="914400"/>
          </a:xfrm>
          <a:prstGeom prst="rect">
            <a:avLst/>
          </a:prstGeom>
          <a:noFill/>
          <a:ln/>
        </p:spPr>
        <p:txBody>
          <a:bodyPr wrap="square" lIns="0" tIns="0" rIns="0" bIns="0" rtlCol="0" anchor="ctr"/>
          <a:lstStyle/>
          <a:p>
            <a:pPr algn="ctr" indent="0" marL="0">
              <a:buNone/>
            </a:pPr>
            <a:r>
              <a:rPr lang="en-US" sz="2300" b="1" dirty="0">
                <a:solidFill>
                  <a:srgbClr val="FFFFFF"/>
                </a:solidFill>
                <a:latin typeface="Meiryo" pitchFamily="34" charset="0"/>
                <a:ea typeface="Meiryo" pitchFamily="34" charset="-122"/>
                <a:cs typeface="Meiryo" pitchFamily="34" charset="-120"/>
              </a:rPr>
              <a:t>欲しいのは、新しいセンサではなく「安定した生産」</a:t>
            </a:r>
            <a:endParaRPr lang="en-US" sz="23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flipH="1">
            <a:off x="9052560" y="0"/>
            <a:ext cx="1463040" cy="6858000"/>
          </a:xfrm>
          <a:prstGeom prst="rtTriangle">
            <a:avLst/>
          </a:prstGeom>
          <a:solidFill>
            <a:srgbClr val="E60012"/>
          </a:solidFill>
          <a:ln/>
        </p:spPr>
      </p:sp>
      <p:sp>
        <p:nvSpPr>
          <p:cNvPr id="3" name="Shape 1"/>
          <p:cNvSpPr/>
          <p:nvPr/>
        </p:nvSpPr>
        <p:spPr>
          <a:xfrm>
            <a:off x="10515600" y="0"/>
            <a:ext cx="1676095" cy="6858000"/>
          </a:xfrm>
          <a:prstGeom prst="rect">
            <a:avLst/>
          </a:prstGeom>
          <a:solidFill>
            <a:srgbClr val="E60012"/>
          </a:solidFill>
          <a:ln/>
        </p:spPr>
      </p:sp>
      <p:sp>
        <p:nvSpPr>
          <p:cNvPr id="4" name="Text 2"/>
          <p:cNvSpPr txBox="1"/>
          <p:nvPr/>
        </p:nvSpPr>
        <p:spPr>
          <a:xfrm>
            <a:off x="548640" y="1920240"/>
            <a:ext cx="7315200"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PHASE 5 / 6　｜　40〜53分</a:t>
            </a:r>
            <a:endParaRPr lang="en-US" sz="1400" dirty="0"/>
          </a:p>
        </p:txBody>
      </p:sp>
      <p:sp>
        <p:nvSpPr>
          <p:cNvPr id="5" name="Text 3"/>
          <p:cNvSpPr txBox="1"/>
          <p:nvPr/>
        </p:nvSpPr>
        <p:spPr>
          <a:xfrm>
            <a:off x="548640" y="2377440"/>
            <a:ext cx="8229600" cy="1005840"/>
          </a:xfrm>
          <a:prstGeom prst="rect">
            <a:avLst/>
          </a:prstGeom>
          <a:noFill/>
          <a:ln/>
        </p:spPr>
        <p:txBody>
          <a:bodyPr wrap="square" lIns="0" tIns="0" rIns="0" bIns="0" rtlCol="0" anchor="t"/>
          <a:lstStyle/>
          <a:p>
            <a:pPr indent="0" marL="0">
              <a:buNone/>
            </a:pPr>
            <a:r>
              <a:rPr lang="en-US" sz="6000" b="1" dirty="0">
                <a:solidFill>
                  <a:srgbClr val="E60012"/>
                </a:solidFill>
                <a:latin typeface="Arial Black" pitchFamily="34" charset="0"/>
                <a:ea typeface="Arial Black" pitchFamily="34" charset="-122"/>
                <a:cs typeface="Arial Black" pitchFamily="34" charset="-120"/>
              </a:rPr>
              <a:t>PROPOSAL</a:t>
            </a:r>
            <a:endParaRPr lang="en-US" sz="6000" dirty="0"/>
          </a:p>
        </p:txBody>
      </p:sp>
      <p:sp>
        <p:nvSpPr>
          <p:cNvPr id="6" name="Text 4"/>
          <p:cNvSpPr txBox="1"/>
          <p:nvPr/>
        </p:nvSpPr>
        <p:spPr>
          <a:xfrm>
            <a:off x="548640" y="3429000"/>
            <a:ext cx="8229600" cy="640080"/>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提案する</a:t>
            </a:r>
            <a:endParaRPr lang="en-US" sz="3000" dirty="0"/>
          </a:p>
        </p:txBody>
      </p:sp>
      <p:sp>
        <p:nvSpPr>
          <p:cNvPr id="7" name="Text 5"/>
          <p:cNvSpPr txBox="1"/>
          <p:nvPr/>
        </p:nvSpPr>
        <p:spPr>
          <a:xfrm>
            <a:off x="548640" y="4160520"/>
            <a:ext cx="8229600" cy="457200"/>
          </a:xfrm>
          <a:prstGeom prst="rect">
            <a:avLst/>
          </a:prstGeom>
          <a:noFill/>
          <a:ln/>
        </p:spPr>
        <p:txBody>
          <a:bodyPr wrap="square" lIns="0" tIns="0" rIns="0" bIns="0" rtlCol="0" anchor="t"/>
          <a:lstStyle/>
          <a:p>
            <a:pPr indent="0" marL="0">
              <a:buNone/>
            </a:pPr>
            <a:r>
              <a:rPr lang="en-US" sz="1700" dirty="0">
                <a:solidFill>
                  <a:srgbClr val="C9CED4"/>
                </a:solidFill>
                <a:latin typeface="Meiryo" pitchFamily="34" charset="0"/>
                <a:ea typeface="Meiryo" pitchFamily="34" charset="-122"/>
                <a:cs typeface="Meiryo" pitchFamily="34" charset="-120"/>
              </a:rPr>
              <a:t>自分の言葉で提案し、お客様の反応を得る</a:t>
            </a:r>
            <a:endParaRPr lang="en-US" sz="17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提案する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提案は、6つのステップで組み立てる</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737360"/>
            <a:ext cx="1734769" cy="2377440"/>
          </a:xfrm>
          <a:prstGeom prst="rect">
            <a:avLst/>
          </a:prstGeom>
          <a:solidFill>
            <a:srgbClr val="FFFFFF"/>
          </a:solidFill>
          <a:ln w="12700">
            <a:solidFill>
              <a:srgbClr val="D5D9DE"/>
            </a:solidFill>
            <a:prstDash val="solid"/>
          </a:ln>
        </p:spPr>
      </p:sp>
      <p:sp>
        <p:nvSpPr>
          <p:cNvPr id="12" name="Text 10"/>
          <p:cNvSpPr txBox="1"/>
          <p:nvPr/>
        </p:nvSpPr>
        <p:spPr>
          <a:xfrm>
            <a:off x="731520" y="1874520"/>
            <a:ext cx="914400" cy="548640"/>
          </a:xfrm>
          <a:prstGeom prst="rect">
            <a:avLst/>
          </a:prstGeom>
          <a:noFill/>
          <a:ln/>
        </p:spPr>
        <p:txBody>
          <a:bodyPr wrap="square" lIns="0" tIns="0" rIns="0" bIns="0" rtlCol="0" anchor="t"/>
          <a:lstStyle/>
          <a:p>
            <a:pPr indent="0" marL="0">
              <a:buNone/>
            </a:pPr>
            <a:r>
              <a:rPr lang="en-US" sz="3000" b="1" dirty="0">
                <a:solidFill>
                  <a:srgbClr val="5A6470"/>
                </a:solidFill>
                <a:latin typeface="Meiryo" pitchFamily="34" charset="0"/>
                <a:ea typeface="Meiryo" pitchFamily="34" charset="-122"/>
                <a:cs typeface="Meiryo" pitchFamily="34" charset="-120"/>
              </a:rPr>
              <a:t>1</a:t>
            </a:r>
            <a:endParaRPr lang="en-US" sz="3000" dirty="0"/>
          </a:p>
        </p:txBody>
      </p:sp>
      <p:sp>
        <p:nvSpPr>
          <p:cNvPr id="13" name="Text 11"/>
          <p:cNvSpPr txBox="1"/>
          <p:nvPr/>
        </p:nvSpPr>
        <p:spPr>
          <a:xfrm>
            <a:off x="731520" y="2560320"/>
            <a:ext cx="1414729" cy="1371600"/>
          </a:xfrm>
          <a:prstGeom prst="rect">
            <a:avLst/>
          </a:prstGeom>
          <a:noFill/>
          <a:ln/>
        </p:spPr>
        <p:txBody>
          <a:bodyPr wrap="square" lIns="0" tIns="0" rIns="0" bIns="0" rtlCol="0" anchor="t"/>
          <a:lstStyle/>
          <a:p>
            <a:pPr indent="0" marL="0">
              <a:buNone/>
            </a:pPr>
            <a:r>
              <a:rPr lang="en-US" sz="1450" b="1" dirty="0">
                <a:solidFill>
                  <a:srgbClr val="5A6470"/>
                </a:solidFill>
                <a:latin typeface="Meiryo" pitchFamily="34" charset="0"/>
                <a:ea typeface="Meiryo" pitchFamily="34" charset="-122"/>
                <a:cs typeface="Meiryo" pitchFamily="34" charset="-120"/>
              </a:rPr>
              <a:t>お客様の要求を確認する</a:t>
            </a:r>
            <a:endParaRPr lang="en-US" sz="1450" dirty="0"/>
          </a:p>
        </p:txBody>
      </p:sp>
      <p:sp>
        <p:nvSpPr>
          <p:cNvPr id="14" name="Shape 12"/>
          <p:cNvSpPr/>
          <p:nvPr/>
        </p:nvSpPr>
        <p:spPr>
          <a:xfrm>
            <a:off x="1597609" y="1938528"/>
            <a:ext cx="530352" cy="256032"/>
          </a:xfrm>
          <a:prstGeom prst="rect">
            <a:avLst/>
          </a:prstGeom>
          <a:solidFill>
            <a:srgbClr val="5A6470"/>
          </a:solidFill>
          <a:ln/>
        </p:spPr>
      </p:sp>
      <p:sp>
        <p:nvSpPr>
          <p:cNvPr id="15" name="Text 13"/>
          <p:cNvSpPr txBox="1"/>
          <p:nvPr/>
        </p:nvSpPr>
        <p:spPr>
          <a:xfrm>
            <a:off x="1597609" y="1938528"/>
            <a:ext cx="53035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完了</a:t>
            </a:r>
            <a:endParaRPr lang="en-US" sz="900" dirty="0"/>
          </a:p>
        </p:txBody>
      </p:sp>
      <p:sp>
        <p:nvSpPr>
          <p:cNvPr id="16" name="Shape 14"/>
          <p:cNvSpPr/>
          <p:nvPr/>
        </p:nvSpPr>
        <p:spPr>
          <a:xfrm>
            <a:off x="2420569" y="1737360"/>
            <a:ext cx="1734769" cy="2377440"/>
          </a:xfrm>
          <a:prstGeom prst="rect">
            <a:avLst/>
          </a:prstGeom>
          <a:solidFill>
            <a:srgbClr val="FFFFFF"/>
          </a:solidFill>
          <a:ln w="12700">
            <a:solidFill>
              <a:srgbClr val="D5D9DE"/>
            </a:solidFill>
            <a:prstDash val="solid"/>
          </a:ln>
        </p:spPr>
      </p:sp>
      <p:sp>
        <p:nvSpPr>
          <p:cNvPr id="17" name="Text 15"/>
          <p:cNvSpPr txBox="1"/>
          <p:nvPr/>
        </p:nvSpPr>
        <p:spPr>
          <a:xfrm>
            <a:off x="2603449" y="1874520"/>
            <a:ext cx="914400" cy="548640"/>
          </a:xfrm>
          <a:prstGeom prst="rect">
            <a:avLst/>
          </a:prstGeom>
          <a:noFill/>
          <a:ln/>
        </p:spPr>
        <p:txBody>
          <a:bodyPr wrap="square" lIns="0" tIns="0" rIns="0" bIns="0" rtlCol="0" anchor="t"/>
          <a:lstStyle/>
          <a:p>
            <a:pPr indent="0" marL="0">
              <a:buNone/>
            </a:pPr>
            <a:r>
              <a:rPr lang="en-US" sz="3000" b="1" dirty="0">
                <a:solidFill>
                  <a:srgbClr val="5A6470"/>
                </a:solidFill>
                <a:latin typeface="Meiryo" pitchFamily="34" charset="0"/>
                <a:ea typeface="Meiryo" pitchFamily="34" charset="-122"/>
                <a:cs typeface="Meiryo" pitchFamily="34" charset="-120"/>
              </a:rPr>
              <a:t>2</a:t>
            </a:r>
            <a:endParaRPr lang="en-US" sz="3000" dirty="0"/>
          </a:p>
        </p:txBody>
      </p:sp>
      <p:sp>
        <p:nvSpPr>
          <p:cNvPr id="18" name="Text 16"/>
          <p:cNvSpPr txBox="1"/>
          <p:nvPr/>
        </p:nvSpPr>
        <p:spPr>
          <a:xfrm>
            <a:off x="2603449" y="2560320"/>
            <a:ext cx="1414729" cy="1371600"/>
          </a:xfrm>
          <a:prstGeom prst="rect">
            <a:avLst/>
          </a:prstGeom>
          <a:noFill/>
          <a:ln/>
        </p:spPr>
        <p:txBody>
          <a:bodyPr wrap="square" lIns="0" tIns="0" rIns="0" bIns="0" rtlCol="0" anchor="t"/>
          <a:lstStyle/>
          <a:p>
            <a:pPr indent="0" marL="0">
              <a:buNone/>
            </a:pPr>
            <a:r>
              <a:rPr lang="en-US" sz="1450" b="1" dirty="0">
                <a:solidFill>
                  <a:srgbClr val="5A6470"/>
                </a:solidFill>
                <a:latin typeface="Meiryo" pitchFamily="34" charset="0"/>
                <a:ea typeface="Meiryo" pitchFamily="34" charset="-122"/>
                <a:cs typeface="Meiryo" pitchFamily="34" charset="-120"/>
              </a:rPr>
              <a:t>誤カウントが起きる条件を整理する</a:t>
            </a:r>
            <a:endParaRPr lang="en-US" sz="1450" dirty="0"/>
          </a:p>
        </p:txBody>
      </p:sp>
      <p:sp>
        <p:nvSpPr>
          <p:cNvPr id="19" name="Shape 17"/>
          <p:cNvSpPr/>
          <p:nvPr/>
        </p:nvSpPr>
        <p:spPr>
          <a:xfrm>
            <a:off x="3469538" y="1938528"/>
            <a:ext cx="530352" cy="256032"/>
          </a:xfrm>
          <a:prstGeom prst="rect">
            <a:avLst/>
          </a:prstGeom>
          <a:solidFill>
            <a:srgbClr val="5A6470"/>
          </a:solidFill>
          <a:ln/>
        </p:spPr>
      </p:sp>
      <p:sp>
        <p:nvSpPr>
          <p:cNvPr id="20" name="Text 18"/>
          <p:cNvSpPr txBox="1"/>
          <p:nvPr/>
        </p:nvSpPr>
        <p:spPr>
          <a:xfrm>
            <a:off x="3469538" y="1938528"/>
            <a:ext cx="53035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完了</a:t>
            </a:r>
            <a:endParaRPr lang="en-US" sz="900" dirty="0"/>
          </a:p>
        </p:txBody>
      </p:sp>
      <p:sp>
        <p:nvSpPr>
          <p:cNvPr id="21" name="Shape 19"/>
          <p:cNvSpPr/>
          <p:nvPr/>
        </p:nvSpPr>
        <p:spPr>
          <a:xfrm>
            <a:off x="4292498" y="1737360"/>
            <a:ext cx="1734769" cy="2377440"/>
          </a:xfrm>
          <a:prstGeom prst="rect">
            <a:avLst/>
          </a:prstGeom>
          <a:solidFill>
            <a:srgbClr val="FFFFFF"/>
          </a:solidFill>
          <a:ln w="12700">
            <a:solidFill>
              <a:srgbClr val="D5D9DE"/>
            </a:solidFill>
            <a:prstDash val="solid"/>
          </a:ln>
        </p:spPr>
      </p:sp>
      <p:sp>
        <p:nvSpPr>
          <p:cNvPr id="22" name="Text 20"/>
          <p:cNvSpPr txBox="1"/>
          <p:nvPr/>
        </p:nvSpPr>
        <p:spPr>
          <a:xfrm>
            <a:off x="4475378" y="1874520"/>
            <a:ext cx="914400" cy="548640"/>
          </a:xfrm>
          <a:prstGeom prst="rect">
            <a:avLst/>
          </a:prstGeom>
          <a:noFill/>
          <a:ln/>
        </p:spPr>
        <p:txBody>
          <a:bodyPr wrap="square" lIns="0" tIns="0" rIns="0" bIns="0" rtlCol="0" anchor="t"/>
          <a:lstStyle/>
          <a:p>
            <a:pPr indent="0" marL="0">
              <a:buNone/>
            </a:pPr>
            <a:r>
              <a:rPr lang="en-US" sz="3000" b="1" dirty="0">
                <a:solidFill>
                  <a:srgbClr val="5A6470"/>
                </a:solidFill>
                <a:latin typeface="Meiryo" pitchFamily="34" charset="0"/>
                <a:ea typeface="Meiryo" pitchFamily="34" charset="-122"/>
                <a:cs typeface="Meiryo" pitchFamily="34" charset="-120"/>
              </a:rPr>
              <a:t>3</a:t>
            </a:r>
            <a:endParaRPr lang="en-US" sz="3000" dirty="0"/>
          </a:p>
        </p:txBody>
      </p:sp>
      <p:sp>
        <p:nvSpPr>
          <p:cNvPr id="23" name="Text 21"/>
          <p:cNvSpPr txBox="1"/>
          <p:nvPr/>
        </p:nvSpPr>
        <p:spPr>
          <a:xfrm>
            <a:off x="4475378" y="2560320"/>
            <a:ext cx="1414729" cy="1371600"/>
          </a:xfrm>
          <a:prstGeom prst="rect">
            <a:avLst/>
          </a:prstGeom>
          <a:noFill/>
          <a:ln/>
        </p:spPr>
        <p:txBody>
          <a:bodyPr wrap="square" lIns="0" tIns="0" rIns="0" bIns="0" rtlCol="0" anchor="t"/>
          <a:lstStyle/>
          <a:p>
            <a:pPr indent="0" marL="0">
              <a:buNone/>
            </a:pPr>
            <a:r>
              <a:rPr lang="en-US" sz="1450" b="1" dirty="0">
                <a:solidFill>
                  <a:srgbClr val="5A6470"/>
                </a:solidFill>
                <a:latin typeface="Meiryo" pitchFamily="34" charset="0"/>
                <a:ea typeface="Meiryo" pitchFamily="34" charset="-122"/>
                <a:cs typeface="Meiryo" pitchFamily="34" charset="-120"/>
              </a:rPr>
              <a:t>今の検出方法で起き得る問題を理解する</a:t>
            </a:r>
            <a:endParaRPr lang="en-US" sz="1450" dirty="0"/>
          </a:p>
        </p:txBody>
      </p:sp>
      <p:sp>
        <p:nvSpPr>
          <p:cNvPr id="24" name="Shape 22"/>
          <p:cNvSpPr/>
          <p:nvPr/>
        </p:nvSpPr>
        <p:spPr>
          <a:xfrm>
            <a:off x="5341468" y="1938528"/>
            <a:ext cx="530352" cy="256032"/>
          </a:xfrm>
          <a:prstGeom prst="rect">
            <a:avLst/>
          </a:prstGeom>
          <a:solidFill>
            <a:srgbClr val="5A6470"/>
          </a:solidFill>
          <a:ln/>
        </p:spPr>
      </p:sp>
      <p:sp>
        <p:nvSpPr>
          <p:cNvPr id="25" name="Text 23"/>
          <p:cNvSpPr txBox="1"/>
          <p:nvPr/>
        </p:nvSpPr>
        <p:spPr>
          <a:xfrm>
            <a:off x="5341468" y="1938528"/>
            <a:ext cx="53035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完了</a:t>
            </a:r>
            <a:endParaRPr lang="en-US" sz="900" dirty="0"/>
          </a:p>
        </p:txBody>
      </p:sp>
      <p:sp>
        <p:nvSpPr>
          <p:cNvPr id="26" name="Shape 24"/>
          <p:cNvSpPr/>
          <p:nvPr/>
        </p:nvSpPr>
        <p:spPr>
          <a:xfrm>
            <a:off x="6164428" y="1737360"/>
            <a:ext cx="1734769" cy="2377440"/>
          </a:xfrm>
          <a:prstGeom prst="rect">
            <a:avLst/>
          </a:prstGeom>
          <a:solidFill>
            <a:srgbClr val="E60012"/>
          </a:solidFill>
          <a:ln/>
        </p:spPr>
      </p:sp>
      <p:sp>
        <p:nvSpPr>
          <p:cNvPr id="27" name="Text 25"/>
          <p:cNvSpPr txBox="1"/>
          <p:nvPr/>
        </p:nvSpPr>
        <p:spPr>
          <a:xfrm>
            <a:off x="6347308" y="1874520"/>
            <a:ext cx="914400" cy="548640"/>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4</a:t>
            </a:r>
            <a:endParaRPr lang="en-US" sz="3000" dirty="0"/>
          </a:p>
        </p:txBody>
      </p:sp>
      <p:sp>
        <p:nvSpPr>
          <p:cNvPr id="28" name="Text 26"/>
          <p:cNvSpPr txBox="1"/>
          <p:nvPr/>
        </p:nvSpPr>
        <p:spPr>
          <a:xfrm>
            <a:off x="6347308" y="2560320"/>
            <a:ext cx="1414729" cy="1371600"/>
          </a:xfrm>
          <a:prstGeom prst="rect">
            <a:avLst/>
          </a:prstGeom>
          <a:noFill/>
          <a:ln/>
        </p:spPr>
        <p:txBody>
          <a:bodyPr wrap="square" lIns="0" tIns="0" rIns="0" bIns="0" rtlCol="0" anchor="t"/>
          <a:lstStyle/>
          <a:p>
            <a:pPr indent="0" marL="0">
              <a:buNone/>
            </a:pPr>
            <a:r>
              <a:rPr lang="en-US" sz="1450" b="1" dirty="0">
                <a:solidFill>
                  <a:srgbClr val="FFFFFF"/>
                </a:solidFill>
                <a:latin typeface="Meiryo" pitchFamily="34" charset="0"/>
                <a:ea typeface="Meiryo" pitchFamily="34" charset="-122"/>
                <a:cs typeface="Meiryo" pitchFamily="34" charset="-120"/>
              </a:rPr>
              <a:t>候補の技術を紹介する</a:t>
            </a:r>
            <a:endParaRPr lang="en-US" sz="1450" dirty="0"/>
          </a:p>
        </p:txBody>
      </p:sp>
      <p:sp>
        <p:nvSpPr>
          <p:cNvPr id="29" name="Shape 27"/>
          <p:cNvSpPr/>
          <p:nvPr/>
        </p:nvSpPr>
        <p:spPr>
          <a:xfrm>
            <a:off x="8036357" y="1737360"/>
            <a:ext cx="1734769" cy="2377440"/>
          </a:xfrm>
          <a:prstGeom prst="rect">
            <a:avLst/>
          </a:prstGeom>
          <a:solidFill>
            <a:srgbClr val="141517"/>
          </a:solidFill>
          <a:ln/>
        </p:spPr>
      </p:sp>
      <p:sp>
        <p:nvSpPr>
          <p:cNvPr id="30" name="Text 28"/>
          <p:cNvSpPr txBox="1"/>
          <p:nvPr/>
        </p:nvSpPr>
        <p:spPr>
          <a:xfrm>
            <a:off x="8219237" y="1874520"/>
            <a:ext cx="914400" cy="548640"/>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5</a:t>
            </a:r>
            <a:endParaRPr lang="en-US" sz="3000" dirty="0"/>
          </a:p>
        </p:txBody>
      </p:sp>
      <p:sp>
        <p:nvSpPr>
          <p:cNvPr id="31" name="Text 29"/>
          <p:cNvSpPr txBox="1"/>
          <p:nvPr/>
        </p:nvSpPr>
        <p:spPr>
          <a:xfrm>
            <a:off x="8219237" y="2560320"/>
            <a:ext cx="1414729" cy="1371600"/>
          </a:xfrm>
          <a:prstGeom prst="rect">
            <a:avLst/>
          </a:prstGeom>
          <a:noFill/>
          <a:ln/>
        </p:spPr>
        <p:txBody>
          <a:bodyPr wrap="square" lIns="0" tIns="0" rIns="0" bIns="0" rtlCol="0" anchor="t"/>
          <a:lstStyle/>
          <a:p>
            <a:pPr indent="0" marL="0">
              <a:buNone/>
            </a:pPr>
            <a:r>
              <a:rPr lang="en-US" sz="1450" b="1" dirty="0">
                <a:solidFill>
                  <a:srgbClr val="FFFFFF"/>
                </a:solidFill>
                <a:latin typeface="Meiryo" pitchFamily="34" charset="0"/>
                <a:ea typeface="Meiryo" pitchFamily="34" charset="-122"/>
                <a:cs typeface="Meiryo" pitchFamily="34" charset="-120"/>
              </a:rPr>
              <a:t>現場に合うかを検証する</a:t>
            </a:r>
            <a:endParaRPr lang="en-US" sz="1450" dirty="0"/>
          </a:p>
        </p:txBody>
      </p:sp>
      <p:sp>
        <p:nvSpPr>
          <p:cNvPr id="32" name="Shape 30"/>
          <p:cNvSpPr/>
          <p:nvPr/>
        </p:nvSpPr>
        <p:spPr>
          <a:xfrm>
            <a:off x="9908286" y="1737360"/>
            <a:ext cx="1734769" cy="2377440"/>
          </a:xfrm>
          <a:prstGeom prst="rect">
            <a:avLst/>
          </a:prstGeom>
          <a:solidFill>
            <a:srgbClr val="141517"/>
          </a:solidFill>
          <a:ln/>
        </p:spPr>
      </p:sp>
      <p:sp>
        <p:nvSpPr>
          <p:cNvPr id="33" name="Text 31"/>
          <p:cNvSpPr txBox="1"/>
          <p:nvPr/>
        </p:nvSpPr>
        <p:spPr>
          <a:xfrm>
            <a:off x="10091166" y="1874520"/>
            <a:ext cx="914400" cy="548640"/>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6</a:t>
            </a:r>
            <a:endParaRPr lang="en-US" sz="3000" dirty="0"/>
          </a:p>
        </p:txBody>
      </p:sp>
      <p:sp>
        <p:nvSpPr>
          <p:cNvPr id="34" name="Text 32"/>
          <p:cNvSpPr txBox="1"/>
          <p:nvPr/>
        </p:nvSpPr>
        <p:spPr>
          <a:xfrm>
            <a:off x="10091166" y="2560320"/>
            <a:ext cx="1414729" cy="1371600"/>
          </a:xfrm>
          <a:prstGeom prst="rect">
            <a:avLst/>
          </a:prstGeom>
          <a:noFill/>
          <a:ln/>
        </p:spPr>
        <p:txBody>
          <a:bodyPr wrap="square" lIns="0" tIns="0" rIns="0" bIns="0" rtlCol="0" anchor="t"/>
          <a:lstStyle/>
          <a:p>
            <a:pPr indent="0" marL="0">
              <a:buNone/>
            </a:pPr>
            <a:r>
              <a:rPr lang="en-US" sz="1450" b="1" dirty="0">
                <a:solidFill>
                  <a:srgbClr val="FFFFFF"/>
                </a:solidFill>
                <a:latin typeface="Meiryo" pitchFamily="34" charset="0"/>
                <a:ea typeface="Meiryo" pitchFamily="34" charset="-122"/>
                <a:cs typeface="Meiryo" pitchFamily="34" charset="-120"/>
              </a:rPr>
              <a:t>合否基準と次のアクションを合意する</a:t>
            </a:r>
            <a:endParaRPr lang="en-US" sz="1450" dirty="0"/>
          </a:p>
        </p:txBody>
      </p:sp>
      <p:sp>
        <p:nvSpPr>
          <p:cNvPr id="35" name="Text 33"/>
          <p:cNvSpPr txBox="1"/>
          <p:nvPr/>
        </p:nvSpPr>
        <p:spPr>
          <a:xfrm>
            <a:off x="548640" y="1325880"/>
            <a:ext cx="5204308" cy="274320"/>
          </a:xfrm>
          <a:prstGeom prst="rect">
            <a:avLst/>
          </a:prstGeom>
          <a:noFill/>
          <a:ln/>
        </p:spPr>
        <p:txBody>
          <a:bodyPr wrap="square" lIns="0" tIns="0" rIns="0" bIns="0" rtlCol="0" anchor="t"/>
          <a:lstStyle/>
          <a:p>
            <a:pPr indent="0" marL="0">
              <a:buNone/>
            </a:pPr>
            <a:r>
              <a:rPr lang="en-US" sz="1100" b="1" dirty="0">
                <a:solidFill>
                  <a:srgbClr val="5A6470"/>
                </a:solidFill>
                <a:latin typeface="Meiryo" pitchFamily="34" charset="0"/>
                <a:ea typeface="Meiryo" pitchFamily="34" charset="-122"/>
                <a:cs typeface="Meiryo" pitchFamily="34" charset="-120"/>
              </a:rPr>
              <a:t>ここまでの体験</a:t>
            </a:r>
            <a:endParaRPr lang="en-US" sz="1100" dirty="0"/>
          </a:p>
        </p:txBody>
      </p:sp>
      <p:sp>
        <p:nvSpPr>
          <p:cNvPr id="36" name="Text 34"/>
          <p:cNvSpPr txBox="1"/>
          <p:nvPr/>
        </p:nvSpPr>
        <p:spPr>
          <a:xfrm>
            <a:off x="6164428" y="1325880"/>
            <a:ext cx="5204308" cy="274320"/>
          </a:xfrm>
          <a:prstGeom prst="rect">
            <a:avLst/>
          </a:prstGeom>
          <a:noFill/>
          <a:ln/>
        </p:spPr>
        <p:txBody>
          <a:bodyPr wrap="square" lIns="0" tIns="0" rIns="0" bIns="0" rtlCol="0" anchor="t"/>
          <a:lstStyle/>
          <a:p>
            <a:pPr indent="0" marL="0">
              <a:buNone/>
            </a:pPr>
            <a:r>
              <a:rPr lang="en-US" sz="1100" b="1" dirty="0">
                <a:solidFill>
                  <a:srgbClr val="E60012"/>
                </a:solidFill>
                <a:latin typeface="Meiryo" pitchFamily="34" charset="0"/>
                <a:ea typeface="Meiryo" pitchFamily="34" charset="-122"/>
                <a:cs typeface="Meiryo" pitchFamily="34" charset="-120"/>
              </a:rPr>
              <a:t>ここから</a:t>
            </a:r>
            <a:endParaRPr lang="en-US" sz="1100" dirty="0"/>
          </a:p>
        </p:txBody>
      </p:sp>
      <p:sp>
        <p:nvSpPr>
          <p:cNvPr id="37" name="Text 35"/>
          <p:cNvSpPr txBox="1"/>
          <p:nvPr/>
        </p:nvSpPr>
        <p:spPr>
          <a:xfrm>
            <a:off x="548640" y="4526280"/>
            <a:ext cx="11094415" cy="822960"/>
          </a:xfrm>
          <a:prstGeom prst="rect">
            <a:avLst/>
          </a:prstGeom>
          <a:noFill/>
          <a:ln/>
        </p:spPr>
        <p:txBody>
          <a:bodyPr wrap="square" lIns="0" tIns="0" rIns="0" bIns="0" rtlCol="0" anchor="t"/>
          <a:lstStyle/>
          <a:p>
            <a:pPr indent="0" marL="0">
              <a:buNone/>
            </a:pPr>
            <a:r>
              <a:rPr lang="en-US" sz="1700" b="1" dirty="0">
                <a:solidFill>
                  <a:srgbClr val="1E2126"/>
                </a:solidFill>
                <a:latin typeface="Meiryo" pitchFamily="34" charset="0"/>
                <a:ea typeface="Meiryo" pitchFamily="34" charset="-122"/>
                <a:cs typeface="Meiryo" pitchFamily="34" charset="-120"/>
              </a:rPr>
              <a:t>製品を紹介することがゴールではない。お客様が安心して改善を判断できる状態をつくることがゴール</a:t>
            </a:r>
            <a:endParaRPr lang="en-US" sz="17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提案する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提案の候補　OPTEX-FA KR-Qシリーズ</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IMAGE_PLACEHOLDER_04"/>
          <p:cNvSpPr/>
          <p:nvPr/>
        </p:nvSpPr>
        <p:spPr>
          <a:xfrm>
            <a:off x="548640" y="1280160"/>
            <a:ext cx="4023360" cy="2651760"/>
          </a:xfrm>
          <a:prstGeom prst="rect">
            <a:avLst/>
          </a:prstGeom>
          <a:solidFill>
            <a:srgbClr val="FAFAFB"/>
          </a:solidFill>
          <a:ln w="15875">
            <a:solidFill>
              <a:srgbClr val="B9C1CA"/>
            </a:solidFill>
            <a:prstDash val="dash"/>
          </a:ln>
        </p:spPr>
      </p:sp>
      <p:sp>
        <p:nvSpPr>
          <p:cNvPr id="12" name="Text 10"/>
          <p:cNvSpPr txBox="1"/>
          <p:nvPr/>
        </p:nvSpPr>
        <p:spPr>
          <a:xfrm>
            <a:off x="685800" y="1371600"/>
            <a:ext cx="3749040" cy="2468880"/>
          </a:xfrm>
          <a:prstGeom prst="rect">
            <a:avLst/>
          </a:prstGeom>
          <a:noFill/>
          <a:ln/>
        </p:spPr>
        <p:txBody>
          <a:bodyPr wrap="square" lIns="0" tIns="0" rIns="0" bIns="0" rtlCol="0" anchor="ctr"/>
          <a:lstStyle/>
          <a:p>
            <a:pPr algn="ctr" indent="0" marL="0">
              <a:spcAft>
                <a:spcPts val="300"/>
              </a:spcAft>
              <a:buNone/>
            </a:pPr>
            <a:r>
              <a:rPr lang="en-US" sz="1100" b="1" dirty="0">
                <a:solidFill>
                  <a:srgbClr val="E60012"/>
                </a:solidFill>
                <a:latin typeface="Meiryo" pitchFamily="34" charset="0"/>
                <a:ea typeface="Meiryo" pitchFamily="34" charset="-122"/>
                <a:cs typeface="Meiryo" pitchFamily="34" charset="-120"/>
              </a:rPr>
              <a:t>【IMAGE_PLACEHOLDER_04】</a:t>
            </a:r>
            <a:endParaRPr lang="en-US" sz="1100" dirty="0"/>
          </a:p>
          <a:p>
            <a:pPr algn="ctr" indent="0" marL="0">
              <a:spcAft>
                <a:spcPts val="300"/>
              </a:spcAft>
              <a:buNone/>
            </a:pPr>
            <a:r>
              <a:rPr lang="en-US" sz="950" dirty="0">
                <a:solidFill>
                  <a:srgbClr val="1E2126"/>
                </a:solidFill>
                <a:latin typeface="Meiryo" pitchFamily="34" charset="0"/>
                <a:ea typeface="Meiryo" pitchFamily="34" charset="-122"/>
                <a:cs typeface="Meiryo" pitchFamily="34" charset="-120"/>
              </a:rPr>
              <a:t>用途：OPTEX-FA製品・検出原理</a:t>
            </a:r>
            <a:endParaRPr lang="en-US" sz="1100" dirty="0"/>
          </a:p>
          <a:p>
            <a:pPr algn="ctr" indent="0" marL="0">
              <a:spcAft>
                <a:spcPts val="300"/>
              </a:spcAft>
              <a:buNone/>
            </a:pPr>
            <a:r>
              <a:rPr lang="en-US" sz="850" dirty="0">
                <a:solidFill>
                  <a:srgbClr val="5A6470"/>
                </a:solidFill>
                <a:latin typeface="Meiryo" pitchFamily="34" charset="0"/>
                <a:ea typeface="Meiryo" pitchFamily="34" charset="-122"/>
                <a:cs typeface="Meiryo" pitchFamily="34" charset="-120"/>
              </a:rPr>
              <a:t>目的：既設センサとの違いを視覚的に説明する</a:t>
            </a:r>
            <a:endParaRPr lang="en-US" sz="1100" dirty="0"/>
          </a:p>
          <a:p>
            <a:pPr algn="ctr" indent="0" marL="0">
              <a:spcAft>
                <a:spcPts val="300"/>
              </a:spcAft>
              <a:buNone/>
            </a:pPr>
            <a:r>
              <a:rPr lang="en-US" sz="850" dirty="0">
                <a:solidFill>
                  <a:srgbClr val="5A6470"/>
                </a:solidFill>
                <a:latin typeface="Meiryo" pitchFamily="34" charset="0"/>
                <a:ea typeface="Meiryo" pitchFamily="34" charset="-122"/>
                <a:cs typeface="Meiryo" pitchFamily="34" charset="-120"/>
              </a:rPr>
              <a:t>状態：後日指定画像に差し替え</a:t>
            </a:r>
            <a:endParaRPr lang="en-US" sz="1100" dirty="0"/>
          </a:p>
        </p:txBody>
      </p:sp>
      <p:sp>
        <p:nvSpPr>
          <p:cNvPr id="13" name="VIDEO_PLACEHOLDER_03"/>
          <p:cNvSpPr/>
          <p:nvPr/>
        </p:nvSpPr>
        <p:spPr>
          <a:xfrm>
            <a:off x="548640" y="4069080"/>
            <a:ext cx="4023360" cy="1691640"/>
          </a:xfrm>
          <a:prstGeom prst="rect">
            <a:avLst/>
          </a:prstGeom>
          <a:solidFill>
            <a:srgbClr val="FAFAFB"/>
          </a:solidFill>
          <a:ln w="15875">
            <a:solidFill>
              <a:srgbClr val="B9C1CA"/>
            </a:solidFill>
            <a:prstDash val="dash"/>
          </a:ln>
        </p:spPr>
      </p:sp>
      <p:sp>
        <p:nvSpPr>
          <p:cNvPr id="14" name="Text 12"/>
          <p:cNvSpPr txBox="1"/>
          <p:nvPr/>
        </p:nvSpPr>
        <p:spPr>
          <a:xfrm>
            <a:off x="685800" y="4160520"/>
            <a:ext cx="3749040" cy="1508760"/>
          </a:xfrm>
          <a:prstGeom prst="rect">
            <a:avLst/>
          </a:prstGeom>
          <a:noFill/>
          <a:ln/>
        </p:spPr>
        <p:txBody>
          <a:bodyPr wrap="square" lIns="0" tIns="0" rIns="0" bIns="0" rtlCol="0" anchor="ctr"/>
          <a:lstStyle/>
          <a:p>
            <a:pPr algn="ctr" indent="0" marL="0">
              <a:spcAft>
                <a:spcPts val="300"/>
              </a:spcAft>
              <a:buNone/>
            </a:pPr>
            <a:r>
              <a:rPr lang="en-US" sz="1100" b="1" dirty="0">
                <a:solidFill>
                  <a:srgbClr val="E60012"/>
                </a:solidFill>
                <a:latin typeface="Meiryo" pitchFamily="34" charset="0"/>
                <a:ea typeface="Meiryo" pitchFamily="34" charset="-122"/>
                <a:cs typeface="Meiryo" pitchFamily="34" charset="-120"/>
              </a:rPr>
              <a:t>【VIDEO_PLACEHOLDER_03】</a:t>
            </a:r>
            <a:endParaRPr lang="en-US" sz="1100" dirty="0"/>
          </a:p>
          <a:p>
            <a:pPr algn="ctr" indent="0" marL="0">
              <a:spcAft>
                <a:spcPts val="300"/>
              </a:spcAft>
              <a:buNone/>
            </a:pPr>
            <a:r>
              <a:rPr lang="en-US" sz="950" dirty="0">
                <a:solidFill>
                  <a:srgbClr val="1E2126"/>
                </a:solidFill>
                <a:latin typeface="Meiryo" pitchFamily="34" charset="0"/>
                <a:ea typeface="Meiryo" pitchFamily="34" charset="-122"/>
                <a:cs typeface="Meiryo" pitchFamily="34" charset="-120"/>
              </a:rPr>
              <a:t>用途：映像③　検出原理（既設とKR-Qシリーズ）</a:t>
            </a:r>
            <a:endParaRPr lang="en-US" sz="1100" dirty="0"/>
          </a:p>
          <a:p>
            <a:pPr algn="ctr" indent="0" marL="0">
              <a:spcAft>
                <a:spcPts val="300"/>
              </a:spcAft>
              <a:buNone/>
            </a:pPr>
            <a:r>
              <a:rPr lang="en-US" sz="850" dirty="0">
                <a:solidFill>
                  <a:srgbClr val="5A6470"/>
                </a:solidFill>
                <a:latin typeface="Meiryo" pitchFamily="34" charset="0"/>
                <a:ea typeface="Meiryo" pitchFamily="34" charset="-122"/>
                <a:cs typeface="Meiryo" pitchFamily="34" charset="-120"/>
              </a:rPr>
              <a:t>目的：確認済みの技術情報だけで、検出のしくみを比べる</a:t>
            </a:r>
            <a:endParaRPr lang="en-US" sz="1100" dirty="0"/>
          </a:p>
          <a:p>
            <a:pPr algn="ctr" indent="0" marL="0">
              <a:spcAft>
                <a:spcPts val="300"/>
              </a:spcAft>
              <a:buNone/>
            </a:pPr>
            <a:r>
              <a:rPr lang="en-US" sz="850" dirty="0">
                <a:solidFill>
                  <a:srgbClr val="5A6470"/>
                </a:solidFill>
                <a:latin typeface="Meiryo" pitchFamily="34" charset="0"/>
                <a:ea typeface="Meiryo" pitchFamily="34" charset="-122"/>
                <a:cs typeface="Meiryo" pitchFamily="34" charset="-120"/>
              </a:rPr>
              <a:t>状態：後日指定動画に差し替え</a:t>
            </a:r>
            <a:endParaRPr lang="en-US" sz="1100" dirty="0"/>
          </a:p>
        </p:txBody>
      </p:sp>
      <p:sp>
        <p:nvSpPr>
          <p:cNvPr id="15" name="Shape 13"/>
          <p:cNvSpPr/>
          <p:nvPr/>
        </p:nvSpPr>
        <p:spPr>
          <a:xfrm>
            <a:off x="4846320" y="1280160"/>
            <a:ext cx="6796735" cy="603504"/>
          </a:xfrm>
          <a:prstGeom prst="rect">
            <a:avLst/>
          </a:prstGeom>
          <a:solidFill>
            <a:srgbClr val="FFFFFF"/>
          </a:solidFill>
          <a:ln/>
        </p:spPr>
      </p:sp>
      <p:sp>
        <p:nvSpPr>
          <p:cNvPr id="16" name="Text 14"/>
          <p:cNvSpPr txBox="1"/>
          <p:nvPr/>
        </p:nvSpPr>
        <p:spPr>
          <a:xfrm>
            <a:off x="5029200" y="1280160"/>
            <a:ext cx="1554480" cy="603504"/>
          </a:xfrm>
          <a:prstGeom prst="rect">
            <a:avLst/>
          </a:prstGeom>
          <a:noFill/>
          <a:ln/>
        </p:spPr>
        <p:txBody>
          <a:bodyPr wrap="square" lIns="0" tIns="0" rIns="0" bIns="0" rtlCol="0" anchor="ctr"/>
          <a:lstStyle/>
          <a:p>
            <a:pPr indent="0" marL="0">
              <a:buNone/>
            </a:pPr>
            <a:r>
              <a:rPr lang="en-US" sz="1100" b="1" dirty="0">
                <a:solidFill>
                  <a:srgbClr val="5A6470"/>
                </a:solidFill>
                <a:latin typeface="Meiryo" pitchFamily="34" charset="0"/>
                <a:ea typeface="Meiryo" pitchFamily="34" charset="-122"/>
                <a:cs typeface="Meiryo" pitchFamily="34" charset="-120"/>
              </a:rPr>
              <a:t>種類</a:t>
            </a:r>
            <a:endParaRPr lang="en-US" sz="1100" dirty="0"/>
          </a:p>
        </p:txBody>
      </p:sp>
      <p:sp>
        <p:nvSpPr>
          <p:cNvPr id="17" name="Text 15"/>
          <p:cNvSpPr txBox="1"/>
          <p:nvPr/>
        </p:nvSpPr>
        <p:spPr>
          <a:xfrm>
            <a:off x="6583680" y="1280160"/>
            <a:ext cx="4922215" cy="603504"/>
          </a:xfrm>
          <a:prstGeom prst="rect">
            <a:avLst/>
          </a:prstGeom>
          <a:noFill/>
          <a:ln/>
        </p:spPr>
        <p:txBody>
          <a:bodyPr wrap="square" lIns="0" tIns="0" rIns="0" bIns="0" rtlCol="0" anchor="ctr"/>
          <a:lstStyle/>
          <a:p>
            <a:pPr indent="0" marL="0">
              <a:buNone/>
            </a:pPr>
            <a:r>
              <a:rPr lang="en-US" sz="1400" b="1" dirty="0">
                <a:solidFill>
                  <a:srgbClr val="1E2126"/>
                </a:solidFill>
                <a:latin typeface="Meiryo" pitchFamily="34" charset="0"/>
                <a:ea typeface="Meiryo" pitchFamily="34" charset="-122"/>
                <a:cs typeface="Meiryo" pitchFamily="34" charset="-120"/>
              </a:rPr>
              <a:t>透明体検出タイプの光電センサ</a:t>
            </a:r>
            <a:endParaRPr lang="en-US" sz="1400" dirty="0"/>
          </a:p>
        </p:txBody>
      </p:sp>
      <p:sp>
        <p:nvSpPr>
          <p:cNvPr id="18" name="Shape 16"/>
          <p:cNvSpPr/>
          <p:nvPr/>
        </p:nvSpPr>
        <p:spPr>
          <a:xfrm>
            <a:off x="4846320" y="1993392"/>
            <a:ext cx="6796735" cy="603504"/>
          </a:xfrm>
          <a:prstGeom prst="rect">
            <a:avLst/>
          </a:prstGeom>
          <a:solidFill>
            <a:srgbClr val="FFFFFF"/>
          </a:solidFill>
          <a:ln/>
        </p:spPr>
      </p:sp>
      <p:sp>
        <p:nvSpPr>
          <p:cNvPr id="19" name="Text 17"/>
          <p:cNvSpPr txBox="1"/>
          <p:nvPr/>
        </p:nvSpPr>
        <p:spPr>
          <a:xfrm>
            <a:off x="5029200" y="1993392"/>
            <a:ext cx="1554480" cy="603504"/>
          </a:xfrm>
          <a:prstGeom prst="rect">
            <a:avLst/>
          </a:prstGeom>
          <a:noFill/>
          <a:ln/>
        </p:spPr>
        <p:txBody>
          <a:bodyPr wrap="square" lIns="0" tIns="0" rIns="0" bIns="0" rtlCol="0" anchor="ctr"/>
          <a:lstStyle/>
          <a:p>
            <a:pPr indent="0" marL="0">
              <a:buNone/>
            </a:pPr>
            <a:r>
              <a:rPr lang="en-US" sz="1100" b="1" dirty="0">
                <a:solidFill>
                  <a:srgbClr val="5A6470"/>
                </a:solidFill>
                <a:latin typeface="Meiryo" pitchFamily="34" charset="0"/>
                <a:ea typeface="Meiryo" pitchFamily="34" charset="-122"/>
                <a:cs typeface="Meiryo" pitchFamily="34" charset="-120"/>
              </a:rPr>
              <a:t>検出方式</a:t>
            </a:r>
            <a:endParaRPr lang="en-US" sz="1100" dirty="0"/>
          </a:p>
        </p:txBody>
      </p:sp>
      <p:sp>
        <p:nvSpPr>
          <p:cNvPr id="20" name="Text 18"/>
          <p:cNvSpPr txBox="1"/>
          <p:nvPr/>
        </p:nvSpPr>
        <p:spPr>
          <a:xfrm>
            <a:off x="6583680" y="1993392"/>
            <a:ext cx="4922215" cy="603504"/>
          </a:xfrm>
          <a:prstGeom prst="rect">
            <a:avLst/>
          </a:prstGeom>
          <a:noFill/>
          <a:ln/>
        </p:spPr>
        <p:txBody>
          <a:bodyPr wrap="square" lIns="0" tIns="0" rIns="0" bIns="0" rtlCol="0" anchor="ctr"/>
          <a:lstStyle/>
          <a:p>
            <a:pPr indent="0" marL="0">
              <a:buNone/>
            </a:pPr>
            <a:r>
              <a:rPr lang="en-US" sz="1400" b="1" dirty="0">
                <a:solidFill>
                  <a:srgbClr val="1E2126"/>
                </a:solidFill>
                <a:latin typeface="Meiryo" pitchFamily="34" charset="0"/>
                <a:ea typeface="Meiryo" pitchFamily="34" charset="-122"/>
                <a:cs typeface="Meiryo" pitchFamily="34" charset="-120"/>
              </a:rPr>
              <a:t>回帰反射型（今と同じく、反射板を使う）</a:t>
            </a:r>
            <a:endParaRPr lang="en-US" sz="1400" dirty="0"/>
          </a:p>
        </p:txBody>
      </p:sp>
      <p:sp>
        <p:nvSpPr>
          <p:cNvPr id="21" name="Shape 19"/>
          <p:cNvSpPr/>
          <p:nvPr/>
        </p:nvSpPr>
        <p:spPr>
          <a:xfrm>
            <a:off x="4846320" y="2706624"/>
            <a:ext cx="6796735" cy="603504"/>
          </a:xfrm>
          <a:prstGeom prst="rect">
            <a:avLst/>
          </a:prstGeom>
          <a:solidFill>
            <a:srgbClr val="FFFFFF"/>
          </a:solidFill>
          <a:ln/>
        </p:spPr>
      </p:sp>
      <p:sp>
        <p:nvSpPr>
          <p:cNvPr id="22" name="Text 20"/>
          <p:cNvSpPr txBox="1"/>
          <p:nvPr/>
        </p:nvSpPr>
        <p:spPr>
          <a:xfrm>
            <a:off x="5029200" y="2706624"/>
            <a:ext cx="1554480" cy="603504"/>
          </a:xfrm>
          <a:prstGeom prst="rect">
            <a:avLst/>
          </a:prstGeom>
          <a:noFill/>
          <a:ln/>
        </p:spPr>
        <p:txBody>
          <a:bodyPr wrap="square" lIns="0" tIns="0" rIns="0" bIns="0" rtlCol="0" anchor="ctr"/>
          <a:lstStyle/>
          <a:p>
            <a:pPr indent="0" marL="0">
              <a:buNone/>
            </a:pPr>
            <a:r>
              <a:rPr lang="en-US" sz="1100" b="1" dirty="0">
                <a:solidFill>
                  <a:srgbClr val="5A6470"/>
                </a:solidFill>
                <a:latin typeface="Meiryo" pitchFamily="34" charset="0"/>
                <a:ea typeface="Meiryo" pitchFamily="34" charset="-122"/>
                <a:cs typeface="Meiryo" pitchFamily="34" charset="-120"/>
              </a:rPr>
              <a:t>公式の用途例</a:t>
            </a:r>
            <a:endParaRPr lang="en-US" sz="1100" dirty="0"/>
          </a:p>
        </p:txBody>
      </p:sp>
      <p:sp>
        <p:nvSpPr>
          <p:cNvPr id="23" name="Text 21"/>
          <p:cNvSpPr txBox="1"/>
          <p:nvPr/>
        </p:nvSpPr>
        <p:spPr>
          <a:xfrm>
            <a:off x="6583680" y="2706624"/>
            <a:ext cx="4922215" cy="603504"/>
          </a:xfrm>
          <a:prstGeom prst="rect">
            <a:avLst/>
          </a:prstGeom>
          <a:noFill/>
          <a:ln/>
        </p:spPr>
        <p:txBody>
          <a:bodyPr wrap="square" lIns="0" tIns="0" rIns="0" bIns="0" rtlCol="0" anchor="ctr"/>
          <a:lstStyle/>
          <a:p>
            <a:pPr indent="0" marL="0">
              <a:buNone/>
            </a:pPr>
            <a:r>
              <a:rPr lang="en-US" sz="1400" b="1" dirty="0">
                <a:solidFill>
                  <a:srgbClr val="1E2126"/>
                </a:solidFill>
                <a:latin typeface="Meiryo" pitchFamily="34" charset="0"/>
                <a:ea typeface="Meiryo" pitchFamily="34" charset="-122"/>
                <a:cs typeface="Meiryo" pitchFamily="34" charset="-120"/>
              </a:rPr>
              <a:t>ペットボトルの通過検知</a:t>
            </a:r>
            <a:endParaRPr lang="en-US" sz="1400" dirty="0"/>
          </a:p>
        </p:txBody>
      </p:sp>
      <p:sp>
        <p:nvSpPr>
          <p:cNvPr id="24" name="Shape 22"/>
          <p:cNvSpPr/>
          <p:nvPr/>
        </p:nvSpPr>
        <p:spPr>
          <a:xfrm>
            <a:off x="4846320" y="3520440"/>
            <a:ext cx="6796735" cy="731520"/>
          </a:xfrm>
          <a:prstGeom prst="rect">
            <a:avLst/>
          </a:prstGeom>
          <a:solidFill>
            <a:srgbClr val="141517"/>
          </a:solidFill>
          <a:ln/>
        </p:spPr>
      </p:sp>
      <p:sp>
        <p:nvSpPr>
          <p:cNvPr id="25" name="Text 23"/>
          <p:cNvSpPr txBox="1"/>
          <p:nvPr/>
        </p:nvSpPr>
        <p:spPr>
          <a:xfrm>
            <a:off x="5074920" y="3520440"/>
            <a:ext cx="6339535" cy="73152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違いは「透明な物を検出するために設計されていること」</a:t>
            </a:r>
            <a:endParaRPr lang="en-US" sz="1500" dirty="0"/>
          </a:p>
        </p:txBody>
      </p:sp>
      <p:sp>
        <p:nvSpPr>
          <p:cNvPr id="26" name="Shape 24"/>
          <p:cNvSpPr/>
          <p:nvPr/>
        </p:nvSpPr>
        <p:spPr>
          <a:xfrm>
            <a:off x="4846320" y="4389120"/>
            <a:ext cx="6796735" cy="914400"/>
          </a:xfrm>
          <a:prstGeom prst="rect">
            <a:avLst/>
          </a:prstGeom>
          <a:solidFill>
            <a:srgbClr val="FDECEE"/>
          </a:solidFill>
          <a:ln/>
        </p:spPr>
      </p:sp>
      <p:sp>
        <p:nvSpPr>
          <p:cNvPr id="27" name="Text 25"/>
          <p:cNvSpPr txBox="1"/>
          <p:nvPr/>
        </p:nvSpPr>
        <p:spPr>
          <a:xfrm>
            <a:off x="5074920" y="4389120"/>
            <a:ext cx="6339535" cy="914400"/>
          </a:xfrm>
          <a:prstGeom prst="rect">
            <a:avLst/>
          </a:prstGeom>
          <a:noFill/>
          <a:ln/>
        </p:spPr>
        <p:txBody>
          <a:bodyPr wrap="square" lIns="0" tIns="0" rIns="0" bIns="0" rtlCol="0" anchor="ctr"/>
          <a:lstStyle/>
          <a:p>
            <a:pPr indent="0" marL="0">
              <a:buNone/>
            </a:pPr>
            <a:r>
              <a:rPr lang="en-US" sz="1400" b="1" dirty="0">
                <a:solidFill>
                  <a:srgbClr val="E60012"/>
                </a:solidFill>
                <a:latin typeface="Meiryo" pitchFamily="34" charset="0"/>
                <a:ea typeface="Meiryo" pitchFamily="34" charset="-122"/>
                <a:cs typeface="Meiryo" pitchFamily="34" charset="-120"/>
              </a:rPr>
              <a:t>お客様のボトルとラインで効果があるかは、まだ分からない。だから、実際のボトルで確かめる</a:t>
            </a:r>
            <a:endParaRPr lang="en-US" sz="1400" dirty="0"/>
          </a:p>
        </p:txBody>
      </p:sp>
      <p:sp>
        <p:nvSpPr>
          <p:cNvPr id="28" name="Text 26"/>
          <p:cNvSpPr txBox="1"/>
          <p:nvPr/>
        </p:nvSpPr>
        <p:spPr>
          <a:xfrm>
            <a:off x="4846320" y="5440680"/>
            <a:ext cx="6796735" cy="274320"/>
          </a:xfrm>
          <a:prstGeom prst="rect">
            <a:avLst/>
          </a:prstGeom>
          <a:noFill/>
          <a:ln/>
        </p:spPr>
        <p:txBody>
          <a:bodyPr wrap="square" lIns="0" tIns="0" rIns="0" bIns="0" rtlCol="0" anchor="t"/>
          <a:lstStyle/>
          <a:p>
            <a:pPr indent="0" marL="0">
              <a:buNone/>
            </a:pPr>
            <a:r>
              <a:rPr lang="en-US" sz="1000" dirty="0">
                <a:solidFill>
                  <a:srgbClr val="5A6470"/>
                </a:solidFill>
                <a:latin typeface="Meiryo" pitchFamily="34" charset="0"/>
                <a:ea typeface="Meiryo" pitchFamily="34" charset="-122"/>
                <a:cs typeface="Meiryo" pitchFamily="34" charset="-120"/>
              </a:rPr>
              <a:t>※ 仕様・性能の数値は、公式資料で確認してから記載します（現時点で未照合）。</a:t>
            </a:r>
            <a:endParaRPr lang="en-US" sz="10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提案する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公平に比べるための検証計画</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IMAGE_PLACEHOLDER_07_frame"/>
          <p:cNvSpPr/>
          <p:nvPr/>
        </p:nvSpPr>
        <p:spPr>
          <a:xfrm>
            <a:off x="548640" y="1280160"/>
            <a:ext cx="3840480" cy="4142232"/>
          </a:xfrm>
          <a:prstGeom prst="rect">
            <a:avLst/>
          </a:prstGeom>
          <a:solidFill>
            <a:srgbClr val="E6E8EB"/>
          </a:solidFill>
          <a:ln/>
        </p:spPr>
      </p:sp>
      <p:pic>
        <p:nvPicPr>
          <p:cNvPr id="12" name="IMAGE_PLACEHOLDER_07" descr="【IMAGE_PLACEHOLDER_07】比較検証の設置図（仮画像）">    </p:cNvPr>
          <p:cNvPicPr>
            <a:picLocks noChangeAspect="1"/>
          </p:cNvPicPr>
          <p:nvPr/>
        </p:nvPicPr>
        <p:blipFill>
          <a:blip r:embed="rId1"/>
          <a:stretch>
            <a:fillRect/>
          </a:stretch>
        </p:blipFill>
        <p:spPr>
          <a:xfrm>
            <a:off x="550052" y="1280160"/>
            <a:ext cx="3837656" cy="4142232"/>
          </a:xfrm>
          <a:prstGeom prst="rect">
            <a:avLst/>
          </a:prstGeom>
        </p:spPr>
      </p:pic>
      <p:sp>
        <p:nvSpPr>
          <p:cNvPr id="13" name="Shape 10"/>
          <p:cNvSpPr/>
          <p:nvPr/>
        </p:nvSpPr>
        <p:spPr>
          <a:xfrm>
            <a:off x="550052" y="5111496"/>
            <a:ext cx="3837656" cy="310896"/>
          </a:xfrm>
          <a:prstGeom prst="rect">
            <a:avLst/>
          </a:prstGeom>
          <a:solidFill>
            <a:srgbClr val="000000"/>
          </a:solidFill>
          <a:ln/>
        </p:spPr>
      </p:sp>
      <p:sp>
        <p:nvSpPr>
          <p:cNvPr id="14" name="Shape 11"/>
          <p:cNvSpPr/>
          <p:nvPr/>
        </p:nvSpPr>
        <p:spPr>
          <a:xfrm>
            <a:off x="623204" y="5148072"/>
            <a:ext cx="274320" cy="237744"/>
          </a:xfrm>
          <a:prstGeom prst="rect">
            <a:avLst/>
          </a:prstGeom>
          <a:solidFill>
            <a:srgbClr val="E60012"/>
          </a:solidFill>
          <a:ln/>
        </p:spPr>
      </p:sp>
      <p:sp>
        <p:nvSpPr>
          <p:cNvPr id="15" name="Text 12"/>
          <p:cNvSpPr txBox="1"/>
          <p:nvPr/>
        </p:nvSpPr>
        <p:spPr>
          <a:xfrm>
            <a:off x="623204" y="5148072"/>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16" name="Text 13"/>
          <p:cNvSpPr txBox="1"/>
          <p:nvPr/>
        </p:nvSpPr>
        <p:spPr>
          <a:xfrm>
            <a:off x="961532" y="5111496"/>
            <a:ext cx="3380456" cy="310896"/>
          </a:xfrm>
          <a:prstGeom prst="rect">
            <a:avLst/>
          </a:prstGeom>
          <a:noFill/>
          <a:ln/>
        </p:spPr>
        <p:txBody>
          <a:bodyPr wrap="square" lIns="0" tIns="0" rIns="0" bIns="0" rtlCol="0" anchor="ctr"/>
          <a:lstStyle/>
          <a:p>
            <a:pPr indent="0" marL="0">
              <a:buNone/>
            </a:pPr>
            <a:r>
              <a:rPr lang="en-US" sz="800" dirty="0">
                <a:solidFill>
                  <a:srgbClr val="FFFFFF"/>
                </a:solidFill>
                <a:latin typeface="Meiryo" pitchFamily="34" charset="0"/>
                <a:ea typeface="Meiryo" pitchFamily="34" charset="-122"/>
                <a:cs typeface="Meiryo" pitchFamily="34" charset="-120"/>
              </a:rPr>
              <a:t>【IMAGE_PLACEHOLDER_07】比較検証の設置図　後日指定画像に差し替え</a:t>
            </a:r>
            <a:endParaRPr lang="en-US" sz="800" dirty="0"/>
          </a:p>
        </p:txBody>
      </p:sp>
      <p:sp>
        <p:nvSpPr>
          <p:cNvPr id="17" name="Shape 14"/>
          <p:cNvSpPr/>
          <p:nvPr/>
        </p:nvSpPr>
        <p:spPr>
          <a:xfrm>
            <a:off x="4617720" y="1435608"/>
            <a:ext cx="1234440" cy="310896"/>
          </a:xfrm>
          <a:prstGeom prst="rect">
            <a:avLst/>
          </a:prstGeom>
          <a:solidFill>
            <a:srgbClr val="141517"/>
          </a:solidFill>
          <a:ln/>
        </p:spPr>
      </p:sp>
      <p:sp>
        <p:nvSpPr>
          <p:cNvPr id="18" name="Text 15"/>
          <p:cNvSpPr txBox="1"/>
          <p:nvPr/>
        </p:nvSpPr>
        <p:spPr>
          <a:xfrm>
            <a:off x="4617720" y="1435608"/>
            <a:ext cx="12344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同じにする</a:t>
            </a:r>
            <a:endParaRPr lang="en-US" sz="1050" dirty="0"/>
          </a:p>
        </p:txBody>
      </p:sp>
      <p:sp>
        <p:nvSpPr>
          <p:cNvPr id="19" name="Text 16"/>
          <p:cNvSpPr txBox="1"/>
          <p:nvPr/>
        </p:nvSpPr>
        <p:spPr>
          <a:xfrm>
            <a:off x="5989320" y="1280160"/>
            <a:ext cx="5653735" cy="621792"/>
          </a:xfrm>
          <a:prstGeom prst="rect">
            <a:avLst/>
          </a:prstGeom>
          <a:noFill/>
          <a:ln/>
        </p:spPr>
        <p:txBody>
          <a:bodyPr wrap="square" lIns="0" tIns="0" rIns="0" bIns="0" rtlCol="0" anchor="ctr"/>
          <a:lstStyle/>
          <a:p>
            <a:pPr indent="0" marL="0">
              <a:buNone/>
            </a:pPr>
            <a:r>
              <a:rPr lang="en-US" sz="1450" b="1" dirty="0">
                <a:solidFill>
                  <a:srgbClr val="1E2126"/>
                </a:solidFill>
                <a:latin typeface="Meiryo" pitchFamily="34" charset="0"/>
                <a:ea typeface="Meiryo" pitchFamily="34" charset="-122"/>
                <a:cs typeface="Meiryo" pitchFamily="34" charset="-120"/>
              </a:rPr>
              <a:t>同じボトル・同じ搬送速度・同じ設置の高さ</a:t>
            </a:r>
            <a:endParaRPr lang="en-US" sz="1450" dirty="0"/>
          </a:p>
        </p:txBody>
      </p:sp>
      <p:sp>
        <p:nvSpPr>
          <p:cNvPr id="20" name="Shape 17"/>
          <p:cNvSpPr/>
          <p:nvPr/>
        </p:nvSpPr>
        <p:spPr>
          <a:xfrm>
            <a:off x="4617720" y="2185416"/>
            <a:ext cx="1234440" cy="310896"/>
          </a:xfrm>
          <a:prstGeom prst="rect">
            <a:avLst/>
          </a:prstGeom>
          <a:solidFill>
            <a:srgbClr val="141517"/>
          </a:solidFill>
          <a:ln/>
        </p:spPr>
      </p:sp>
      <p:sp>
        <p:nvSpPr>
          <p:cNvPr id="21" name="Text 18"/>
          <p:cNvSpPr txBox="1"/>
          <p:nvPr/>
        </p:nvSpPr>
        <p:spPr>
          <a:xfrm>
            <a:off x="4617720" y="2185416"/>
            <a:ext cx="12344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変える条件</a:t>
            </a:r>
            <a:endParaRPr lang="en-US" sz="1050" dirty="0"/>
          </a:p>
        </p:txBody>
      </p:sp>
      <p:sp>
        <p:nvSpPr>
          <p:cNvPr id="22" name="Text 19"/>
          <p:cNvSpPr txBox="1"/>
          <p:nvPr/>
        </p:nvSpPr>
        <p:spPr>
          <a:xfrm>
            <a:off x="5989320" y="2029968"/>
            <a:ext cx="5653735" cy="621792"/>
          </a:xfrm>
          <a:prstGeom prst="rect">
            <a:avLst/>
          </a:prstGeom>
          <a:noFill/>
          <a:ln/>
        </p:spPr>
        <p:txBody>
          <a:bodyPr wrap="square" lIns="0" tIns="0" rIns="0" bIns="0" rtlCol="0" anchor="ctr"/>
          <a:lstStyle/>
          <a:p>
            <a:pPr indent="0" marL="0">
              <a:buNone/>
            </a:pPr>
            <a:r>
              <a:rPr lang="en-US" sz="1450" b="1" dirty="0">
                <a:solidFill>
                  <a:srgbClr val="1E2126"/>
                </a:solidFill>
                <a:latin typeface="Meiryo" pitchFamily="34" charset="0"/>
                <a:ea typeface="Meiryo" pitchFamily="34" charset="-122"/>
                <a:cs typeface="Meiryo" pitchFamily="34" charset="-120"/>
              </a:rPr>
              <a:t>通常／ボトルの揺れ／間隔の変化／検出の高さ</a:t>
            </a:r>
            <a:endParaRPr lang="en-US" sz="1450" dirty="0"/>
          </a:p>
        </p:txBody>
      </p:sp>
      <p:sp>
        <p:nvSpPr>
          <p:cNvPr id="23" name="Shape 20"/>
          <p:cNvSpPr/>
          <p:nvPr/>
        </p:nvSpPr>
        <p:spPr>
          <a:xfrm>
            <a:off x="4617720" y="2935224"/>
            <a:ext cx="1234440" cy="310896"/>
          </a:xfrm>
          <a:prstGeom prst="rect">
            <a:avLst/>
          </a:prstGeom>
          <a:solidFill>
            <a:srgbClr val="141517"/>
          </a:solidFill>
          <a:ln/>
        </p:spPr>
      </p:sp>
      <p:sp>
        <p:nvSpPr>
          <p:cNvPr id="24" name="Text 21"/>
          <p:cNvSpPr txBox="1"/>
          <p:nvPr/>
        </p:nvSpPr>
        <p:spPr>
          <a:xfrm>
            <a:off x="4617720" y="2935224"/>
            <a:ext cx="123444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記録すること</a:t>
            </a:r>
            <a:endParaRPr lang="en-US" sz="1050" dirty="0"/>
          </a:p>
        </p:txBody>
      </p:sp>
      <p:sp>
        <p:nvSpPr>
          <p:cNvPr id="25" name="Text 22"/>
          <p:cNvSpPr txBox="1"/>
          <p:nvPr/>
        </p:nvSpPr>
        <p:spPr>
          <a:xfrm>
            <a:off x="5989320" y="2779776"/>
            <a:ext cx="5653735" cy="621792"/>
          </a:xfrm>
          <a:prstGeom prst="rect">
            <a:avLst/>
          </a:prstGeom>
          <a:noFill/>
          <a:ln/>
        </p:spPr>
        <p:txBody>
          <a:bodyPr wrap="square" lIns="0" tIns="0" rIns="0" bIns="0" rtlCol="0" anchor="ctr"/>
          <a:lstStyle/>
          <a:p>
            <a:pPr indent="0" marL="0">
              <a:buNone/>
            </a:pPr>
            <a:r>
              <a:rPr lang="en-US" sz="1450" b="1" dirty="0">
                <a:solidFill>
                  <a:srgbClr val="1E2126"/>
                </a:solidFill>
                <a:latin typeface="Meiryo" pitchFamily="34" charset="0"/>
                <a:ea typeface="Meiryo" pitchFamily="34" charset="-122"/>
                <a:cs typeface="Meiryo" pitchFamily="34" charset="-120"/>
              </a:rPr>
              <a:t>通過本数・センサの合図の回数・PLCのカウント</a:t>
            </a:r>
            <a:endParaRPr lang="en-US" sz="1450" dirty="0"/>
          </a:p>
        </p:txBody>
      </p:sp>
      <p:sp>
        <p:nvSpPr>
          <p:cNvPr id="26" name="Shape 23"/>
          <p:cNvSpPr/>
          <p:nvPr/>
        </p:nvSpPr>
        <p:spPr>
          <a:xfrm>
            <a:off x="4617720" y="3611880"/>
            <a:ext cx="7025335" cy="1810512"/>
          </a:xfrm>
          <a:prstGeom prst="rect">
            <a:avLst/>
          </a:prstGeom>
          <a:solidFill>
            <a:srgbClr val="FFFFFF"/>
          </a:solidFill>
          <a:ln w="25400">
            <a:solidFill>
              <a:srgbClr val="E60012"/>
            </a:solidFill>
            <a:prstDash val="solid"/>
          </a:ln>
        </p:spPr>
      </p:sp>
      <p:sp>
        <p:nvSpPr>
          <p:cNvPr id="27" name="Text 24"/>
          <p:cNvSpPr txBox="1"/>
          <p:nvPr/>
        </p:nvSpPr>
        <p:spPr>
          <a:xfrm>
            <a:off x="4846320" y="3703320"/>
            <a:ext cx="6568135" cy="320040"/>
          </a:xfrm>
          <a:prstGeom prst="rect">
            <a:avLst/>
          </a:prstGeom>
          <a:noFill/>
          <a:ln/>
        </p:spPr>
        <p:txBody>
          <a:bodyPr wrap="square" lIns="0" tIns="0" rIns="0" bIns="0" rtlCol="0" anchor="t"/>
          <a:lstStyle/>
          <a:p>
            <a:pPr indent="0" marL="0">
              <a:buNone/>
            </a:pPr>
            <a:r>
              <a:rPr lang="en-US" sz="1200" b="1" dirty="0">
                <a:solidFill>
                  <a:srgbClr val="E60012"/>
                </a:solidFill>
                <a:latin typeface="Meiryo" pitchFamily="34" charset="0"/>
                <a:ea typeface="Meiryo" pitchFamily="34" charset="-122"/>
                <a:cs typeface="Meiryo" pitchFamily="34" charset="-120"/>
              </a:rPr>
              <a:t>合格の基準（試す前に、お客様と決める）</a:t>
            </a:r>
            <a:endParaRPr lang="en-US" sz="1200" dirty="0"/>
          </a:p>
        </p:txBody>
      </p:sp>
      <p:sp>
        <p:nvSpPr>
          <p:cNvPr id="28" name="Text 25"/>
          <p:cNvSpPr txBox="1"/>
          <p:nvPr/>
        </p:nvSpPr>
        <p:spPr>
          <a:xfrm>
            <a:off x="4846320" y="4114800"/>
            <a:ext cx="6568135" cy="457200"/>
          </a:xfrm>
          <a:prstGeom prst="rect">
            <a:avLst/>
          </a:prstGeom>
          <a:noFill/>
          <a:ln/>
        </p:spPr>
        <p:txBody>
          <a:bodyPr wrap="square" lIns="0" tIns="0" rIns="0" bIns="0" rtlCol="0" anchor="t"/>
          <a:lstStyle/>
          <a:p>
            <a:pPr indent="0" marL="0">
              <a:buNone/>
            </a:pPr>
            <a:r>
              <a:rPr lang="en-US" sz="1600" b="1" dirty="0">
                <a:solidFill>
                  <a:srgbClr val="1E2126"/>
                </a:solidFill>
                <a:latin typeface="Meiryo" pitchFamily="34" charset="0"/>
                <a:ea typeface="Meiryo" pitchFamily="34" charset="-122"/>
                <a:cs typeface="Meiryo" pitchFamily="34" charset="-120"/>
              </a:rPr>
              <a:t>✓　ボトル1本につき、合図は1回</a:t>
            </a:r>
            <a:endParaRPr lang="en-US" sz="1600" dirty="0"/>
          </a:p>
        </p:txBody>
      </p:sp>
      <p:sp>
        <p:nvSpPr>
          <p:cNvPr id="29" name="Text 26"/>
          <p:cNvSpPr txBox="1"/>
          <p:nvPr/>
        </p:nvSpPr>
        <p:spPr>
          <a:xfrm>
            <a:off x="4846320" y="4663440"/>
            <a:ext cx="6568135" cy="457200"/>
          </a:xfrm>
          <a:prstGeom prst="rect">
            <a:avLst/>
          </a:prstGeom>
          <a:noFill/>
          <a:ln/>
        </p:spPr>
        <p:txBody>
          <a:bodyPr wrap="square" lIns="0" tIns="0" rIns="0" bIns="0" rtlCol="0" anchor="t"/>
          <a:lstStyle/>
          <a:p>
            <a:pPr indent="0" marL="0">
              <a:buNone/>
            </a:pPr>
            <a:r>
              <a:rPr lang="en-US" sz="1600" b="1" dirty="0">
                <a:solidFill>
                  <a:srgbClr val="1E2126"/>
                </a:solidFill>
                <a:latin typeface="Meiryo" pitchFamily="34" charset="0"/>
                <a:ea typeface="Meiryo" pitchFamily="34" charset="-122"/>
                <a:cs typeface="Meiryo" pitchFamily="34" charset="-120"/>
              </a:rPr>
              <a:t>✓　通過本数＝PLCのカウント（記録したすべての条件で）</a:t>
            </a:r>
            <a:endParaRPr lang="en-US" sz="1600" dirty="0"/>
          </a:p>
        </p:txBody>
      </p:sp>
      <p:sp>
        <p:nvSpPr>
          <p:cNvPr id="30" name="Text 27"/>
          <p:cNvSpPr txBox="1"/>
          <p:nvPr/>
        </p:nvSpPr>
        <p:spPr>
          <a:xfrm>
            <a:off x="548640" y="5577840"/>
            <a:ext cx="9144000" cy="274320"/>
          </a:xfrm>
          <a:prstGeom prst="rect">
            <a:avLst/>
          </a:prstGeom>
          <a:noFill/>
          <a:ln/>
        </p:spPr>
        <p:txBody>
          <a:bodyPr wrap="square" lIns="0" tIns="0" rIns="0" bIns="0" rtlCol="0" anchor="t"/>
          <a:lstStyle/>
          <a:p>
            <a:pPr indent="0" marL="0">
              <a:buNone/>
            </a:pPr>
            <a:r>
              <a:rPr lang="en-US" sz="1050" dirty="0">
                <a:solidFill>
                  <a:srgbClr val="5A6470"/>
                </a:solidFill>
                <a:latin typeface="Meiryo" pitchFamily="34" charset="0"/>
                <a:ea typeface="Meiryo" pitchFamily="34" charset="-122"/>
                <a:cs typeface="Meiryo" pitchFamily="34" charset="-120"/>
              </a:rPr>
              <a:t>※ 研修中のシミュレーションは「見方の説明」です。結果ではありません。</a:t>
            </a:r>
            <a:endParaRPr lang="en-US" sz="105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提案する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ワーク4　お客様への提案をつくろう</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Text 9"/>
          <p:cNvSpPr txBox="1"/>
          <p:nvPr/>
        </p:nvSpPr>
        <p:spPr>
          <a:xfrm>
            <a:off x="548640" y="1280160"/>
            <a:ext cx="2743200" cy="274320"/>
          </a:xfrm>
          <a:prstGeom prst="rect">
            <a:avLst/>
          </a:prstGeom>
          <a:noFill/>
          <a:ln/>
        </p:spPr>
        <p:txBody>
          <a:bodyPr wrap="square" lIns="0" tIns="0" rIns="0" bIns="0" rtlCol="0" anchor="t"/>
          <a:lstStyle/>
          <a:p>
            <a:pPr indent="0" marL="0">
              <a:buNone/>
            </a:pPr>
            <a:r>
              <a:rPr lang="en-US" sz="1100" b="1" spc="300" kern="0" dirty="0">
                <a:solidFill>
                  <a:srgbClr val="E60012"/>
                </a:solidFill>
                <a:latin typeface="Meiryo" pitchFamily="34" charset="0"/>
                <a:ea typeface="Meiryo" pitchFamily="34" charset="-122"/>
                <a:cs typeface="Meiryo" pitchFamily="34" charset="-120"/>
              </a:rPr>
              <a:t>WORK</a:t>
            </a:r>
            <a:endParaRPr lang="en-US" sz="1100" dirty="0"/>
          </a:p>
        </p:txBody>
      </p:sp>
      <p:sp>
        <p:nvSpPr>
          <p:cNvPr id="12" name="Text 10"/>
          <p:cNvSpPr txBox="1"/>
          <p:nvPr/>
        </p:nvSpPr>
        <p:spPr>
          <a:xfrm>
            <a:off x="548640" y="1645920"/>
            <a:ext cx="457200" cy="548640"/>
          </a:xfrm>
          <a:prstGeom prst="rect">
            <a:avLst/>
          </a:prstGeom>
          <a:noFill/>
          <a:ln/>
        </p:spPr>
        <p:txBody>
          <a:bodyPr wrap="square" lIns="0" tIns="0" rIns="0" bIns="0" rtlCol="0" anchor="t"/>
          <a:lstStyle/>
          <a:p>
            <a:pPr indent="0" marL="0">
              <a:buNone/>
            </a:pPr>
            <a:r>
              <a:rPr lang="en-US" sz="2400" b="1" dirty="0">
                <a:solidFill>
                  <a:srgbClr val="E60012"/>
                </a:solidFill>
                <a:latin typeface="Meiryo" pitchFamily="34" charset="0"/>
                <a:ea typeface="Meiryo" pitchFamily="34" charset="-122"/>
                <a:cs typeface="Meiryo" pitchFamily="34" charset="-120"/>
              </a:rPr>
              <a:t>1</a:t>
            </a:r>
            <a:endParaRPr lang="en-US" sz="2400" dirty="0"/>
          </a:p>
        </p:txBody>
      </p:sp>
      <p:sp>
        <p:nvSpPr>
          <p:cNvPr id="13" name="Text 11"/>
          <p:cNvSpPr txBox="1"/>
          <p:nvPr/>
        </p:nvSpPr>
        <p:spPr>
          <a:xfrm>
            <a:off x="1051560" y="1645920"/>
            <a:ext cx="5852160" cy="54864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お客様が本当に困っていることは何か</a:t>
            </a:r>
            <a:endParaRPr lang="en-US" sz="1700" dirty="0"/>
          </a:p>
        </p:txBody>
      </p:sp>
      <p:sp>
        <p:nvSpPr>
          <p:cNvPr id="14" name="Text 12"/>
          <p:cNvSpPr txBox="1"/>
          <p:nvPr/>
        </p:nvSpPr>
        <p:spPr>
          <a:xfrm>
            <a:off x="548640" y="2304288"/>
            <a:ext cx="457200" cy="548640"/>
          </a:xfrm>
          <a:prstGeom prst="rect">
            <a:avLst/>
          </a:prstGeom>
          <a:noFill/>
          <a:ln/>
        </p:spPr>
        <p:txBody>
          <a:bodyPr wrap="square" lIns="0" tIns="0" rIns="0" bIns="0" rtlCol="0" anchor="t"/>
          <a:lstStyle/>
          <a:p>
            <a:pPr indent="0" marL="0">
              <a:buNone/>
            </a:pPr>
            <a:r>
              <a:rPr lang="en-US" sz="2400" b="1" dirty="0">
                <a:solidFill>
                  <a:srgbClr val="E60012"/>
                </a:solidFill>
                <a:latin typeface="Meiryo" pitchFamily="34" charset="0"/>
                <a:ea typeface="Meiryo" pitchFamily="34" charset="-122"/>
                <a:cs typeface="Meiryo" pitchFamily="34" charset="-120"/>
              </a:rPr>
              <a:t>2</a:t>
            </a:r>
            <a:endParaRPr lang="en-US" sz="2400" dirty="0"/>
          </a:p>
        </p:txBody>
      </p:sp>
      <p:sp>
        <p:nvSpPr>
          <p:cNvPr id="15" name="Text 13"/>
          <p:cNvSpPr txBox="1"/>
          <p:nvPr/>
        </p:nvSpPr>
        <p:spPr>
          <a:xfrm>
            <a:off x="1051560" y="2304288"/>
            <a:ext cx="5852160" cy="54864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どんな解決策を提案するか。その理由は何か</a:t>
            </a:r>
            <a:endParaRPr lang="en-US" sz="1700" dirty="0"/>
          </a:p>
        </p:txBody>
      </p:sp>
      <p:sp>
        <p:nvSpPr>
          <p:cNvPr id="16" name="Text 14"/>
          <p:cNvSpPr txBox="1"/>
          <p:nvPr/>
        </p:nvSpPr>
        <p:spPr>
          <a:xfrm>
            <a:off x="548640" y="2962656"/>
            <a:ext cx="457200" cy="548640"/>
          </a:xfrm>
          <a:prstGeom prst="rect">
            <a:avLst/>
          </a:prstGeom>
          <a:noFill/>
          <a:ln/>
        </p:spPr>
        <p:txBody>
          <a:bodyPr wrap="square" lIns="0" tIns="0" rIns="0" bIns="0" rtlCol="0" anchor="t"/>
          <a:lstStyle/>
          <a:p>
            <a:pPr indent="0" marL="0">
              <a:buNone/>
            </a:pPr>
            <a:r>
              <a:rPr lang="en-US" sz="2400" b="1" dirty="0">
                <a:solidFill>
                  <a:srgbClr val="E60012"/>
                </a:solidFill>
                <a:latin typeface="Meiryo" pitchFamily="34" charset="0"/>
                <a:ea typeface="Meiryo" pitchFamily="34" charset="-122"/>
                <a:cs typeface="Meiryo" pitchFamily="34" charset="-120"/>
              </a:rPr>
              <a:t>3</a:t>
            </a:r>
            <a:endParaRPr lang="en-US" sz="2400" dirty="0"/>
          </a:p>
        </p:txBody>
      </p:sp>
      <p:sp>
        <p:nvSpPr>
          <p:cNvPr id="17" name="Text 15"/>
          <p:cNvSpPr txBox="1"/>
          <p:nvPr/>
        </p:nvSpPr>
        <p:spPr>
          <a:xfrm>
            <a:off x="1051560" y="2962656"/>
            <a:ext cx="5852160" cy="54864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導入を判断してもらうため、次に何を確認するか</a:t>
            </a:r>
            <a:endParaRPr lang="en-US" sz="1700" dirty="0"/>
          </a:p>
        </p:txBody>
      </p:sp>
      <p:sp>
        <p:nvSpPr>
          <p:cNvPr id="18" name="Shape 16"/>
          <p:cNvSpPr/>
          <p:nvPr/>
        </p:nvSpPr>
        <p:spPr>
          <a:xfrm>
            <a:off x="6903720" y="1325880"/>
            <a:ext cx="4736592" cy="2514600"/>
          </a:xfrm>
          <a:prstGeom prst="rect">
            <a:avLst/>
          </a:prstGeom>
          <a:solidFill>
            <a:srgbClr val="2A2D33"/>
          </a:solidFill>
          <a:ln/>
        </p:spPr>
      </p:sp>
      <p:sp>
        <p:nvSpPr>
          <p:cNvPr id="19" name="Text 17"/>
          <p:cNvSpPr txBox="1"/>
          <p:nvPr/>
        </p:nvSpPr>
        <p:spPr>
          <a:xfrm>
            <a:off x="7086600" y="1417320"/>
            <a:ext cx="4389120" cy="274320"/>
          </a:xfrm>
          <a:prstGeom prst="rect">
            <a:avLst/>
          </a:prstGeom>
          <a:noFill/>
          <a:ln/>
        </p:spPr>
        <p:txBody>
          <a:bodyPr wrap="square" lIns="0" tIns="0" rIns="0" bIns="0" rtlCol="0" anchor="t"/>
          <a:lstStyle/>
          <a:p>
            <a:pPr indent="0" marL="0">
              <a:buNone/>
            </a:pPr>
            <a:r>
              <a:rPr lang="en-US" sz="1000" b="1" dirty="0">
                <a:solidFill>
                  <a:srgbClr val="E60012"/>
                </a:solidFill>
                <a:latin typeface="Meiryo" pitchFamily="34" charset="0"/>
                <a:ea typeface="Meiryo" pitchFamily="34" charset="-122"/>
                <a:cs typeface="Meiryo" pitchFamily="34" charset="-120"/>
              </a:rPr>
              <a:t>提案の型（使っても使わなくてもOK）</a:t>
            </a:r>
            <a:endParaRPr lang="en-US" sz="1000" dirty="0"/>
          </a:p>
        </p:txBody>
      </p:sp>
      <p:sp>
        <p:nvSpPr>
          <p:cNvPr id="20" name="Text 18"/>
          <p:cNvSpPr txBox="1"/>
          <p:nvPr/>
        </p:nvSpPr>
        <p:spPr>
          <a:xfrm>
            <a:off x="7086600" y="1737360"/>
            <a:ext cx="4389120" cy="201168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Meiryo" pitchFamily="34" charset="0"/>
                <a:ea typeface="Meiryo" pitchFamily="34" charset="-122"/>
                <a:cs typeface="Meiryo" pitchFamily="34" charset="-120"/>
              </a:rPr>
              <a:t>お客様が本当に困っているのは〔　　　〕です。</a:t>
            </a:r>
            <a:endParaRPr lang="en-US" sz="1300" dirty="0"/>
          </a:p>
          <a:p>
            <a:pPr indent="0" marL="0">
              <a:lnSpc>
                <a:spcPct val="125000"/>
              </a:lnSpc>
              <a:buNone/>
            </a:pPr>
            <a:r>
              <a:rPr lang="en-US" sz="1300" dirty="0">
                <a:solidFill>
                  <a:srgbClr val="FFFFFF"/>
                </a:solidFill>
                <a:latin typeface="Meiryo" pitchFamily="34" charset="0"/>
                <a:ea typeface="Meiryo" pitchFamily="34" charset="-122"/>
                <a:cs typeface="Meiryo" pitchFamily="34" charset="-120"/>
              </a:rPr>
              <a:t>そこで〔　　　〕を提案します。理由は〔　　　〕です。</a:t>
            </a:r>
            <a:endParaRPr lang="en-US" sz="1300" dirty="0"/>
          </a:p>
          <a:p>
            <a:pPr indent="0" marL="0">
              <a:lnSpc>
                <a:spcPct val="125000"/>
              </a:lnSpc>
              <a:buNone/>
            </a:pPr>
            <a:r>
              <a:rPr lang="en-US" sz="1300" dirty="0">
                <a:solidFill>
                  <a:srgbClr val="FFFFFF"/>
                </a:solidFill>
                <a:latin typeface="Meiryo" pitchFamily="34" charset="0"/>
                <a:ea typeface="Meiryo" pitchFamily="34" charset="-122"/>
                <a:cs typeface="Meiryo" pitchFamily="34" charset="-120"/>
              </a:rPr>
              <a:t>まずは〔　　　〕を、一緒に確かめませんか？</a:t>
            </a:r>
            <a:endParaRPr lang="en-US" sz="1300" dirty="0"/>
          </a:p>
        </p:txBody>
      </p:sp>
      <p:sp>
        <p:nvSpPr>
          <p:cNvPr id="21" name="Shape 19"/>
          <p:cNvSpPr/>
          <p:nvPr/>
        </p:nvSpPr>
        <p:spPr>
          <a:xfrm>
            <a:off x="548640" y="4114800"/>
            <a:ext cx="3246120" cy="1005840"/>
          </a:xfrm>
          <a:prstGeom prst="rect">
            <a:avLst/>
          </a:prstGeom>
          <a:solidFill>
            <a:srgbClr val="2A2D33"/>
          </a:solidFill>
          <a:ln/>
        </p:spPr>
      </p:sp>
      <p:sp>
        <p:nvSpPr>
          <p:cNvPr id="22" name="Text 20"/>
          <p:cNvSpPr txBox="1"/>
          <p:nvPr/>
        </p:nvSpPr>
        <p:spPr>
          <a:xfrm>
            <a:off x="777240" y="4206240"/>
            <a:ext cx="2743200" cy="411480"/>
          </a:xfrm>
          <a:prstGeom prst="rect">
            <a:avLst/>
          </a:prstGeom>
          <a:noFill/>
          <a:ln/>
        </p:spPr>
        <p:txBody>
          <a:bodyPr wrap="square" lIns="0" tIns="0" rIns="0" bIns="0" rtlCol="0" anchor="t"/>
          <a:lstStyle/>
          <a:p>
            <a:pPr indent="0" marL="0">
              <a:buNone/>
            </a:pPr>
            <a:r>
              <a:rPr lang="en-US" sz="2000" b="1" dirty="0">
                <a:solidFill>
                  <a:srgbClr val="E60012"/>
                </a:solidFill>
                <a:latin typeface="Meiryo" pitchFamily="34" charset="0"/>
                <a:ea typeface="Meiryo" pitchFamily="34" charset="-122"/>
                <a:cs typeface="Meiryo" pitchFamily="34" charset="-120"/>
              </a:rPr>
              <a:t>2分</a:t>
            </a:r>
            <a:endParaRPr lang="en-US" sz="2000" dirty="0"/>
          </a:p>
        </p:txBody>
      </p:sp>
      <p:sp>
        <p:nvSpPr>
          <p:cNvPr id="23" name="Text 21"/>
          <p:cNvSpPr txBox="1"/>
          <p:nvPr/>
        </p:nvSpPr>
        <p:spPr>
          <a:xfrm>
            <a:off x="777240" y="4617720"/>
            <a:ext cx="2834640" cy="411480"/>
          </a:xfrm>
          <a:prstGeom prst="rect">
            <a:avLst/>
          </a:prstGeom>
          <a:noFill/>
          <a:ln/>
        </p:spPr>
        <p:txBody>
          <a:bodyPr wrap="square" lIns="0" tIns="0" rIns="0" bIns="0" rtlCol="0" anchor="t"/>
          <a:lstStyle/>
          <a:p>
            <a:pPr indent="0" marL="0">
              <a:buNone/>
            </a:pPr>
            <a:r>
              <a:rPr lang="en-US" sz="1250" dirty="0">
                <a:solidFill>
                  <a:srgbClr val="FFFFFF"/>
                </a:solidFill>
                <a:latin typeface="Meiryo" pitchFamily="34" charset="0"/>
                <a:ea typeface="Meiryo" pitchFamily="34" charset="-122"/>
                <a:cs typeface="Meiryo" pitchFamily="34" charset="-120"/>
              </a:rPr>
              <a:t>ひとりで3つの問いに答える</a:t>
            </a:r>
            <a:endParaRPr lang="en-US" sz="1250" dirty="0"/>
          </a:p>
        </p:txBody>
      </p:sp>
      <p:sp>
        <p:nvSpPr>
          <p:cNvPr id="24" name="Shape 22"/>
          <p:cNvSpPr/>
          <p:nvPr/>
        </p:nvSpPr>
        <p:spPr>
          <a:xfrm>
            <a:off x="3977640" y="4114800"/>
            <a:ext cx="3246120" cy="1005840"/>
          </a:xfrm>
          <a:prstGeom prst="rect">
            <a:avLst/>
          </a:prstGeom>
          <a:solidFill>
            <a:srgbClr val="2A2D33"/>
          </a:solidFill>
          <a:ln/>
        </p:spPr>
      </p:sp>
      <p:sp>
        <p:nvSpPr>
          <p:cNvPr id="25" name="Text 23"/>
          <p:cNvSpPr txBox="1"/>
          <p:nvPr/>
        </p:nvSpPr>
        <p:spPr>
          <a:xfrm>
            <a:off x="4206240" y="4206240"/>
            <a:ext cx="2743200" cy="411480"/>
          </a:xfrm>
          <a:prstGeom prst="rect">
            <a:avLst/>
          </a:prstGeom>
          <a:noFill/>
          <a:ln/>
        </p:spPr>
        <p:txBody>
          <a:bodyPr wrap="square" lIns="0" tIns="0" rIns="0" bIns="0" rtlCol="0" anchor="t"/>
          <a:lstStyle/>
          <a:p>
            <a:pPr indent="0" marL="0">
              <a:buNone/>
            </a:pPr>
            <a:r>
              <a:rPr lang="en-US" sz="2000" b="1" dirty="0">
                <a:solidFill>
                  <a:srgbClr val="E60012"/>
                </a:solidFill>
                <a:latin typeface="Meiryo" pitchFamily="34" charset="0"/>
                <a:ea typeface="Meiryo" pitchFamily="34" charset="-122"/>
                <a:cs typeface="Meiryo" pitchFamily="34" charset="-120"/>
              </a:rPr>
              <a:t>3分</a:t>
            </a:r>
            <a:endParaRPr lang="en-US" sz="2000" dirty="0"/>
          </a:p>
        </p:txBody>
      </p:sp>
      <p:sp>
        <p:nvSpPr>
          <p:cNvPr id="26" name="Text 24"/>
          <p:cNvSpPr txBox="1"/>
          <p:nvPr/>
        </p:nvSpPr>
        <p:spPr>
          <a:xfrm>
            <a:off x="4206240" y="4617720"/>
            <a:ext cx="2834640" cy="411480"/>
          </a:xfrm>
          <a:prstGeom prst="rect">
            <a:avLst/>
          </a:prstGeom>
          <a:noFill/>
          <a:ln/>
        </p:spPr>
        <p:txBody>
          <a:bodyPr wrap="square" lIns="0" tIns="0" rIns="0" bIns="0" rtlCol="0" anchor="t"/>
          <a:lstStyle/>
          <a:p>
            <a:pPr indent="0" marL="0">
              <a:buNone/>
            </a:pPr>
            <a:r>
              <a:rPr lang="en-US" sz="1250" dirty="0">
                <a:solidFill>
                  <a:srgbClr val="FFFFFF"/>
                </a:solidFill>
                <a:latin typeface="Meiryo" pitchFamily="34" charset="0"/>
                <a:ea typeface="Meiryo" pitchFamily="34" charset="-122"/>
                <a:cs typeface="Meiryo" pitchFamily="34" charset="-120"/>
              </a:rPr>
              <a:t>グループで1つの提案にまとめる</a:t>
            </a:r>
            <a:endParaRPr lang="en-US" sz="1250" dirty="0"/>
          </a:p>
        </p:txBody>
      </p:sp>
      <p:sp>
        <p:nvSpPr>
          <p:cNvPr id="27" name="Text 25"/>
          <p:cNvSpPr txBox="1"/>
          <p:nvPr/>
        </p:nvSpPr>
        <p:spPr>
          <a:xfrm>
            <a:off x="7452360" y="4114800"/>
            <a:ext cx="4206240" cy="10058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発表は1グループ90秒。お客様役に、直接提案します</a:t>
            </a:r>
            <a:endParaRPr lang="en-US" sz="1500" dirty="0"/>
          </a:p>
        </p:txBody>
      </p:sp>
      <p:sp>
        <p:nvSpPr>
          <p:cNvPr id="28" name="Text 26"/>
          <p:cNvSpPr txBox="1"/>
          <p:nvPr/>
        </p:nvSpPr>
        <p:spPr>
          <a:xfrm>
            <a:off x="548640" y="5394960"/>
            <a:ext cx="9144000" cy="320040"/>
          </a:xfrm>
          <a:prstGeom prst="rect">
            <a:avLst/>
          </a:prstGeom>
          <a:noFill/>
          <a:ln/>
        </p:spPr>
        <p:txBody>
          <a:bodyPr wrap="square" lIns="0" tIns="0" rIns="0" bIns="0" rtlCol="0" anchor="t"/>
          <a:lstStyle/>
          <a:p>
            <a:pPr indent="0" marL="0">
              <a:buNone/>
            </a:pPr>
            <a:r>
              <a:rPr lang="en-US" sz="1200" dirty="0">
                <a:solidFill>
                  <a:srgbClr val="8A939D"/>
                </a:solidFill>
                <a:latin typeface="Meiryo" pitchFamily="34" charset="0"/>
                <a:ea typeface="Meiryo" pitchFamily="34" charset="-122"/>
                <a:cs typeface="Meiryo" pitchFamily="34" charset="-120"/>
              </a:rPr>
              <a:t>手がかり：S30「お客様の要求」と、S34「検証計画」</a:t>
            </a:r>
            <a:endParaRPr lang="en-US" sz="12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提案する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提案タイム　お客様に提案しよう</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Text 9"/>
          <p:cNvSpPr txBox="1"/>
          <p:nvPr/>
        </p:nvSpPr>
        <p:spPr>
          <a:xfrm>
            <a:off x="548640" y="1280160"/>
            <a:ext cx="4572000" cy="274320"/>
          </a:xfrm>
          <a:prstGeom prst="rect">
            <a:avLst/>
          </a:prstGeom>
          <a:noFill/>
          <a:ln/>
        </p:spPr>
        <p:txBody>
          <a:bodyPr wrap="square" lIns="0" tIns="0" rIns="0" bIns="0" rtlCol="0" anchor="t"/>
          <a:lstStyle/>
          <a:p>
            <a:pPr indent="0" marL="0">
              <a:buNone/>
            </a:pPr>
            <a:r>
              <a:rPr lang="en-US" sz="1100" b="1" spc="300" kern="0" dirty="0">
                <a:solidFill>
                  <a:srgbClr val="E60012"/>
                </a:solidFill>
                <a:latin typeface="Meiryo" pitchFamily="34" charset="0"/>
                <a:ea typeface="Meiryo" pitchFamily="34" charset="-122"/>
                <a:cs typeface="Meiryo" pitchFamily="34" charset="-120"/>
              </a:rPr>
              <a:t>PROPOSAL TIME</a:t>
            </a:r>
            <a:endParaRPr lang="en-US" sz="1100" dirty="0"/>
          </a:p>
        </p:txBody>
      </p:sp>
      <p:sp>
        <p:nvSpPr>
          <p:cNvPr id="12" name="Text 10"/>
          <p:cNvSpPr txBox="1"/>
          <p:nvPr/>
        </p:nvSpPr>
        <p:spPr>
          <a:xfrm>
            <a:off x="548640" y="1600200"/>
            <a:ext cx="11094415" cy="731520"/>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1グループ90秒　→　お客様役から30秒の反応</a:t>
            </a:r>
            <a:endParaRPr lang="en-US" sz="3000" dirty="0"/>
          </a:p>
        </p:txBody>
      </p:sp>
      <p:sp>
        <p:nvSpPr>
          <p:cNvPr id="13" name="Text 11"/>
          <p:cNvSpPr txBox="1"/>
          <p:nvPr/>
        </p:nvSpPr>
        <p:spPr>
          <a:xfrm>
            <a:off x="548640" y="2606040"/>
            <a:ext cx="5486400" cy="274320"/>
          </a:xfrm>
          <a:prstGeom prst="rect">
            <a:avLst/>
          </a:prstGeom>
          <a:noFill/>
          <a:ln/>
        </p:spPr>
        <p:txBody>
          <a:bodyPr wrap="square" lIns="0" tIns="0" rIns="0" bIns="0" rtlCol="0" anchor="t"/>
          <a:lstStyle/>
          <a:p>
            <a:pPr indent="0" marL="0">
              <a:buNone/>
            </a:pPr>
            <a:r>
              <a:rPr lang="en-US" sz="1200" b="1" dirty="0">
                <a:solidFill>
                  <a:srgbClr val="8A939D"/>
                </a:solidFill>
                <a:latin typeface="Meiryo" pitchFamily="34" charset="0"/>
                <a:ea typeface="Meiryo" pitchFamily="34" charset="-122"/>
                <a:cs typeface="Meiryo" pitchFamily="34" charset="-120"/>
              </a:rPr>
              <a:t>お客様役が聞いているポイント</a:t>
            </a:r>
            <a:endParaRPr lang="en-US" sz="1200" dirty="0"/>
          </a:p>
        </p:txBody>
      </p:sp>
      <p:sp>
        <p:nvSpPr>
          <p:cNvPr id="14" name="Shape 12"/>
          <p:cNvSpPr/>
          <p:nvPr/>
        </p:nvSpPr>
        <p:spPr>
          <a:xfrm>
            <a:off x="548640" y="2971800"/>
            <a:ext cx="3566160" cy="2103120"/>
          </a:xfrm>
          <a:prstGeom prst="rect">
            <a:avLst/>
          </a:prstGeom>
          <a:solidFill>
            <a:srgbClr val="2A2D33"/>
          </a:solidFill>
          <a:ln/>
        </p:spPr>
      </p:sp>
      <p:sp>
        <p:nvSpPr>
          <p:cNvPr id="15" name="Text 13"/>
          <p:cNvSpPr txBox="1"/>
          <p:nvPr/>
        </p:nvSpPr>
        <p:spPr>
          <a:xfrm>
            <a:off x="777240" y="3063240"/>
            <a:ext cx="548640" cy="548640"/>
          </a:xfrm>
          <a:prstGeom prst="rect">
            <a:avLst/>
          </a:prstGeom>
          <a:noFill/>
          <a:ln/>
        </p:spPr>
        <p:txBody>
          <a:bodyPr wrap="square" lIns="0" tIns="0" rIns="0" bIns="0" rtlCol="0" anchor="t"/>
          <a:lstStyle/>
          <a:p>
            <a:pPr indent="0" marL="0">
              <a:buNone/>
            </a:pPr>
            <a:r>
              <a:rPr lang="en-US" sz="2600" b="1" dirty="0">
                <a:solidFill>
                  <a:srgbClr val="E60012"/>
                </a:solidFill>
                <a:latin typeface="Meiryo" pitchFamily="34" charset="0"/>
                <a:ea typeface="Meiryo" pitchFamily="34" charset="-122"/>
                <a:cs typeface="Meiryo" pitchFamily="34" charset="-120"/>
              </a:rPr>
              <a:t>1</a:t>
            </a:r>
            <a:endParaRPr lang="en-US" sz="2600" dirty="0"/>
          </a:p>
        </p:txBody>
      </p:sp>
      <p:sp>
        <p:nvSpPr>
          <p:cNvPr id="16" name="Text 14"/>
          <p:cNvSpPr txBox="1"/>
          <p:nvPr/>
        </p:nvSpPr>
        <p:spPr>
          <a:xfrm>
            <a:off x="1325880" y="3127248"/>
            <a:ext cx="2651760" cy="68580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困りごとを理解しているか</a:t>
            </a:r>
            <a:endParaRPr lang="en-US" sz="1600" dirty="0"/>
          </a:p>
        </p:txBody>
      </p:sp>
      <p:sp>
        <p:nvSpPr>
          <p:cNvPr id="17" name="Text 15"/>
          <p:cNvSpPr txBox="1"/>
          <p:nvPr/>
        </p:nvSpPr>
        <p:spPr>
          <a:xfrm>
            <a:off x="777240" y="3931920"/>
            <a:ext cx="3108960" cy="1005840"/>
          </a:xfrm>
          <a:prstGeom prst="rect">
            <a:avLst/>
          </a:prstGeom>
          <a:noFill/>
          <a:ln/>
        </p:spPr>
        <p:txBody>
          <a:bodyPr wrap="square" lIns="0" tIns="0" rIns="0" bIns="0" rtlCol="0" anchor="t"/>
          <a:lstStyle/>
          <a:p>
            <a:pPr indent="0" marL="0">
              <a:buNone/>
            </a:pPr>
            <a:r>
              <a:rPr lang="en-US" sz="1200" dirty="0">
                <a:solidFill>
                  <a:srgbClr val="C9CED4"/>
                </a:solidFill>
                <a:latin typeface="Meiryo" pitchFamily="34" charset="0"/>
                <a:ea typeface="Meiryo" pitchFamily="34" charset="-122"/>
                <a:cs typeface="Meiryo" pitchFamily="34" charset="-120"/>
              </a:rPr>
              <a:t>数が合わない、の先にある負担に触れているか</a:t>
            </a:r>
            <a:endParaRPr lang="en-US" sz="1200" dirty="0"/>
          </a:p>
        </p:txBody>
      </p:sp>
      <p:sp>
        <p:nvSpPr>
          <p:cNvPr id="18" name="Shape 16"/>
          <p:cNvSpPr/>
          <p:nvPr/>
        </p:nvSpPr>
        <p:spPr>
          <a:xfrm>
            <a:off x="4315968" y="2971800"/>
            <a:ext cx="3566160" cy="2103120"/>
          </a:xfrm>
          <a:prstGeom prst="rect">
            <a:avLst/>
          </a:prstGeom>
          <a:solidFill>
            <a:srgbClr val="2A2D33"/>
          </a:solidFill>
          <a:ln/>
        </p:spPr>
      </p:sp>
      <p:sp>
        <p:nvSpPr>
          <p:cNvPr id="19" name="Text 17"/>
          <p:cNvSpPr txBox="1"/>
          <p:nvPr/>
        </p:nvSpPr>
        <p:spPr>
          <a:xfrm>
            <a:off x="4544568" y="3063240"/>
            <a:ext cx="548640" cy="548640"/>
          </a:xfrm>
          <a:prstGeom prst="rect">
            <a:avLst/>
          </a:prstGeom>
          <a:noFill/>
          <a:ln/>
        </p:spPr>
        <p:txBody>
          <a:bodyPr wrap="square" lIns="0" tIns="0" rIns="0" bIns="0" rtlCol="0" anchor="t"/>
          <a:lstStyle/>
          <a:p>
            <a:pPr indent="0" marL="0">
              <a:buNone/>
            </a:pPr>
            <a:r>
              <a:rPr lang="en-US" sz="2600" b="1" dirty="0">
                <a:solidFill>
                  <a:srgbClr val="E60012"/>
                </a:solidFill>
                <a:latin typeface="Meiryo" pitchFamily="34" charset="0"/>
                <a:ea typeface="Meiryo" pitchFamily="34" charset="-122"/>
                <a:cs typeface="Meiryo" pitchFamily="34" charset="-120"/>
              </a:rPr>
              <a:t>2</a:t>
            </a:r>
            <a:endParaRPr lang="en-US" sz="2600" dirty="0"/>
          </a:p>
        </p:txBody>
      </p:sp>
      <p:sp>
        <p:nvSpPr>
          <p:cNvPr id="20" name="Text 18"/>
          <p:cNvSpPr txBox="1"/>
          <p:nvPr/>
        </p:nvSpPr>
        <p:spPr>
          <a:xfrm>
            <a:off x="5093208" y="3127248"/>
            <a:ext cx="2651760" cy="68580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提案に理由があるか</a:t>
            </a:r>
            <a:endParaRPr lang="en-US" sz="1600" dirty="0"/>
          </a:p>
        </p:txBody>
      </p:sp>
      <p:sp>
        <p:nvSpPr>
          <p:cNvPr id="21" name="Text 19"/>
          <p:cNvSpPr txBox="1"/>
          <p:nvPr/>
        </p:nvSpPr>
        <p:spPr>
          <a:xfrm>
            <a:off x="4544568" y="3931920"/>
            <a:ext cx="3108960" cy="1005840"/>
          </a:xfrm>
          <a:prstGeom prst="rect">
            <a:avLst/>
          </a:prstGeom>
          <a:noFill/>
          <a:ln/>
        </p:spPr>
        <p:txBody>
          <a:bodyPr wrap="square" lIns="0" tIns="0" rIns="0" bIns="0" rtlCol="0" anchor="t"/>
          <a:lstStyle/>
          <a:p>
            <a:pPr indent="0" marL="0">
              <a:buNone/>
            </a:pPr>
            <a:r>
              <a:rPr lang="en-US" sz="1200" dirty="0">
                <a:solidFill>
                  <a:srgbClr val="C9CED4"/>
                </a:solidFill>
                <a:latin typeface="Meiryo" pitchFamily="34" charset="0"/>
                <a:ea typeface="Meiryo" pitchFamily="34" charset="-122"/>
                <a:cs typeface="Meiryo" pitchFamily="34" charset="-120"/>
              </a:rPr>
              <a:t>なぜその解決策なのか、お客様の要求とつながっているか</a:t>
            </a:r>
            <a:endParaRPr lang="en-US" sz="1200" dirty="0"/>
          </a:p>
        </p:txBody>
      </p:sp>
      <p:sp>
        <p:nvSpPr>
          <p:cNvPr id="22" name="Shape 20"/>
          <p:cNvSpPr/>
          <p:nvPr/>
        </p:nvSpPr>
        <p:spPr>
          <a:xfrm>
            <a:off x="8083296" y="2971800"/>
            <a:ext cx="3566160" cy="2103120"/>
          </a:xfrm>
          <a:prstGeom prst="rect">
            <a:avLst/>
          </a:prstGeom>
          <a:solidFill>
            <a:srgbClr val="2A2D33"/>
          </a:solidFill>
          <a:ln/>
        </p:spPr>
      </p:sp>
      <p:sp>
        <p:nvSpPr>
          <p:cNvPr id="23" name="Text 21"/>
          <p:cNvSpPr txBox="1"/>
          <p:nvPr/>
        </p:nvSpPr>
        <p:spPr>
          <a:xfrm>
            <a:off x="8311896" y="3063240"/>
            <a:ext cx="548640" cy="548640"/>
          </a:xfrm>
          <a:prstGeom prst="rect">
            <a:avLst/>
          </a:prstGeom>
          <a:noFill/>
          <a:ln/>
        </p:spPr>
        <p:txBody>
          <a:bodyPr wrap="square" lIns="0" tIns="0" rIns="0" bIns="0" rtlCol="0" anchor="t"/>
          <a:lstStyle/>
          <a:p>
            <a:pPr indent="0" marL="0">
              <a:buNone/>
            </a:pPr>
            <a:r>
              <a:rPr lang="en-US" sz="2600" b="1" dirty="0">
                <a:solidFill>
                  <a:srgbClr val="E60012"/>
                </a:solidFill>
                <a:latin typeface="Meiryo" pitchFamily="34" charset="0"/>
                <a:ea typeface="Meiryo" pitchFamily="34" charset="-122"/>
                <a:cs typeface="Meiryo" pitchFamily="34" charset="-120"/>
              </a:rPr>
              <a:t>3</a:t>
            </a:r>
            <a:endParaRPr lang="en-US" sz="2600" dirty="0"/>
          </a:p>
        </p:txBody>
      </p:sp>
      <p:sp>
        <p:nvSpPr>
          <p:cNvPr id="24" name="Text 22"/>
          <p:cNvSpPr txBox="1"/>
          <p:nvPr/>
        </p:nvSpPr>
        <p:spPr>
          <a:xfrm>
            <a:off x="8860536" y="3127248"/>
            <a:ext cx="2651760" cy="68580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次の行動を示しているか</a:t>
            </a:r>
            <a:endParaRPr lang="en-US" sz="1600" dirty="0"/>
          </a:p>
        </p:txBody>
      </p:sp>
      <p:sp>
        <p:nvSpPr>
          <p:cNvPr id="25" name="Text 23"/>
          <p:cNvSpPr txBox="1"/>
          <p:nvPr/>
        </p:nvSpPr>
        <p:spPr>
          <a:xfrm>
            <a:off x="8311896" y="3931920"/>
            <a:ext cx="3108960" cy="1005840"/>
          </a:xfrm>
          <a:prstGeom prst="rect">
            <a:avLst/>
          </a:prstGeom>
          <a:noFill/>
          <a:ln/>
        </p:spPr>
        <p:txBody>
          <a:bodyPr wrap="square" lIns="0" tIns="0" rIns="0" bIns="0" rtlCol="0" anchor="t"/>
          <a:lstStyle/>
          <a:p>
            <a:pPr indent="0" marL="0">
              <a:buNone/>
            </a:pPr>
            <a:r>
              <a:rPr lang="en-US" sz="1200" dirty="0">
                <a:solidFill>
                  <a:srgbClr val="C9CED4"/>
                </a:solidFill>
                <a:latin typeface="Meiryo" pitchFamily="34" charset="0"/>
                <a:ea typeface="Meiryo" pitchFamily="34" charset="-122"/>
                <a:cs typeface="Meiryo" pitchFamily="34" charset="-120"/>
              </a:rPr>
              <a:t>お客様が判断するために、何を確かめるかを言えているか</a:t>
            </a:r>
            <a:endParaRPr lang="en-US" sz="1200" dirty="0"/>
          </a:p>
        </p:txBody>
      </p:sp>
      <p:sp>
        <p:nvSpPr>
          <p:cNvPr id="26" name="Text 24"/>
          <p:cNvSpPr txBox="1"/>
          <p:nvPr/>
        </p:nvSpPr>
        <p:spPr>
          <a:xfrm>
            <a:off x="548640" y="5349240"/>
            <a:ext cx="11094415"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正解かどうかではなく、お客様が「それならやってみたい」と思えるかで聞きます</a:t>
            </a:r>
            <a:endParaRPr lang="en-US" sz="14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提案する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お客様の気持ちが動いた</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REFLECTION</a:t>
            </a:r>
            <a:endParaRPr lang="en-US" sz="650" dirty="0"/>
          </a:p>
        </p:txBody>
      </p:sp>
      <p:sp>
        <p:nvSpPr>
          <p:cNvPr id="11" name="VIDEO_PLACEHOLDER_04"/>
          <p:cNvSpPr/>
          <p:nvPr/>
        </p:nvSpPr>
        <p:spPr>
          <a:xfrm>
            <a:off x="548640" y="1280160"/>
            <a:ext cx="4206240" cy="2377440"/>
          </a:xfrm>
          <a:prstGeom prst="rect">
            <a:avLst/>
          </a:prstGeom>
          <a:solidFill>
            <a:srgbClr val="1B1D20"/>
          </a:solidFill>
          <a:ln w="15875">
            <a:solidFill>
              <a:srgbClr val="5A5D63"/>
            </a:solidFill>
            <a:prstDash val="dash"/>
          </a:ln>
        </p:spPr>
      </p:sp>
      <p:sp>
        <p:nvSpPr>
          <p:cNvPr id="12" name="Text 10"/>
          <p:cNvSpPr txBox="1"/>
          <p:nvPr/>
        </p:nvSpPr>
        <p:spPr>
          <a:xfrm>
            <a:off x="685800" y="1371600"/>
            <a:ext cx="3931920" cy="2194560"/>
          </a:xfrm>
          <a:prstGeom prst="rect">
            <a:avLst/>
          </a:prstGeom>
          <a:noFill/>
          <a:ln/>
        </p:spPr>
        <p:txBody>
          <a:bodyPr wrap="square" lIns="0" tIns="0" rIns="0" bIns="0" rtlCol="0" anchor="ctr"/>
          <a:lstStyle/>
          <a:p>
            <a:pPr algn="ctr" indent="0" marL="0">
              <a:spcAft>
                <a:spcPts val="300"/>
              </a:spcAft>
              <a:buNone/>
            </a:pPr>
            <a:r>
              <a:rPr lang="en-US" sz="1100" b="1" dirty="0">
                <a:solidFill>
                  <a:srgbClr val="E60012"/>
                </a:solidFill>
                <a:latin typeface="Meiryo" pitchFamily="34" charset="0"/>
                <a:ea typeface="Meiryo" pitchFamily="34" charset="-122"/>
                <a:cs typeface="Meiryo" pitchFamily="34" charset="-120"/>
              </a:rPr>
              <a:t>【VIDEO_PLACEHOLDER_04】</a:t>
            </a:r>
            <a:endParaRPr lang="en-US" sz="1100" dirty="0"/>
          </a:p>
          <a:p>
            <a:pPr algn="ctr" indent="0" marL="0">
              <a:spcAft>
                <a:spcPts val="300"/>
              </a:spcAft>
              <a:buNone/>
            </a:pPr>
            <a:r>
              <a:rPr lang="en-US" sz="950" dirty="0">
                <a:solidFill>
                  <a:srgbClr val="FFFFFF"/>
                </a:solidFill>
                <a:latin typeface="Meiryo" pitchFamily="34" charset="0"/>
                <a:ea typeface="Meiryo" pitchFamily="34" charset="-122"/>
                <a:cs typeface="Meiryo" pitchFamily="34" charset="-120"/>
              </a:rPr>
              <a:t>用途：映像④　顧客との対話（反応）</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目的：学生の提案のあとに、お客様の気持ちが動く場面を見せる</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状態：後日指定動画に差し替え</a:t>
            </a:r>
            <a:endParaRPr lang="en-US" sz="1100" dirty="0"/>
          </a:p>
        </p:txBody>
      </p:sp>
      <p:sp>
        <p:nvSpPr>
          <p:cNvPr id="13" name="IMAGE_PLACEHOLDER_05"/>
          <p:cNvSpPr/>
          <p:nvPr/>
        </p:nvSpPr>
        <p:spPr>
          <a:xfrm>
            <a:off x="548640" y="3794760"/>
            <a:ext cx="4206240" cy="1920240"/>
          </a:xfrm>
          <a:prstGeom prst="rect">
            <a:avLst/>
          </a:prstGeom>
          <a:solidFill>
            <a:srgbClr val="1B1D20"/>
          </a:solidFill>
          <a:ln w="15875">
            <a:solidFill>
              <a:srgbClr val="5A5D63"/>
            </a:solidFill>
            <a:prstDash val="dash"/>
          </a:ln>
        </p:spPr>
      </p:sp>
      <p:sp>
        <p:nvSpPr>
          <p:cNvPr id="14" name="Text 12"/>
          <p:cNvSpPr txBox="1"/>
          <p:nvPr/>
        </p:nvSpPr>
        <p:spPr>
          <a:xfrm>
            <a:off x="685800" y="3886200"/>
            <a:ext cx="3931920" cy="1737360"/>
          </a:xfrm>
          <a:prstGeom prst="rect">
            <a:avLst/>
          </a:prstGeom>
          <a:noFill/>
          <a:ln/>
        </p:spPr>
        <p:txBody>
          <a:bodyPr wrap="square" lIns="0" tIns="0" rIns="0" bIns="0" rtlCol="0" anchor="ctr"/>
          <a:lstStyle/>
          <a:p>
            <a:pPr algn="ctr" indent="0" marL="0">
              <a:spcAft>
                <a:spcPts val="300"/>
              </a:spcAft>
              <a:buNone/>
            </a:pPr>
            <a:r>
              <a:rPr lang="en-US" sz="1100" b="1" dirty="0">
                <a:solidFill>
                  <a:srgbClr val="E60012"/>
                </a:solidFill>
                <a:latin typeface="Meiryo" pitchFamily="34" charset="0"/>
                <a:ea typeface="Meiryo" pitchFamily="34" charset="-122"/>
                <a:cs typeface="Meiryo" pitchFamily="34" charset="-120"/>
              </a:rPr>
              <a:t>【IMAGE_PLACEHOLDER_05】</a:t>
            </a:r>
            <a:endParaRPr lang="en-US" sz="1100" dirty="0"/>
          </a:p>
          <a:p>
            <a:pPr algn="ctr" indent="0" marL="0">
              <a:spcAft>
                <a:spcPts val="300"/>
              </a:spcAft>
              <a:buNone/>
            </a:pPr>
            <a:r>
              <a:rPr lang="en-US" sz="950" dirty="0">
                <a:solidFill>
                  <a:srgbClr val="FFFFFF"/>
                </a:solidFill>
                <a:latin typeface="Meiryo" pitchFamily="34" charset="0"/>
                <a:ea typeface="Meiryo" pitchFamily="34" charset="-122"/>
                <a:cs typeface="Meiryo" pitchFamily="34" charset="-120"/>
              </a:rPr>
              <a:t>用途：顧客と営業担当者の対話</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目的：顧客の信頼獲得と営業の面白さを表現する</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状態：後日指定画像に差し替え</a:t>
            </a:r>
            <a:endParaRPr lang="en-US" sz="1100" dirty="0"/>
          </a:p>
        </p:txBody>
      </p:sp>
      <p:sp>
        <p:nvSpPr>
          <p:cNvPr id="15" name="Shape 13"/>
          <p:cNvSpPr/>
          <p:nvPr/>
        </p:nvSpPr>
        <p:spPr>
          <a:xfrm>
            <a:off x="5074920" y="1280160"/>
            <a:ext cx="6568135" cy="960120"/>
          </a:xfrm>
          <a:prstGeom prst="rect">
            <a:avLst/>
          </a:prstGeom>
          <a:solidFill>
            <a:srgbClr val="2A2D33"/>
          </a:solidFill>
          <a:ln/>
        </p:spPr>
      </p:sp>
      <p:sp>
        <p:nvSpPr>
          <p:cNvPr id="16" name="Text 14"/>
          <p:cNvSpPr txBox="1"/>
          <p:nvPr/>
        </p:nvSpPr>
        <p:spPr>
          <a:xfrm>
            <a:off x="5303520" y="1353312"/>
            <a:ext cx="2743200" cy="228600"/>
          </a:xfrm>
          <a:prstGeom prst="rect">
            <a:avLst/>
          </a:prstGeom>
          <a:noFill/>
          <a:ln/>
        </p:spPr>
        <p:txBody>
          <a:bodyPr wrap="square" lIns="0" tIns="0" rIns="0" bIns="0" rtlCol="0" anchor="t"/>
          <a:lstStyle/>
          <a:p>
            <a:pPr indent="0" marL="0">
              <a:buNone/>
            </a:pPr>
            <a:r>
              <a:rPr lang="en-US" sz="1000" b="1" dirty="0">
                <a:solidFill>
                  <a:srgbClr val="E60012"/>
                </a:solidFill>
                <a:latin typeface="Meiryo" pitchFamily="34" charset="0"/>
                <a:ea typeface="Meiryo" pitchFamily="34" charset="-122"/>
                <a:cs typeface="Meiryo" pitchFamily="34" charset="-120"/>
              </a:rPr>
              <a:t>あなたの提案</a:t>
            </a:r>
            <a:endParaRPr lang="en-US" sz="1000" dirty="0"/>
          </a:p>
        </p:txBody>
      </p:sp>
      <p:sp>
        <p:nvSpPr>
          <p:cNvPr id="17" name="Text 15"/>
          <p:cNvSpPr txBox="1"/>
          <p:nvPr/>
        </p:nvSpPr>
        <p:spPr>
          <a:xfrm>
            <a:off x="5303520" y="1600200"/>
            <a:ext cx="6110935" cy="59436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「まず実際のボトルとラインの条件を確認して、改善できるか一緒に試してみませんか？」</a:t>
            </a:r>
            <a:endParaRPr lang="en-US" sz="1400" dirty="0"/>
          </a:p>
        </p:txBody>
      </p:sp>
      <p:sp>
        <p:nvSpPr>
          <p:cNvPr id="18" name="Shape 16"/>
          <p:cNvSpPr/>
          <p:nvPr/>
        </p:nvSpPr>
        <p:spPr>
          <a:xfrm>
            <a:off x="5074920" y="2423160"/>
            <a:ext cx="6568135" cy="896112"/>
          </a:xfrm>
          <a:prstGeom prst="rect">
            <a:avLst/>
          </a:prstGeom>
          <a:solidFill>
            <a:srgbClr val="FFFFFF"/>
          </a:solidFill>
          <a:ln/>
        </p:spPr>
      </p:sp>
      <p:sp>
        <p:nvSpPr>
          <p:cNvPr id="19" name="Text 17"/>
          <p:cNvSpPr txBox="1"/>
          <p:nvPr/>
        </p:nvSpPr>
        <p:spPr>
          <a:xfrm>
            <a:off x="5303520" y="2423160"/>
            <a:ext cx="1188720" cy="896112"/>
          </a:xfrm>
          <a:prstGeom prst="rect">
            <a:avLst/>
          </a:prstGeom>
          <a:noFill/>
          <a:ln/>
        </p:spPr>
        <p:txBody>
          <a:bodyPr wrap="square" lIns="0" tIns="0" rIns="0" bIns="0" rtlCol="0" anchor="ctr"/>
          <a:lstStyle/>
          <a:p>
            <a:pPr indent="0" marL="0">
              <a:buNone/>
            </a:pPr>
            <a:r>
              <a:rPr lang="en-US" sz="1200" b="1" dirty="0">
                <a:solidFill>
                  <a:srgbClr val="5A6470"/>
                </a:solidFill>
                <a:latin typeface="Meiryo" pitchFamily="34" charset="0"/>
                <a:ea typeface="Meiryo" pitchFamily="34" charset="-122"/>
                <a:cs typeface="Meiryo" pitchFamily="34" charset="-120"/>
              </a:rPr>
              <a:t>佐藤さん</a:t>
            </a:r>
            <a:endParaRPr lang="en-US" sz="1200" dirty="0"/>
          </a:p>
        </p:txBody>
      </p:sp>
      <p:sp>
        <p:nvSpPr>
          <p:cNvPr id="20" name="Text 18"/>
          <p:cNvSpPr txBox="1"/>
          <p:nvPr/>
        </p:nvSpPr>
        <p:spPr>
          <a:xfrm>
            <a:off x="6446520" y="2423160"/>
            <a:ext cx="5013655" cy="896112"/>
          </a:xfrm>
          <a:prstGeom prst="rect">
            <a:avLst/>
          </a:prstGeom>
          <a:noFill/>
          <a:ln/>
        </p:spPr>
        <p:txBody>
          <a:bodyPr wrap="square" lIns="0" tIns="0" rIns="0" bIns="0" rtlCol="0" anchor="ctr"/>
          <a:lstStyle/>
          <a:p>
            <a:pPr indent="0" marL="0">
              <a:buNone/>
            </a:pPr>
            <a:r>
              <a:rPr lang="en-US" sz="1650" b="1" dirty="0">
                <a:solidFill>
                  <a:srgbClr val="1E2126"/>
                </a:solidFill>
                <a:latin typeface="Meiryo" pitchFamily="34" charset="0"/>
                <a:ea typeface="Meiryo" pitchFamily="34" charset="-122"/>
                <a:cs typeface="Meiryo" pitchFamily="34" charset="-120"/>
              </a:rPr>
              <a:t>「なるほど。すぐ交換するのではなく、原因を確かめてから判断するんですね。」</a:t>
            </a:r>
            <a:endParaRPr lang="en-US" sz="1650" dirty="0"/>
          </a:p>
        </p:txBody>
      </p:sp>
      <p:sp>
        <p:nvSpPr>
          <p:cNvPr id="21" name="Shape 19"/>
          <p:cNvSpPr/>
          <p:nvPr/>
        </p:nvSpPr>
        <p:spPr>
          <a:xfrm>
            <a:off x="5074920" y="3447288"/>
            <a:ext cx="6568135" cy="896112"/>
          </a:xfrm>
          <a:prstGeom prst="rect">
            <a:avLst/>
          </a:prstGeom>
          <a:solidFill>
            <a:srgbClr val="E60012"/>
          </a:solidFill>
          <a:ln/>
        </p:spPr>
      </p:sp>
      <p:sp>
        <p:nvSpPr>
          <p:cNvPr id="22" name="Text 20"/>
          <p:cNvSpPr txBox="1"/>
          <p:nvPr/>
        </p:nvSpPr>
        <p:spPr>
          <a:xfrm>
            <a:off x="5303520" y="3447288"/>
            <a:ext cx="1188720" cy="896112"/>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佐藤さん</a:t>
            </a:r>
            <a:endParaRPr lang="en-US" sz="1200" dirty="0"/>
          </a:p>
        </p:txBody>
      </p:sp>
      <p:sp>
        <p:nvSpPr>
          <p:cNvPr id="23" name="Text 21"/>
          <p:cNvSpPr txBox="1"/>
          <p:nvPr/>
        </p:nvSpPr>
        <p:spPr>
          <a:xfrm>
            <a:off x="6446520" y="3447288"/>
            <a:ext cx="5013655" cy="896112"/>
          </a:xfrm>
          <a:prstGeom prst="rect">
            <a:avLst/>
          </a:prstGeom>
          <a:noFill/>
          <a:ln/>
        </p:spPr>
        <p:txBody>
          <a:bodyPr wrap="square" lIns="0" tIns="0" rIns="0" bIns="0" rtlCol="0" anchor="ctr"/>
          <a:lstStyle/>
          <a:p>
            <a:pPr indent="0" marL="0">
              <a:buNone/>
            </a:pPr>
            <a:r>
              <a:rPr lang="en-US" sz="1650" b="1" dirty="0">
                <a:solidFill>
                  <a:srgbClr val="FFFFFF"/>
                </a:solidFill>
                <a:latin typeface="Meiryo" pitchFamily="34" charset="0"/>
                <a:ea typeface="Meiryo" pitchFamily="34" charset="-122"/>
                <a:cs typeface="Meiryo" pitchFamily="34" charset="-120"/>
              </a:rPr>
              <a:t>「それなら、一度試してみたいです。」</a:t>
            </a:r>
            <a:endParaRPr lang="en-US" sz="1650" dirty="0"/>
          </a:p>
        </p:txBody>
      </p:sp>
      <p:sp>
        <p:nvSpPr>
          <p:cNvPr id="24" name="Shape 22"/>
          <p:cNvSpPr/>
          <p:nvPr/>
        </p:nvSpPr>
        <p:spPr>
          <a:xfrm>
            <a:off x="5074920" y="4471416"/>
            <a:ext cx="6568135" cy="896112"/>
          </a:xfrm>
          <a:prstGeom prst="rect">
            <a:avLst/>
          </a:prstGeom>
          <a:solidFill>
            <a:srgbClr val="FFFFFF"/>
          </a:solidFill>
          <a:ln/>
        </p:spPr>
      </p:sp>
      <p:sp>
        <p:nvSpPr>
          <p:cNvPr id="25" name="Text 23"/>
          <p:cNvSpPr txBox="1"/>
          <p:nvPr/>
        </p:nvSpPr>
        <p:spPr>
          <a:xfrm>
            <a:off x="5303520" y="4471416"/>
            <a:ext cx="1188720" cy="896112"/>
          </a:xfrm>
          <a:prstGeom prst="rect">
            <a:avLst/>
          </a:prstGeom>
          <a:noFill/>
          <a:ln/>
        </p:spPr>
        <p:txBody>
          <a:bodyPr wrap="square" lIns="0" tIns="0" rIns="0" bIns="0" rtlCol="0" anchor="ctr"/>
          <a:lstStyle/>
          <a:p>
            <a:pPr indent="0" marL="0">
              <a:buNone/>
            </a:pPr>
            <a:r>
              <a:rPr lang="en-US" sz="1200" b="1" dirty="0">
                <a:solidFill>
                  <a:srgbClr val="5A6470"/>
                </a:solidFill>
                <a:latin typeface="Meiryo" pitchFamily="34" charset="0"/>
                <a:ea typeface="Meiryo" pitchFamily="34" charset="-122"/>
                <a:cs typeface="Meiryo" pitchFamily="34" charset="-120"/>
              </a:rPr>
              <a:t>高橋さん</a:t>
            </a:r>
            <a:endParaRPr lang="en-US" sz="1200" dirty="0"/>
          </a:p>
        </p:txBody>
      </p:sp>
      <p:sp>
        <p:nvSpPr>
          <p:cNvPr id="26" name="Text 24"/>
          <p:cNvSpPr txBox="1"/>
          <p:nvPr/>
        </p:nvSpPr>
        <p:spPr>
          <a:xfrm>
            <a:off x="6446520" y="4471416"/>
            <a:ext cx="5013655" cy="896112"/>
          </a:xfrm>
          <a:prstGeom prst="rect">
            <a:avLst/>
          </a:prstGeom>
          <a:noFill/>
          <a:ln/>
        </p:spPr>
        <p:txBody>
          <a:bodyPr wrap="square" lIns="0" tIns="0" rIns="0" bIns="0" rtlCol="0" anchor="ctr"/>
          <a:lstStyle/>
          <a:p>
            <a:pPr indent="0" marL="0">
              <a:buNone/>
            </a:pPr>
            <a:r>
              <a:rPr lang="en-US" sz="1650" b="1" dirty="0">
                <a:solidFill>
                  <a:srgbClr val="1E2126"/>
                </a:solidFill>
                <a:latin typeface="Meiryo" pitchFamily="34" charset="0"/>
                <a:ea typeface="Meiryo" pitchFamily="34" charset="-122"/>
                <a:cs typeface="Meiryo" pitchFamily="34" charset="-120"/>
              </a:rPr>
              <a:t>「そこまで考えてくれるとは思いませんでした。」</a:t>
            </a:r>
            <a:endParaRPr lang="en-US" sz="1650" dirty="0"/>
          </a:p>
        </p:txBody>
      </p:sp>
      <p:sp>
        <p:nvSpPr>
          <p:cNvPr id="27" name="Text 25"/>
          <p:cNvSpPr txBox="1"/>
          <p:nvPr/>
        </p:nvSpPr>
        <p:spPr>
          <a:xfrm>
            <a:off x="5074920" y="5532120"/>
            <a:ext cx="6568135" cy="274320"/>
          </a:xfrm>
          <a:prstGeom prst="rect">
            <a:avLst/>
          </a:prstGeom>
          <a:noFill/>
          <a:ln/>
        </p:spPr>
        <p:txBody>
          <a:bodyPr wrap="square" lIns="0" tIns="0" rIns="0" bIns="0" rtlCol="0" anchor="t"/>
          <a:lstStyle/>
          <a:p>
            <a:pPr indent="0" marL="0">
              <a:buNone/>
            </a:pPr>
            <a:r>
              <a:rPr lang="en-US" sz="1000" dirty="0">
                <a:solidFill>
                  <a:srgbClr val="8A939D"/>
                </a:solidFill>
                <a:latin typeface="Meiryo" pitchFamily="34" charset="0"/>
                <a:ea typeface="Meiryo" pitchFamily="34" charset="-122"/>
                <a:cs typeface="Meiryo" pitchFamily="34" charset="-120"/>
              </a:rPr>
              <a:t>※ 演習用の台詞です（実在のお客様のコメントではありません）</a:t>
            </a:r>
            <a:endParaRPr lang="en-US" sz="10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566928"/>
            <a:ext cx="786384" cy="329184"/>
          </a:xfrm>
          <a:prstGeom prst="rect">
            <a:avLst/>
          </a:prstGeom>
          <a:solidFill>
            <a:srgbClr val="E60012"/>
          </a:solidFill>
          <a:ln/>
        </p:spPr>
      </p:sp>
      <p:sp>
        <p:nvSpPr>
          <p:cNvPr id="3" name="Text 1"/>
          <p:cNvSpPr txBox="1"/>
          <p:nvPr/>
        </p:nvSpPr>
        <p:spPr>
          <a:xfrm>
            <a:off x="548640" y="566928"/>
            <a:ext cx="7863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提案する</a:t>
            </a:r>
            <a:endParaRPr lang="en-US" sz="1100" dirty="0"/>
          </a:p>
        </p:txBody>
      </p:sp>
      <p:sp>
        <p:nvSpPr>
          <p:cNvPr id="4" name="Text 2"/>
          <p:cNvSpPr txBox="1"/>
          <p:nvPr/>
        </p:nvSpPr>
        <p:spPr>
          <a:xfrm>
            <a:off x="1499616" y="530352"/>
            <a:ext cx="10125151"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任された、次の一歩</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280160"/>
            <a:ext cx="11094415" cy="960120"/>
          </a:xfrm>
          <a:prstGeom prst="rect">
            <a:avLst/>
          </a:prstGeom>
          <a:solidFill>
            <a:srgbClr val="141517"/>
          </a:solidFill>
          <a:ln/>
        </p:spPr>
      </p:sp>
      <p:sp>
        <p:nvSpPr>
          <p:cNvPr id="12" name="Text 10"/>
          <p:cNvSpPr txBox="1"/>
          <p:nvPr/>
        </p:nvSpPr>
        <p:spPr>
          <a:xfrm>
            <a:off x="822960" y="1280160"/>
            <a:ext cx="10545775" cy="960120"/>
          </a:xfrm>
          <a:prstGeom prst="rect">
            <a:avLst/>
          </a:prstGeom>
          <a:noFill/>
          <a:ln/>
        </p:spPr>
        <p:txBody>
          <a:bodyPr wrap="square" lIns="0" tIns="0" rIns="0" bIns="0" rtlCol="0" anchor="ctr"/>
          <a:lstStyle/>
          <a:p>
            <a:pPr indent="0" marL="0">
              <a:buNone/>
            </a:pPr>
            <a:r>
              <a:rPr lang="en-US" sz="1300" b="1" dirty="0">
                <a:solidFill>
                  <a:srgbClr val="E60012"/>
                </a:solidFill>
                <a:latin typeface="Meiryo" pitchFamily="34" charset="0"/>
                <a:ea typeface="Meiryo" pitchFamily="34" charset="-122"/>
                <a:cs typeface="Meiryo" pitchFamily="34" charset="-120"/>
              </a:rPr>
              <a:t>佐藤さん　</a:t>
            </a:r>
            <a:pPr indent="0" marL="0">
              <a:buNone/>
            </a:pPr>
            <a:r>
              <a:rPr lang="en-US" sz="2100" b="1" dirty="0">
                <a:solidFill>
                  <a:srgbClr val="FFFFFF"/>
                </a:solidFill>
                <a:latin typeface="Meiryo" pitchFamily="34" charset="0"/>
                <a:ea typeface="Meiryo" pitchFamily="34" charset="-122"/>
                <a:cs typeface="Meiryo" pitchFamily="34" charset="-120"/>
              </a:rPr>
              <a:t>「では、実機での評価の段取りをお願いできますか。」</a:t>
            </a:r>
            <a:endParaRPr lang="en-US" sz="1300" dirty="0"/>
          </a:p>
        </p:txBody>
      </p:sp>
      <p:sp>
        <p:nvSpPr>
          <p:cNvPr id="13" name="Shape 11"/>
          <p:cNvSpPr/>
          <p:nvPr/>
        </p:nvSpPr>
        <p:spPr>
          <a:xfrm>
            <a:off x="548640" y="2468880"/>
            <a:ext cx="11094415" cy="658368"/>
          </a:xfrm>
          <a:prstGeom prst="rect">
            <a:avLst/>
          </a:prstGeom>
          <a:solidFill>
            <a:srgbClr val="FFFFFF"/>
          </a:solidFill>
          <a:ln/>
        </p:spPr>
      </p:sp>
      <p:sp>
        <p:nvSpPr>
          <p:cNvPr id="14" name="Text 12"/>
          <p:cNvSpPr txBox="1"/>
          <p:nvPr/>
        </p:nvSpPr>
        <p:spPr>
          <a:xfrm>
            <a:off x="777240" y="2468880"/>
            <a:ext cx="2560320" cy="658368"/>
          </a:xfrm>
          <a:prstGeom prst="rect">
            <a:avLst/>
          </a:prstGeom>
          <a:noFill/>
          <a:ln/>
        </p:spPr>
        <p:txBody>
          <a:bodyPr wrap="square" lIns="0" tIns="0" rIns="0" bIns="0" rtlCol="0" anchor="ctr"/>
          <a:lstStyle/>
          <a:p>
            <a:pPr indent="0" marL="0">
              <a:buNone/>
            </a:pPr>
            <a:r>
              <a:rPr lang="en-US" sz="1400" b="1" dirty="0">
                <a:solidFill>
                  <a:srgbClr val="1E2126"/>
                </a:solidFill>
                <a:latin typeface="Meiryo" pitchFamily="34" charset="0"/>
                <a:ea typeface="Meiryo" pitchFamily="34" charset="-122"/>
                <a:cs typeface="Meiryo" pitchFamily="34" charset="-120"/>
              </a:rPr>
              <a:t>お客様（佐藤さん）</a:t>
            </a:r>
            <a:endParaRPr lang="en-US" sz="1400" dirty="0"/>
          </a:p>
        </p:txBody>
      </p:sp>
      <p:sp>
        <p:nvSpPr>
          <p:cNvPr id="15" name="Text 13"/>
          <p:cNvSpPr txBox="1"/>
          <p:nvPr/>
        </p:nvSpPr>
        <p:spPr>
          <a:xfrm>
            <a:off x="3383280" y="2468880"/>
            <a:ext cx="8076895" cy="658368"/>
          </a:xfrm>
          <a:prstGeom prst="rect">
            <a:avLst/>
          </a:prstGeom>
          <a:noFill/>
          <a:ln/>
        </p:spPr>
        <p:txBody>
          <a:bodyPr wrap="square" lIns="0" tIns="0" rIns="0" bIns="0" rtlCol="0" anchor="ctr"/>
          <a:lstStyle/>
          <a:p>
            <a:pPr indent="0" marL="0">
              <a:buNone/>
            </a:pPr>
            <a:r>
              <a:rPr lang="en-US" sz="1450" dirty="0">
                <a:solidFill>
                  <a:srgbClr val="1E2126"/>
                </a:solidFill>
                <a:latin typeface="Meiryo" pitchFamily="34" charset="0"/>
                <a:ea typeface="Meiryo" pitchFamily="34" charset="-122"/>
                <a:cs typeface="Meiryo" pitchFamily="34" charset="-120"/>
              </a:rPr>
              <a:t>実際のボトルと、ラインの条件（速度・揺れやすい場所）を共有する</a:t>
            </a:r>
            <a:endParaRPr lang="en-US" sz="1450" dirty="0"/>
          </a:p>
        </p:txBody>
      </p:sp>
      <p:sp>
        <p:nvSpPr>
          <p:cNvPr id="16" name="Shape 14"/>
          <p:cNvSpPr/>
          <p:nvPr/>
        </p:nvSpPr>
        <p:spPr>
          <a:xfrm>
            <a:off x="548640" y="3246120"/>
            <a:ext cx="11094415" cy="658368"/>
          </a:xfrm>
          <a:prstGeom prst="rect">
            <a:avLst/>
          </a:prstGeom>
          <a:solidFill>
            <a:srgbClr val="FFFFFF"/>
          </a:solidFill>
          <a:ln/>
        </p:spPr>
      </p:sp>
      <p:sp>
        <p:nvSpPr>
          <p:cNvPr id="17" name="Text 15"/>
          <p:cNvSpPr txBox="1"/>
          <p:nvPr/>
        </p:nvSpPr>
        <p:spPr>
          <a:xfrm>
            <a:off x="777240" y="3246120"/>
            <a:ext cx="2560320" cy="658368"/>
          </a:xfrm>
          <a:prstGeom prst="rect">
            <a:avLst/>
          </a:prstGeom>
          <a:noFill/>
          <a:ln/>
        </p:spPr>
        <p:txBody>
          <a:bodyPr wrap="square" lIns="0" tIns="0" rIns="0" bIns="0" rtlCol="0" anchor="ctr"/>
          <a:lstStyle/>
          <a:p>
            <a:pPr indent="0" marL="0">
              <a:buNone/>
            </a:pPr>
            <a:r>
              <a:rPr lang="en-US" sz="1400" b="1" dirty="0">
                <a:solidFill>
                  <a:srgbClr val="E60012"/>
                </a:solidFill>
                <a:latin typeface="Meiryo" pitchFamily="34" charset="0"/>
                <a:ea typeface="Meiryo" pitchFamily="34" charset="-122"/>
                <a:cs typeface="Meiryo" pitchFamily="34" charset="-120"/>
              </a:rPr>
              <a:t>営業（あなた）</a:t>
            </a:r>
            <a:endParaRPr lang="en-US" sz="1400" dirty="0"/>
          </a:p>
        </p:txBody>
      </p:sp>
      <p:sp>
        <p:nvSpPr>
          <p:cNvPr id="18" name="Text 16"/>
          <p:cNvSpPr txBox="1"/>
          <p:nvPr/>
        </p:nvSpPr>
        <p:spPr>
          <a:xfrm>
            <a:off x="3383280" y="3246120"/>
            <a:ext cx="8076895" cy="658368"/>
          </a:xfrm>
          <a:prstGeom prst="rect">
            <a:avLst/>
          </a:prstGeom>
          <a:noFill/>
          <a:ln/>
        </p:spPr>
        <p:txBody>
          <a:bodyPr wrap="square" lIns="0" tIns="0" rIns="0" bIns="0" rtlCol="0" anchor="ctr"/>
          <a:lstStyle/>
          <a:p>
            <a:pPr indent="0" marL="0">
              <a:buNone/>
            </a:pPr>
            <a:r>
              <a:rPr lang="en-US" sz="1450" dirty="0">
                <a:solidFill>
                  <a:srgbClr val="1E2126"/>
                </a:solidFill>
                <a:latin typeface="Meiryo" pitchFamily="34" charset="0"/>
                <a:ea typeface="Meiryo" pitchFamily="34" charset="-122"/>
                <a:cs typeface="Meiryo" pitchFamily="34" charset="-120"/>
              </a:rPr>
              <a:t>検証計画（条件・記録すること・合格の基準）をつくり、お客様と合意する</a:t>
            </a:r>
            <a:endParaRPr lang="en-US" sz="1450" dirty="0"/>
          </a:p>
        </p:txBody>
      </p:sp>
      <p:sp>
        <p:nvSpPr>
          <p:cNvPr id="19" name="Shape 17"/>
          <p:cNvSpPr/>
          <p:nvPr/>
        </p:nvSpPr>
        <p:spPr>
          <a:xfrm>
            <a:off x="548640" y="4023360"/>
            <a:ext cx="11094415" cy="658368"/>
          </a:xfrm>
          <a:prstGeom prst="rect">
            <a:avLst/>
          </a:prstGeom>
          <a:solidFill>
            <a:srgbClr val="FFFFFF"/>
          </a:solidFill>
          <a:ln/>
        </p:spPr>
      </p:sp>
      <p:sp>
        <p:nvSpPr>
          <p:cNvPr id="20" name="Text 18"/>
          <p:cNvSpPr txBox="1"/>
          <p:nvPr/>
        </p:nvSpPr>
        <p:spPr>
          <a:xfrm>
            <a:off x="777240" y="4023360"/>
            <a:ext cx="2560320" cy="658368"/>
          </a:xfrm>
          <a:prstGeom prst="rect">
            <a:avLst/>
          </a:prstGeom>
          <a:noFill/>
          <a:ln/>
        </p:spPr>
        <p:txBody>
          <a:bodyPr wrap="square" lIns="0" tIns="0" rIns="0" bIns="0" rtlCol="0" anchor="ctr"/>
          <a:lstStyle/>
          <a:p>
            <a:pPr indent="0" marL="0">
              <a:buNone/>
            </a:pPr>
            <a:r>
              <a:rPr lang="en-US" sz="1400" b="1" dirty="0">
                <a:solidFill>
                  <a:srgbClr val="1E2126"/>
                </a:solidFill>
                <a:latin typeface="Meiryo" pitchFamily="34" charset="0"/>
                <a:ea typeface="Meiryo" pitchFamily="34" charset="-122"/>
                <a:cs typeface="Meiryo" pitchFamily="34" charset="-120"/>
              </a:rPr>
              <a:t>技術（中田さん）</a:t>
            </a:r>
            <a:endParaRPr lang="en-US" sz="1400" dirty="0"/>
          </a:p>
        </p:txBody>
      </p:sp>
      <p:sp>
        <p:nvSpPr>
          <p:cNvPr id="21" name="Text 19"/>
          <p:cNvSpPr txBox="1"/>
          <p:nvPr/>
        </p:nvSpPr>
        <p:spPr>
          <a:xfrm>
            <a:off x="3383280" y="4023360"/>
            <a:ext cx="8076895" cy="658368"/>
          </a:xfrm>
          <a:prstGeom prst="rect">
            <a:avLst/>
          </a:prstGeom>
          <a:noFill/>
          <a:ln/>
        </p:spPr>
        <p:txBody>
          <a:bodyPr wrap="square" lIns="0" tIns="0" rIns="0" bIns="0" rtlCol="0" anchor="ctr"/>
          <a:lstStyle/>
          <a:p>
            <a:pPr indent="0" marL="0">
              <a:buNone/>
            </a:pPr>
            <a:r>
              <a:rPr lang="en-US" sz="1450" dirty="0">
                <a:solidFill>
                  <a:srgbClr val="1E2126"/>
                </a:solidFill>
                <a:latin typeface="Meiryo" pitchFamily="34" charset="0"/>
                <a:ea typeface="Meiryo" pitchFamily="34" charset="-122"/>
                <a:cs typeface="Meiryo" pitchFamily="34" charset="-120"/>
              </a:rPr>
              <a:t>センサを設置し、本数・合図・カウントを記録する</a:t>
            </a:r>
            <a:endParaRPr lang="en-US" sz="1450" dirty="0"/>
          </a:p>
        </p:txBody>
      </p:sp>
      <p:sp>
        <p:nvSpPr>
          <p:cNvPr id="22" name="Text 20"/>
          <p:cNvSpPr txBox="1"/>
          <p:nvPr/>
        </p:nvSpPr>
        <p:spPr>
          <a:xfrm>
            <a:off x="548640" y="4892040"/>
            <a:ext cx="11094415" cy="411480"/>
          </a:xfrm>
          <a:prstGeom prst="rect">
            <a:avLst/>
          </a:prstGeom>
          <a:noFill/>
          <a:ln/>
        </p:spPr>
        <p:txBody>
          <a:bodyPr wrap="square" lIns="0" tIns="0" rIns="0" bIns="0" rtlCol="0" anchor="t"/>
          <a:lstStyle/>
          <a:p>
            <a:pPr indent="0" marL="0">
              <a:buNone/>
            </a:pPr>
            <a:r>
              <a:rPr lang="en-US" sz="1250" dirty="0">
                <a:solidFill>
                  <a:srgbClr val="5A6470"/>
                </a:solidFill>
                <a:latin typeface="Meiryo" pitchFamily="34" charset="0"/>
                <a:ea typeface="Meiryo" pitchFamily="34" charset="-122"/>
                <a:cs typeface="Meiryo" pitchFamily="34" charset="-120"/>
              </a:rPr>
              <a:t>基準に届かなくても失敗ではない。設置・感度・PLCの処理を見直すか、別の方式を一緒に考える</a:t>
            </a:r>
            <a:endParaRPr lang="en-US" sz="1250" dirty="0"/>
          </a:p>
        </p:txBody>
      </p:sp>
      <p:sp>
        <p:nvSpPr>
          <p:cNvPr id="23" name="Text 21"/>
          <p:cNvSpPr txBox="1"/>
          <p:nvPr/>
        </p:nvSpPr>
        <p:spPr>
          <a:xfrm>
            <a:off x="548640" y="5349240"/>
            <a:ext cx="11094415" cy="502920"/>
          </a:xfrm>
          <a:prstGeom prst="rect">
            <a:avLst/>
          </a:prstGeom>
          <a:noFill/>
          <a:ln/>
        </p:spPr>
        <p:txBody>
          <a:bodyPr wrap="square" lIns="0" tIns="0" rIns="0" bIns="0" rtlCol="0" anchor="t"/>
          <a:lstStyle/>
          <a:p>
            <a:pPr indent="0" marL="0">
              <a:buNone/>
            </a:pPr>
            <a:r>
              <a:rPr lang="en-US" sz="1900" b="1" dirty="0">
                <a:solidFill>
                  <a:srgbClr val="E60012"/>
                </a:solidFill>
                <a:latin typeface="Meiryo" pitchFamily="34" charset="0"/>
                <a:ea typeface="Meiryo" pitchFamily="34" charset="-122"/>
                <a:cs typeface="Meiryo" pitchFamily="34" charset="-120"/>
              </a:rPr>
              <a:t>商品が売れたのではなく、お客様から信頼され、次の一歩を任された</a:t>
            </a:r>
            <a:endParaRPr lang="en-US" sz="19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flipH="1">
            <a:off x="9052560" y="0"/>
            <a:ext cx="1463040" cy="6858000"/>
          </a:xfrm>
          <a:prstGeom prst="rtTriangle">
            <a:avLst/>
          </a:prstGeom>
          <a:solidFill>
            <a:srgbClr val="E60012"/>
          </a:solidFill>
          <a:ln/>
        </p:spPr>
      </p:sp>
      <p:sp>
        <p:nvSpPr>
          <p:cNvPr id="3" name="Shape 1"/>
          <p:cNvSpPr/>
          <p:nvPr/>
        </p:nvSpPr>
        <p:spPr>
          <a:xfrm>
            <a:off x="10515600" y="0"/>
            <a:ext cx="1676095" cy="6858000"/>
          </a:xfrm>
          <a:prstGeom prst="rect">
            <a:avLst/>
          </a:prstGeom>
          <a:solidFill>
            <a:srgbClr val="E60012"/>
          </a:solidFill>
          <a:ln/>
        </p:spPr>
      </p:sp>
      <p:sp>
        <p:nvSpPr>
          <p:cNvPr id="4" name="Text 2"/>
          <p:cNvSpPr txBox="1"/>
          <p:nvPr/>
        </p:nvSpPr>
        <p:spPr>
          <a:xfrm>
            <a:off x="548640" y="1920240"/>
            <a:ext cx="7315200"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PHASE 6 / 6　｜　53〜60分</a:t>
            </a:r>
            <a:endParaRPr lang="en-US" sz="1400" dirty="0"/>
          </a:p>
        </p:txBody>
      </p:sp>
      <p:sp>
        <p:nvSpPr>
          <p:cNvPr id="5" name="Text 3"/>
          <p:cNvSpPr txBox="1"/>
          <p:nvPr/>
        </p:nvSpPr>
        <p:spPr>
          <a:xfrm>
            <a:off x="548640" y="2377440"/>
            <a:ext cx="8229600" cy="1005840"/>
          </a:xfrm>
          <a:prstGeom prst="rect">
            <a:avLst/>
          </a:prstGeom>
          <a:noFill/>
          <a:ln/>
        </p:spPr>
        <p:txBody>
          <a:bodyPr wrap="square" lIns="0" tIns="0" rIns="0" bIns="0" rtlCol="0" anchor="t"/>
          <a:lstStyle/>
          <a:p>
            <a:pPr indent="0" marL="0">
              <a:buNone/>
            </a:pPr>
            <a:r>
              <a:rPr lang="en-US" sz="6000" b="1" dirty="0">
                <a:solidFill>
                  <a:srgbClr val="E60012"/>
                </a:solidFill>
                <a:latin typeface="Arial Black" pitchFamily="34" charset="0"/>
                <a:ea typeface="Arial Black" pitchFamily="34" charset="-122"/>
                <a:cs typeface="Arial Black" pitchFamily="34" charset="-120"/>
              </a:rPr>
              <a:t>REFLECTION</a:t>
            </a:r>
            <a:endParaRPr lang="en-US" sz="6000" dirty="0"/>
          </a:p>
        </p:txBody>
      </p:sp>
      <p:sp>
        <p:nvSpPr>
          <p:cNvPr id="6" name="Text 4"/>
          <p:cNvSpPr txBox="1"/>
          <p:nvPr/>
        </p:nvSpPr>
        <p:spPr>
          <a:xfrm>
            <a:off x="548640" y="3429000"/>
            <a:ext cx="8229600" cy="640080"/>
          </a:xfrm>
          <a:prstGeom prst="rect">
            <a:avLst/>
          </a:prstGeom>
          <a:noFill/>
          <a:ln/>
        </p:spPr>
        <p:txBody>
          <a:bodyPr wrap="square" lIns="0" tIns="0" rIns="0" bIns="0" rtlCol="0" anchor="t"/>
          <a:lstStyle/>
          <a:p>
            <a:pPr indent="0" marL="0">
              <a:buNone/>
            </a:pPr>
            <a:r>
              <a:rPr lang="en-US" sz="3000" b="1" dirty="0">
                <a:solidFill>
                  <a:srgbClr val="FFFFFF"/>
                </a:solidFill>
                <a:latin typeface="Meiryo" pitchFamily="34" charset="0"/>
                <a:ea typeface="Meiryo" pitchFamily="34" charset="-122"/>
                <a:cs typeface="Meiryo" pitchFamily="34" charset="-120"/>
              </a:rPr>
              <a:t>ふりかえる</a:t>
            </a:r>
            <a:endParaRPr lang="en-US" sz="3000" dirty="0"/>
          </a:p>
        </p:txBody>
      </p:sp>
      <p:sp>
        <p:nvSpPr>
          <p:cNvPr id="7" name="Text 5"/>
          <p:cNvSpPr txBox="1"/>
          <p:nvPr/>
        </p:nvSpPr>
        <p:spPr>
          <a:xfrm>
            <a:off x="548640" y="4160520"/>
            <a:ext cx="8229600" cy="457200"/>
          </a:xfrm>
          <a:prstGeom prst="rect">
            <a:avLst/>
          </a:prstGeom>
          <a:noFill/>
          <a:ln/>
        </p:spPr>
        <p:txBody>
          <a:bodyPr wrap="square" lIns="0" tIns="0" rIns="0" bIns="0" rtlCol="0" anchor="t"/>
          <a:lstStyle/>
          <a:p>
            <a:pPr indent="0" marL="0">
              <a:buNone/>
            </a:pPr>
            <a:r>
              <a:rPr lang="en-US" sz="1700" dirty="0">
                <a:solidFill>
                  <a:srgbClr val="C9CED4"/>
                </a:solidFill>
                <a:latin typeface="Meiryo" pitchFamily="34" charset="0"/>
                <a:ea typeface="Meiryo" pitchFamily="34" charset="-122"/>
                <a:cs typeface="Meiryo" pitchFamily="34" charset="-120"/>
              </a:rPr>
              <a:t>営業の仕事の面白さを言葉にする</a:t>
            </a:r>
            <a:endParaRPr lang="en-US" sz="17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566928"/>
            <a:ext cx="914400" cy="329184"/>
          </a:xfrm>
          <a:prstGeom prst="rect">
            <a:avLst/>
          </a:prstGeom>
          <a:solidFill>
            <a:srgbClr val="E60012"/>
          </a:solidFill>
          <a:ln/>
        </p:spPr>
      </p:sp>
      <p:sp>
        <p:nvSpPr>
          <p:cNvPr id="3" name="Text 1"/>
          <p:cNvSpPr txBox="1"/>
          <p:nvPr/>
        </p:nvSpPr>
        <p:spPr>
          <a:xfrm>
            <a:off x="548640" y="566928"/>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ふりかえる</a:t>
            </a:r>
            <a:endParaRPr lang="en-US" sz="1100" dirty="0"/>
          </a:p>
        </p:txBody>
      </p:sp>
      <p:sp>
        <p:nvSpPr>
          <p:cNvPr id="4" name="Text 2"/>
          <p:cNvSpPr txBox="1"/>
          <p:nvPr/>
        </p:nvSpPr>
        <p:spPr>
          <a:xfrm>
            <a:off x="1627632" y="530352"/>
            <a:ext cx="999713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今日、あなたがしたこと</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2834640"/>
            <a:ext cx="2072579" cy="2377440"/>
          </a:xfrm>
          <a:prstGeom prst="rect">
            <a:avLst/>
          </a:prstGeom>
          <a:solidFill>
            <a:srgbClr val="141517"/>
          </a:solidFill>
          <a:ln/>
        </p:spPr>
      </p:sp>
      <p:sp>
        <p:nvSpPr>
          <p:cNvPr id="12" name="Text 10"/>
          <p:cNvSpPr txBox="1"/>
          <p:nvPr/>
        </p:nvSpPr>
        <p:spPr>
          <a:xfrm>
            <a:off x="731520" y="2971800"/>
            <a:ext cx="170681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選んだ</a:t>
            </a:r>
            <a:endParaRPr lang="en-US" sz="2000" dirty="0"/>
          </a:p>
        </p:txBody>
      </p:sp>
      <p:sp>
        <p:nvSpPr>
          <p:cNvPr id="13" name="Text 11"/>
          <p:cNvSpPr txBox="1"/>
          <p:nvPr/>
        </p:nvSpPr>
        <p:spPr>
          <a:xfrm>
            <a:off x="731520" y="3566160"/>
            <a:ext cx="1706819" cy="1280160"/>
          </a:xfrm>
          <a:prstGeom prst="rect">
            <a:avLst/>
          </a:prstGeom>
          <a:noFill/>
          <a:ln/>
        </p:spPr>
        <p:txBody>
          <a:bodyPr wrap="square" lIns="0" tIns="0" rIns="0" bIns="0" rtlCol="0" anchor="t"/>
          <a:lstStyle/>
          <a:p>
            <a:pPr indent="0" marL="0">
              <a:buNone/>
            </a:pPr>
            <a:r>
              <a:rPr lang="en-US" sz="1250" dirty="0">
                <a:solidFill>
                  <a:srgbClr val="FFFFFF"/>
                </a:solidFill>
                <a:latin typeface="Meiryo" pitchFamily="34" charset="0"/>
                <a:ea typeface="Meiryo" pitchFamily="34" charset="-122"/>
                <a:cs typeface="Meiryo" pitchFamily="34" charset="-120"/>
              </a:rPr>
              <a:t>最初に、困りごとの大きさを聞いた</a:t>
            </a:r>
            <a:endParaRPr lang="en-US" sz="1250" dirty="0"/>
          </a:p>
        </p:txBody>
      </p:sp>
      <p:sp>
        <p:nvSpPr>
          <p:cNvPr id="14" name="Shape 12"/>
          <p:cNvSpPr/>
          <p:nvPr/>
        </p:nvSpPr>
        <p:spPr>
          <a:xfrm>
            <a:off x="2804099" y="2514600"/>
            <a:ext cx="2072579" cy="2697480"/>
          </a:xfrm>
          <a:prstGeom prst="rect">
            <a:avLst/>
          </a:prstGeom>
          <a:solidFill>
            <a:srgbClr val="141517"/>
          </a:solidFill>
          <a:ln/>
        </p:spPr>
      </p:sp>
      <p:sp>
        <p:nvSpPr>
          <p:cNvPr id="15" name="Text 13"/>
          <p:cNvSpPr txBox="1"/>
          <p:nvPr/>
        </p:nvSpPr>
        <p:spPr>
          <a:xfrm>
            <a:off x="2986979" y="2651760"/>
            <a:ext cx="170681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考えた</a:t>
            </a:r>
            <a:endParaRPr lang="en-US" sz="2000" dirty="0"/>
          </a:p>
        </p:txBody>
      </p:sp>
      <p:sp>
        <p:nvSpPr>
          <p:cNvPr id="16" name="Text 14"/>
          <p:cNvSpPr txBox="1"/>
          <p:nvPr/>
        </p:nvSpPr>
        <p:spPr>
          <a:xfrm>
            <a:off x="2986979" y="3246120"/>
            <a:ext cx="1706819" cy="1280160"/>
          </a:xfrm>
          <a:prstGeom prst="rect">
            <a:avLst/>
          </a:prstGeom>
          <a:noFill/>
          <a:ln/>
        </p:spPr>
        <p:txBody>
          <a:bodyPr wrap="square" lIns="0" tIns="0" rIns="0" bIns="0" rtlCol="0" anchor="t"/>
          <a:lstStyle/>
          <a:p>
            <a:pPr indent="0" marL="0">
              <a:buNone/>
            </a:pPr>
            <a:r>
              <a:rPr lang="en-US" sz="1250" dirty="0">
                <a:solidFill>
                  <a:srgbClr val="FFFFFF"/>
                </a:solidFill>
                <a:latin typeface="Meiryo" pitchFamily="34" charset="0"/>
                <a:ea typeface="Meiryo" pitchFamily="34" charset="-122"/>
                <a:cs typeface="Meiryo" pitchFamily="34" charset="-120"/>
              </a:rPr>
              <a:t>原因を決めつけず、仮説を立てた</a:t>
            </a:r>
            <a:endParaRPr lang="en-US" sz="1250" dirty="0"/>
          </a:p>
        </p:txBody>
      </p:sp>
      <p:sp>
        <p:nvSpPr>
          <p:cNvPr id="17" name="Shape 15"/>
          <p:cNvSpPr/>
          <p:nvPr/>
        </p:nvSpPr>
        <p:spPr>
          <a:xfrm>
            <a:off x="5059558" y="2194560"/>
            <a:ext cx="2072579" cy="3017520"/>
          </a:xfrm>
          <a:prstGeom prst="rect">
            <a:avLst/>
          </a:prstGeom>
          <a:solidFill>
            <a:srgbClr val="141517"/>
          </a:solidFill>
          <a:ln/>
        </p:spPr>
      </p:sp>
      <p:sp>
        <p:nvSpPr>
          <p:cNvPr id="18" name="Text 16"/>
          <p:cNvSpPr txBox="1"/>
          <p:nvPr/>
        </p:nvSpPr>
        <p:spPr>
          <a:xfrm>
            <a:off x="5242438" y="2331720"/>
            <a:ext cx="170681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発見した</a:t>
            </a:r>
            <a:endParaRPr lang="en-US" sz="2000" dirty="0"/>
          </a:p>
        </p:txBody>
      </p:sp>
      <p:sp>
        <p:nvSpPr>
          <p:cNvPr id="19" name="Text 17"/>
          <p:cNvSpPr txBox="1"/>
          <p:nvPr/>
        </p:nvSpPr>
        <p:spPr>
          <a:xfrm>
            <a:off x="5242438" y="2926080"/>
            <a:ext cx="1706819" cy="1280160"/>
          </a:xfrm>
          <a:prstGeom prst="rect">
            <a:avLst/>
          </a:prstGeom>
          <a:noFill/>
          <a:ln/>
        </p:spPr>
        <p:txBody>
          <a:bodyPr wrap="square" lIns="0" tIns="0" rIns="0" bIns="0" rtlCol="0" anchor="t"/>
          <a:lstStyle/>
          <a:p>
            <a:pPr indent="0" marL="0">
              <a:buNone/>
            </a:pPr>
            <a:r>
              <a:rPr lang="en-US" sz="1250" dirty="0">
                <a:solidFill>
                  <a:srgbClr val="FFFFFF"/>
                </a:solidFill>
                <a:latin typeface="Meiryo" pitchFamily="34" charset="0"/>
                <a:ea typeface="Meiryo" pitchFamily="34" charset="-122"/>
                <a:cs typeface="Meiryo" pitchFamily="34" charset="-120"/>
              </a:rPr>
              <a:t>本当の願いは「安定した生産」だった</a:t>
            </a:r>
            <a:endParaRPr lang="en-US" sz="1250" dirty="0"/>
          </a:p>
        </p:txBody>
      </p:sp>
      <p:sp>
        <p:nvSpPr>
          <p:cNvPr id="20" name="Shape 18"/>
          <p:cNvSpPr/>
          <p:nvPr/>
        </p:nvSpPr>
        <p:spPr>
          <a:xfrm>
            <a:off x="7315017" y="1874520"/>
            <a:ext cx="2072579" cy="3337560"/>
          </a:xfrm>
          <a:prstGeom prst="rect">
            <a:avLst/>
          </a:prstGeom>
          <a:solidFill>
            <a:srgbClr val="141517"/>
          </a:solidFill>
          <a:ln/>
        </p:spPr>
      </p:sp>
      <p:sp>
        <p:nvSpPr>
          <p:cNvPr id="21" name="Text 19"/>
          <p:cNvSpPr txBox="1"/>
          <p:nvPr/>
        </p:nvSpPr>
        <p:spPr>
          <a:xfrm>
            <a:off x="7497897" y="2011680"/>
            <a:ext cx="170681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提案した</a:t>
            </a:r>
            <a:endParaRPr lang="en-US" sz="2000" dirty="0"/>
          </a:p>
        </p:txBody>
      </p:sp>
      <p:sp>
        <p:nvSpPr>
          <p:cNvPr id="22" name="Text 20"/>
          <p:cNvSpPr txBox="1"/>
          <p:nvPr/>
        </p:nvSpPr>
        <p:spPr>
          <a:xfrm>
            <a:off x="7497897" y="2606040"/>
            <a:ext cx="1706819" cy="1280160"/>
          </a:xfrm>
          <a:prstGeom prst="rect">
            <a:avLst/>
          </a:prstGeom>
          <a:noFill/>
          <a:ln/>
        </p:spPr>
        <p:txBody>
          <a:bodyPr wrap="square" lIns="0" tIns="0" rIns="0" bIns="0" rtlCol="0" anchor="t"/>
          <a:lstStyle/>
          <a:p>
            <a:pPr indent="0" marL="0">
              <a:buNone/>
            </a:pPr>
            <a:r>
              <a:rPr lang="en-US" sz="1250" dirty="0">
                <a:solidFill>
                  <a:srgbClr val="FFFFFF"/>
                </a:solidFill>
                <a:latin typeface="Meiryo" pitchFamily="34" charset="0"/>
                <a:ea typeface="Meiryo" pitchFamily="34" charset="-122"/>
                <a:cs typeface="Meiryo" pitchFamily="34" charset="-120"/>
              </a:rPr>
              <a:t>自分の言葉で、確かめ方まで提案した</a:t>
            </a:r>
            <a:endParaRPr lang="en-US" sz="1250" dirty="0"/>
          </a:p>
        </p:txBody>
      </p:sp>
      <p:sp>
        <p:nvSpPr>
          <p:cNvPr id="23" name="Shape 21"/>
          <p:cNvSpPr/>
          <p:nvPr/>
        </p:nvSpPr>
        <p:spPr>
          <a:xfrm>
            <a:off x="9570476" y="1554480"/>
            <a:ext cx="2072579" cy="3657600"/>
          </a:xfrm>
          <a:prstGeom prst="rect">
            <a:avLst/>
          </a:prstGeom>
          <a:solidFill>
            <a:srgbClr val="E60012"/>
          </a:solidFill>
          <a:ln/>
        </p:spPr>
      </p:sp>
      <p:sp>
        <p:nvSpPr>
          <p:cNvPr id="24" name="Text 22"/>
          <p:cNvSpPr txBox="1"/>
          <p:nvPr/>
        </p:nvSpPr>
        <p:spPr>
          <a:xfrm>
            <a:off x="9753356" y="1691640"/>
            <a:ext cx="1706819" cy="45720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任された</a:t>
            </a:r>
            <a:endParaRPr lang="en-US" sz="2000" dirty="0"/>
          </a:p>
        </p:txBody>
      </p:sp>
      <p:sp>
        <p:nvSpPr>
          <p:cNvPr id="25" name="Text 23"/>
          <p:cNvSpPr txBox="1"/>
          <p:nvPr/>
        </p:nvSpPr>
        <p:spPr>
          <a:xfrm>
            <a:off x="9753356" y="2286000"/>
            <a:ext cx="1706819" cy="1280160"/>
          </a:xfrm>
          <a:prstGeom prst="rect">
            <a:avLst/>
          </a:prstGeom>
          <a:noFill/>
          <a:ln/>
        </p:spPr>
        <p:txBody>
          <a:bodyPr wrap="square" lIns="0" tIns="0" rIns="0" bIns="0" rtlCol="0" anchor="t"/>
          <a:lstStyle/>
          <a:p>
            <a:pPr indent="0" marL="0">
              <a:buNone/>
            </a:pPr>
            <a:r>
              <a:rPr lang="en-US" sz="1250" dirty="0">
                <a:solidFill>
                  <a:srgbClr val="FFFFFF"/>
                </a:solidFill>
                <a:latin typeface="Meiryo" pitchFamily="34" charset="0"/>
                <a:ea typeface="Meiryo" pitchFamily="34" charset="-122"/>
                <a:cs typeface="Meiryo" pitchFamily="34" charset="-120"/>
              </a:rPr>
              <a:t>お客様から、次の一歩を任された</a:t>
            </a:r>
            <a:endParaRPr lang="en-US" sz="1250" dirty="0"/>
          </a:p>
        </p:txBody>
      </p:sp>
      <p:sp>
        <p:nvSpPr>
          <p:cNvPr id="26" name="Text 24"/>
          <p:cNvSpPr txBox="1"/>
          <p:nvPr/>
        </p:nvSpPr>
        <p:spPr>
          <a:xfrm>
            <a:off x="548640" y="5486400"/>
            <a:ext cx="11094415" cy="365760"/>
          </a:xfrm>
          <a:prstGeom prst="rect">
            <a:avLst/>
          </a:prstGeom>
          <a:noFill/>
          <a:ln/>
        </p:spPr>
        <p:txBody>
          <a:bodyPr wrap="square" lIns="0" tIns="0" rIns="0" bIns="0" rtlCol="0" anchor="t"/>
          <a:lstStyle/>
          <a:p>
            <a:pPr algn="ctr" indent="0" marL="0">
              <a:buNone/>
            </a:pPr>
            <a:r>
              <a:rPr lang="en-US" sz="1500" b="1" dirty="0">
                <a:solidFill>
                  <a:srgbClr val="1E2126"/>
                </a:solidFill>
                <a:latin typeface="Meiryo" pitchFamily="34" charset="0"/>
                <a:ea typeface="Meiryo" pitchFamily="34" charset="-122"/>
                <a:cs typeface="Meiryo" pitchFamily="34" charset="-120"/>
              </a:rPr>
              <a:t>選ぶ → 考える → 発見する → 提案する → 顧客の反応を得る</a:t>
            </a:r>
            <a:endParaRPr lang="en-US" sz="15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48640" y="566928"/>
            <a:ext cx="914400" cy="329184"/>
          </a:xfrm>
          <a:prstGeom prst="rect">
            <a:avLst/>
          </a:prstGeom>
          <a:solidFill>
            <a:srgbClr val="E60012"/>
          </a:solidFill>
          <a:ln/>
        </p:spPr>
      </p:sp>
      <p:sp>
        <p:nvSpPr>
          <p:cNvPr id="3" name="Text 1"/>
          <p:cNvSpPr txBox="1"/>
          <p:nvPr/>
        </p:nvSpPr>
        <p:spPr>
          <a:xfrm>
            <a:off x="548640" y="566928"/>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ふりかえる</a:t>
            </a:r>
            <a:endParaRPr lang="en-US" sz="1100" dirty="0"/>
          </a:p>
        </p:txBody>
      </p:sp>
      <p:sp>
        <p:nvSpPr>
          <p:cNvPr id="4" name="Text 2"/>
          <p:cNvSpPr txBox="1"/>
          <p:nvPr/>
        </p:nvSpPr>
        <p:spPr>
          <a:xfrm>
            <a:off x="1627632" y="530352"/>
            <a:ext cx="9997135"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ふりかえりの問い</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371600"/>
            <a:ext cx="5440680" cy="1645920"/>
          </a:xfrm>
          <a:prstGeom prst="rect">
            <a:avLst/>
          </a:prstGeom>
          <a:solidFill>
            <a:srgbClr val="2A2D33"/>
          </a:solidFill>
          <a:ln/>
        </p:spPr>
      </p:sp>
      <p:sp>
        <p:nvSpPr>
          <p:cNvPr id="12" name="Text 10"/>
          <p:cNvSpPr txBox="1"/>
          <p:nvPr/>
        </p:nvSpPr>
        <p:spPr>
          <a:xfrm>
            <a:off x="777240" y="1508760"/>
            <a:ext cx="914400" cy="365760"/>
          </a:xfrm>
          <a:prstGeom prst="rect">
            <a:avLst/>
          </a:prstGeom>
          <a:noFill/>
          <a:ln/>
        </p:spPr>
        <p:txBody>
          <a:bodyPr wrap="square" lIns="0" tIns="0" rIns="0" bIns="0" rtlCol="0" anchor="t"/>
          <a:lstStyle/>
          <a:p>
            <a:pPr indent="0" marL="0">
              <a:buNone/>
            </a:pPr>
            <a:r>
              <a:rPr lang="en-US" sz="1500" b="1" dirty="0">
                <a:solidFill>
                  <a:srgbClr val="E60012"/>
                </a:solidFill>
                <a:latin typeface="Meiryo" pitchFamily="34" charset="0"/>
                <a:ea typeface="Meiryo" pitchFamily="34" charset="-122"/>
                <a:cs typeface="Meiryo" pitchFamily="34" charset="-120"/>
              </a:rPr>
              <a:t>Q1</a:t>
            </a:r>
            <a:endParaRPr lang="en-US" sz="1500" dirty="0"/>
          </a:p>
        </p:txBody>
      </p:sp>
      <p:sp>
        <p:nvSpPr>
          <p:cNvPr id="13" name="Text 11"/>
          <p:cNvSpPr txBox="1"/>
          <p:nvPr/>
        </p:nvSpPr>
        <p:spPr>
          <a:xfrm>
            <a:off x="777240" y="1920240"/>
            <a:ext cx="4983480" cy="96012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今日、営業の仕事に対するイメージは変わりましたか？</a:t>
            </a:r>
            <a:endParaRPr lang="en-US" sz="1800" dirty="0"/>
          </a:p>
        </p:txBody>
      </p:sp>
      <p:sp>
        <p:nvSpPr>
          <p:cNvPr id="14" name="Shape 12"/>
          <p:cNvSpPr/>
          <p:nvPr/>
        </p:nvSpPr>
        <p:spPr>
          <a:xfrm>
            <a:off x="6190488" y="1371600"/>
            <a:ext cx="5440680" cy="1645920"/>
          </a:xfrm>
          <a:prstGeom prst="rect">
            <a:avLst/>
          </a:prstGeom>
          <a:solidFill>
            <a:srgbClr val="2A2D33"/>
          </a:solidFill>
          <a:ln/>
        </p:spPr>
      </p:sp>
      <p:sp>
        <p:nvSpPr>
          <p:cNvPr id="15" name="Text 13"/>
          <p:cNvSpPr txBox="1"/>
          <p:nvPr/>
        </p:nvSpPr>
        <p:spPr>
          <a:xfrm>
            <a:off x="6419088" y="1508760"/>
            <a:ext cx="914400" cy="365760"/>
          </a:xfrm>
          <a:prstGeom prst="rect">
            <a:avLst/>
          </a:prstGeom>
          <a:noFill/>
          <a:ln/>
        </p:spPr>
        <p:txBody>
          <a:bodyPr wrap="square" lIns="0" tIns="0" rIns="0" bIns="0" rtlCol="0" anchor="t"/>
          <a:lstStyle/>
          <a:p>
            <a:pPr indent="0" marL="0">
              <a:buNone/>
            </a:pPr>
            <a:r>
              <a:rPr lang="en-US" sz="1500" b="1" dirty="0">
                <a:solidFill>
                  <a:srgbClr val="E60012"/>
                </a:solidFill>
                <a:latin typeface="Meiryo" pitchFamily="34" charset="0"/>
                <a:ea typeface="Meiryo" pitchFamily="34" charset="-122"/>
                <a:cs typeface="Meiryo" pitchFamily="34" charset="-120"/>
              </a:rPr>
              <a:t>Q2</a:t>
            </a:r>
            <a:endParaRPr lang="en-US" sz="1500" dirty="0"/>
          </a:p>
        </p:txBody>
      </p:sp>
      <p:sp>
        <p:nvSpPr>
          <p:cNvPr id="16" name="Text 14"/>
          <p:cNvSpPr txBox="1"/>
          <p:nvPr/>
        </p:nvSpPr>
        <p:spPr>
          <a:xfrm>
            <a:off x="6419088" y="1920240"/>
            <a:ext cx="4983480" cy="96012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最も面白いと感じた場面はどこですか？</a:t>
            </a:r>
            <a:endParaRPr lang="en-US" sz="1800" dirty="0"/>
          </a:p>
        </p:txBody>
      </p:sp>
      <p:sp>
        <p:nvSpPr>
          <p:cNvPr id="17" name="Shape 15"/>
          <p:cNvSpPr/>
          <p:nvPr/>
        </p:nvSpPr>
        <p:spPr>
          <a:xfrm>
            <a:off x="548640" y="3246120"/>
            <a:ext cx="5440680" cy="1645920"/>
          </a:xfrm>
          <a:prstGeom prst="rect">
            <a:avLst/>
          </a:prstGeom>
          <a:solidFill>
            <a:srgbClr val="2A2D33"/>
          </a:solidFill>
          <a:ln/>
        </p:spPr>
      </p:sp>
      <p:sp>
        <p:nvSpPr>
          <p:cNvPr id="18" name="Text 16"/>
          <p:cNvSpPr txBox="1"/>
          <p:nvPr/>
        </p:nvSpPr>
        <p:spPr>
          <a:xfrm>
            <a:off x="777240" y="3383280"/>
            <a:ext cx="914400" cy="365760"/>
          </a:xfrm>
          <a:prstGeom prst="rect">
            <a:avLst/>
          </a:prstGeom>
          <a:noFill/>
          <a:ln/>
        </p:spPr>
        <p:txBody>
          <a:bodyPr wrap="square" lIns="0" tIns="0" rIns="0" bIns="0" rtlCol="0" anchor="t"/>
          <a:lstStyle/>
          <a:p>
            <a:pPr indent="0" marL="0">
              <a:buNone/>
            </a:pPr>
            <a:r>
              <a:rPr lang="en-US" sz="1500" b="1" dirty="0">
                <a:solidFill>
                  <a:srgbClr val="E60012"/>
                </a:solidFill>
                <a:latin typeface="Meiryo" pitchFamily="34" charset="0"/>
                <a:ea typeface="Meiryo" pitchFamily="34" charset="-122"/>
                <a:cs typeface="Meiryo" pitchFamily="34" charset="-120"/>
              </a:rPr>
              <a:t>Q3</a:t>
            </a:r>
            <a:endParaRPr lang="en-US" sz="1500" dirty="0"/>
          </a:p>
        </p:txBody>
      </p:sp>
      <p:sp>
        <p:nvSpPr>
          <p:cNvPr id="19" name="Text 17"/>
          <p:cNvSpPr txBox="1"/>
          <p:nvPr/>
        </p:nvSpPr>
        <p:spPr>
          <a:xfrm>
            <a:off x="777240" y="3794760"/>
            <a:ext cx="4983480" cy="96012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自分が営業担当なら、次は何をしてみたいですか？</a:t>
            </a:r>
            <a:endParaRPr lang="en-US" sz="1800" dirty="0"/>
          </a:p>
        </p:txBody>
      </p:sp>
      <p:sp>
        <p:nvSpPr>
          <p:cNvPr id="20" name="Shape 18"/>
          <p:cNvSpPr/>
          <p:nvPr/>
        </p:nvSpPr>
        <p:spPr>
          <a:xfrm>
            <a:off x="6190488" y="3246120"/>
            <a:ext cx="5440680" cy="1645920"/>
          </a:xfrm>
          <a:prstGeom prst="rect">
            <a:avLst/>
          </a:prstGeom>
          <a:solidFill>
            <a:srgbClr val="2A2D33"/>
          </a:solidFill>
          <a:ln/>
        </p:spPr>
      </p:sp>
      <p:sp>
        <p:nvSpPr>
          <p:cNvPr id="21" name="Text 19"/>
          <p:cNvSpPr txBox="1"/>
          <p:nvPr/>
        </p:nvSpPr>
        <p:spPr>
          <a:xfrm>
            <a:off x="6419088" y="3383280"/>
            <a:ext cx="914400" cy="365760"/>
          </a:xfrm>
          <a:prstGeom prst="rect">
            <a:avLst/>
          </a:prstGeom>
          <a:noFill/>
          <a:ln/>
        </p:spPr>
        <p:txBody>
          <a:bodyPr wrap="square" lIns="0" tIns="0" rIns="0" bIns="0" rtlCol="0" anchor="t"/>
          <a:lstStyle/>
          <a:p>
            <a:pPr indent="0" marL="0">
              <a:buNone/>
            </a:pPr>
            <a:r>
              <a:rPr lang="en-US" sz="1500" b="1" dirty="0">
                <a:solidFill>
                  <a:srgbClr val="E60012"/>
                </a:solidFill>
                <a:latin typeface="Meiryo" pitchFamily="34" charset="0"/>
                <a:ea typeface="Meiryo" pitchFamily="34" charset="-122"/>
                <a:cs typeface="Meiryo" pitchFamily="34" charset="-120"/>
              </a:rPr>
              <a:t>Q4</a:t>
            </a:r>
            <a:endParaRPr lang="en-US" sz="1500" dirty="0"/>
          </a:p>
        </p:txBody>
      </p:sp>
      <p:sp>
        <p:nvSpPr>
          <p:cNvPr id="22" name="Text 20"/>
          <p:cNvSpPr txBox="1"/>
          <p:nvPr/>
        </p:nvSpPr>
        <p:spPr>
          <a:xfrm>
            <a:off x="6419088" y="3794760"/>
            <a:ext cx="4983480" cy="96012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もっと知りたいと思ったことは何ですか？</a:t>
            </a:r>
            <a:endParaRPr lang="en-US" sz="1800" dirty="0"/>
          </a:p>
        </p:txBody>
      </p:sp>
      <p:sp>
        <p:nvSpPr>
          <p:cNvPr id="23" name="Text 21"/>
          <p:cNvSpPr txBox="1"/>
          <p:nvPr/>
        </p:nvSpPr>
        <p:spPr>
          <a:xfrm>
            <a:off x="548640" y="5257800"/>
            <a:ext cx="8229600"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隣の人と1分。どれか1つで構いません</a:t>
            </a:r>
            <a:endParaRPr lang="en-US" sz="14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48640" y="566928"/>
            <a:ext cx="914400" cy="329184"/>
          </a:xfrm>
          <a:prstGeom prst="rect">
            <a:avLst/>
          </a:prstGeom>
          <a:solidFill>
            <a:srgbClr val="E60012"/>
          </a:solidFill>
          <a:ln/>
        </p:spPr>
      </p:sp>
      <p:sp>
        <p:nvSpPr>
          <p:cNvPr id="3" name="Text 1"/>
          <p:cNvSpPr txBox="1"/>
          <p:nvPr/>
        </p:nvSpPr>
        <p:spPr>
          <a:xfrm>
            <a:off x="548640" y="566928"/>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ふりかえる</a:t>
            </a:r>
            <a:endParaRPr lang="en-US" sz="1100" dirty="0"/>
          </a:p>
        </p:txBody>
      </p:sp>
      <p:sp>
        <p:nvSpPr>
          <p:cNvPr id="4" name="Text 2"/>
          <p:cNvSpPr txBox="1"/>
          <p:nvPr/>
        </p:nvSpPr>
        <p:spPr>
          <a:xfrm>
            <a:off x="1627632" y="530352"/>
            <a:ext cx="9997135"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営業とは</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flipH="1">
            <a:off x="9692640" y="0"/>
            <a:ext cx="1097280" cy="6858000"/>
          </a:xfrm>
          <a:prstGeom prst="rtTriangle">
            <a:avLst/>
          </a:prstGeom>
          <a:solidFill>
            <a:srgbClr val="E60012"/>
          </a:solidFill>
          <a:ln/>
        </p:spPr>
      </p:sp>
      <p:sp>
        <p:nvSpPr>
          <p:cNvPr id="12" name="Shape 10"/>
          <p:cNvSpPr/>
          <p:nvPr/>
        </p:nvSpPr>
        <p:spPr>
          <a:xfrm>
            <a:off x="10789920" y="0"/>
            <a:ext cx="1401775" cy="6858000"/>
          </a:xfrm>
          <a:prstGeom prst="rect">
            <a:avLst/>
          </a:prstGeom>
          <a:solidFill>
            <a:srgbClr val="E60012"/>
          </a:solidFill>
          <a:ln/>
        </p:spPr>
      </p:sp>
      <p:sp>
        <p:nvSpPr>
          <p:cNvPr id="13" name="Text 11"/>
          <p:cNvSpPr txBox="1"/>
          <p:nvPr/>
        </p:nvSpPr>
        <p:spPr>
          <a:xfrm>
            <a:off x="548640" y="1554480"/>
            <a:ext cx="8778240" cy="2651760"/>
          </a:xfrm>
          <a:prstGeom prst="rect">
            <a:avLst/>
          </a:prstGeom>
          <a:noFill/>
          <a:ln/>
        </p:spPr>
        <p:txBody>
          <a:bodyPr wrap="square" lIns="0" tIns="0" rIns="0" bIns="0" rtlCol="0" anchor="ctr"/>
          <a:lstStyle/>
          <a:p>
            <a:pPr indent="0" marL="0">
              <a:lnSpc>
                <a:spcPct val="120000"/>
              </a:lnSpc>
              <a:buNone/>
            </a:pPr>
            <a:r>
              <a:rPr lang="en-US" sz="3400" b="1" dirty="0">
                <a:solidFill>
                  <a:srgbClr val="FFFFFF"/>
                </a:solidFill>
                <a:latin typeface="Meiryo" pitchFamily="34" charset="0"/>
                <a:ea typeface="Meiryo" pitchFamily="34" charset="-122"/>
                <a:cs typeface="Meiryo" pitchFamily="34" charset="-120"/>
              </a:rPr>
              <a:t>営業とは、商品を売る前に、</a:t>
            </a:r>
            <a:endParaRPr lang="en-US" sz="3400" dirty="0"/>
          </a:p>
          <a:p>
            <a:pPr indent="0" marL="0">
              <a:lnSpc>
                <a:spcPct val="120000"/>
              </a:lnSpc>
              <a:buNone/>
            </a:pPr>
            <a:r>
              <a:rPr lang="en-US" sz="3400" b="1" dirty="0">
                <a:solidFill>
                  <a:srgbClr val="FFFFFF"/>
                </a:solidFill>
                <a:latin typeface="Meiryo" pitchFamily="34" charset="0"/>
                <a:ea typeface="Meiryo" pitchFamily="34" charset="-122"/>
                <a:cs typeface="Meiryo" pitchFamily="34" charset="-120"/>
              </a:rPr>
              <a:t>お客様の困りごとを理解し、</a:t>
            </a:r>
            <a:endParaRPr lang="en-US" sz="3400" dirty="0"/>
          </a:p>
          <a:p>
            <a:pPr indent="0" marL="0">
              <a:lnSpc>
                <a:spcPct val="120000"/>
              </a:lnSpc>
              <a:buNone/>
            </a:pPr>
            <a:r>
              <a:rPr lang="en-US" sz="3400" b="1" dirty="0">
                <a:solidFill>
                  <a:srgbClr val="FFFFFF"/>
                </a:solidFill>
                <a:latin typeface="Meiryo" pitchFamily="34" charset="0"/>
                <a:ea typeface="Meiryo" pitchFamily="34" charset="-122"/>
                <a:cs typeface="Meiryo" pitchFamily="34" charset="-120"/>
              </a:rPr>
              <a:t>解決に向けて一緒に考える仕事。</a:t>
            </a:r>
            <a:endParaRPr lang="en-US" sz="3400" dirty="0"/>
          </a:p>
        </p:txBody>
      </p:sp>
      <p:sp>
        <p:nvSpPr>
          <p:cNvPr id="14" name="IMAGE_PLACEHOLDER_05"/>
          <p:cNvSpPr/>
          <p:nvPr/>
        </p:nvSpPr>
        <p:spPr>
          <a:xfrm>
            <a:off x="548640" y="4526280"/>
            <a:ext cx="3840480" cy="1508760"/>
          </a:xfrm>
          <a:prstGeom prst="rect">
            <a:avLst/>
          </a:prstGeom>
          <a:solidFill>
            <a:srgbClr val="1B1D20"/>
          </a:solidFill>
          <a:ln w="15875">
            <a:solidFill>
              <a:srgbClr val="5A5D63"/>
            </a:solidFill>
            <a:prstDash val="dash"/>
          </a:ln>
        </p:spPr>
      </p:sp>
      <p:sp>
        <p:nvSpPr>
          <p:cNvPr id="15" name="Text 13"/>
          <p:cNvSpPr txBox="1"/>
          <p:nvPr/>
        </p:nvSpPr>
        <p:spPr>
          <a:xfrm>
            <a:off x="685800" y="4617720"/>
            <a:ext cx="3566160" cy="1325880"/>
          </a:xfrm>
          <a:prstGeom prst="rect">
            <a:avLst/>
          </a:prstGeom>
          <a:noFill/>
          <a:ln/>
        </p:spPr>
        <p:txBody>
          <a:bodyPr wrap="square" lIns="0" tIns="0" rIns="0" bIns="0" rtlCol="0" anchor="ctr"/>
          <a:lstStyle/>
          <a:p>
            <a:pPr algn="ctr" indent="0" marL="0">
              <a:spcAft>
                <a:spcPts val="300"/>
              </a:spcAft>
              <a:buNone/>
            </a:pPr>
            <a:r>
              <a:rPr lang="en-US" sz="1100" b="1" dirty="0">
                <a:solidFill>
                  <a:srgbClr val="E60012"/>
                </a:solidFill>
                <a:latin typeface="Meiryo" pitchFamily="34" charset="0"/>
                <a:ea typeface="Meiryo" pitchFamily="34" charset="-122"/>
                <a:cs typeface="Meiryo" pitchFamily="34" charset="-120"/>
              </a:rPr>
              <a:t>【IMAGE_PLACEHOLDER_05】</a:t>
            </a:r>
            <a:endParaRPr lang="en-US" sz="1100" dirty="0"/>
          </a:p>
          <a:p>
            <a:pPr algn="ctr" indent="0" marL="0">
              <a:spcAft>
                <a:spcPts val="300"/>
              </a:spcAft>
              <a:buNone/>
            </a:pPr>
            <a:r>
              <a:rPr lang="en-US" sz="950" dirty="0">
                <a:solidFill>
                  <a:srgbClr val="FFFFFF"/>
                </a:solidFill>
                <a:latin typeface="Meiryo" pitchFamily="34" charset="0"/>
                <a:ea typeface="Meiryo" pitchFamily="34" charset="-122"/>
                <a:cs typeface="Meiryo" pitchFamily="34" charset="-120"/>
              </a:rPr>
              <a:t>用途：顧客と営業担当者の対話</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目的：顧客の信頼獲得と営業の面白さを表現する</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状態：後日指定画像に差し替え</a:t>
            </a:r>
            <a:endParaRPr lang="en-US" sz="11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566928"/>
            <a:ext cx="914400" cy="329184"/>
          </a:xfrm>
          <a:prstGeom prst="rect">
            <a:avLst/>
          </a:prstGeom>
          <a:solidFill>
            <a:srgbClr val="E60012"/>
          </a:solidFill>
          <a:ln/>
        </p:spPr>
      </p:sp>
      <p:sp>
        <p:nvSpPr>
          <p:cNvPr id="3" name="Text 1"/>
          <p:cNvSpPr txBox="1"/>
          <p:nvPr/>
        </p:nvSpPr>
        <p:spPr>
          <a:xfrm>
            <a:off x="548640" y="566928"/>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ふりかえる</a:t>
            </a:r>
            <a:endParaRPr lang="en-US" sz="1100" dirty="0"/>
          </a:p>
        </p:txBody>
      </p:sp>
      <p:sp>
        <p:nvSpPr>
          <p:cNvPr id="4" name="Text 2"/>
          <p:cNvSpPr txBox="1"/>
          <p:nvPr/>
        </p:nvSpPr>
        <p:spPr>
          <a:xfrm>
            <a:off x="1627632" y="530352"/>
            <a:ext cx="999713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OPTEX-FAの営業の魅力</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REFLECTION</a:t>
            </a:r>
            <a:endParaRPr lang="en-US" sz="650" dirty="0"/>
          </a:p>
        </p:txBody>
      </p:sp>
      <p:sp>
        <p:nvSpPr>
          <p:cNvPr id="11" name="Shape 9"/>
          <p:cNvSpPr/>
          <p:nvPr/>
        </p:nvSpPr>
        <p:spPr>
          <a:xfrm>
            <a:off x="548640" y="1280160"/>
            <a:ext cx="11094415" cy="777240"/>
          </a:xfrm>
          <a:prstGeom prst="rect">
            <a:avLst/>
          </a:prstGeom>
          <a:solidFill>
            <a:srgbClr val="FFFFFF"/>
          </a:solidFill>
          <a:ln/>
        </p:spPr>
      </p:sp>
      <p:sp>
        <p:nvSpPr>
          <p:cNvPr id="12" name="Text 10"/>
          <p:cNvSpPr txBox="1"/>
          <p:nvPr/>
        </p:nvSpPr>
        <p:spPr>
          <a:xfrm>
            <a:off x="731520" y="1280160"/>
            <a:ext cx="548640" cy="777240"/>
          </a:xfrm>
          <a:prstGeom prst="rect">
            <a:avLst/>
          </a:prstGeom>
          <a:noFill/>
          <a:ln/>
        </p:spPr>
        <p:txBody>
          <a:bodyPr wrap="square" lIns="0" tIns="0" rIns="0" bIns="0" rtlCol="0" anchor="ctr"/>
          <a:lstStyle/>
          <a:p>
            <a:pPr indent="0" marL="0">
              <a:buNone/>
            </a:pPr>
            <a:r>
              <a:rPr lang="en-US" sz="2400" b="1" dirty="0">
                <a:solidFill>
                  <a:srgbClr val="E60012"/>
                </a:solidFill>
                <a:latin typeface="Meiryo" pitchFamily="34" charset="0"/>
                <a:ea typeface="Meiryo" pitchFamily="34" charset="-122"/>
                <a:cs typeface="Meiryo" pitchFamily="34" charset="-120"/>
              </a:rPr>
              <a:t>1</a:t>
            </a:r>
            <a:endParaRPr lang="en-US" sz="2400" dirty="0"/>
          </a:p>
        </p:txBody>
      </p:sp>
      <p:sp>
        <p:nvSpPr>
          <p:cNvPr id="13" name="Text 11"/>
          <p:cNvSpPr txBox="1"/>
          <p:nvPr/>
        </p:nvSpPr>
        <p:spPr>
          <a:xfrm>
            <a:off x="1325880" y="1280160"/>
            <a:ext cx="5120640" cy="777240"/>
          </a:xfrm>
          <a:prstGeom prst="rect">
            <a:avLst/>
          </a:prstGeom>
          <a:noFill/>
          <a:ln/>
        </p:spPr>
        <p:txBody>
          <a:bodyPr wrap="square" lIns="0" tIns="0" rIns="0" bIns="0" rtlCol="0" anchor="ctr"/>
          <a:lstStyle/>
          <a:p>
            <a:pPr indent="0" marL="0">
              <a:buNone/>
            </a:pPr>
            <a:r>
              <a:rPr lang="en-US" sz="1700" b="1" dirty="0">
                <a:solidFill>
                  <a:srgbClr val="1E2126"/>
                </a:solidFill>
                <a:latin typeface="Meiryo" pitchFamily="34" charset="0"/>
                <a:ea typeface="Meiryo" pitchFamily="34" charset="-122"/>
                <a:cs typeface="Meiryo" pitchFamily="34" charset="-120"/>
              </a:rPr>
              <a:t>製造現場に、直接関われる</a:t>
            </a:r>
            <a:endParaRPr lang="en-US" sz="1700" dirty="0"/>
          </a:p>
        </p:txBody>
      </p:sp>
      <p:sp>
        <p:nvSpPr>
          <p:cNvPr id="14" name="Text 12"/>
          <p:cNvSpPr txBox="1"/>
          <p:nvPr/>
        </p:nvSpPr>
        <p:spPr>
          <a:xfrm>
            <a:off x="6492240" y="1280160"/>
            <a:ext cx="4967935" cy="777240"/>
          </a:xfrm>
          <a:prstGeom prst="rect">
            <a:avLst/>
          </a:prstGeom>
          <a:noFill/>
          <a:ln/>
        </p:spPr>
        <p:txBody>
          <a:bodyPr wrap="square" lIns="0" tIns="0" rIns="0" bIns="0" rtlCol="0" anchor="ctr"/>
          <a:lstStyle/>
          <a:p>
            <a:pPr indent="0" marL="0">
              <a:buNone/>
            </a:pPr>
            <a:r>
              <a:rPr lang="en-US" sz="1250" dirty="0">
                <a:solidFill>
                  <a:srgbClr val="5A6470"/>
                </a:solidFill>
                <a:latin typeface="Meiryo" pitchFamily="34" charset="0"/>
                <a:ea typeface="Meiryo" pitchFamily="34" charset="-122"/>
                <a:cs typeface="Meiryo" pitchFamily="34" charset="-120"/>
              </a:rPr>
              <a:t>お客様の工場や生産ラインに入り、現場で考える</a:t>
            </a:r>
            <a:endParaRPr lang="en-US" sz="1250" dirty="0"/>
          </a:p>
        </p:txBody>
      </p:sp>
      <p:sp>
        <p:nvSpPr>
          <p:cNvPr id="15" name="Shape 13"/>
          <p:cNvSpPr/>
          <p:nvPr/>
        </p:nvSpPr>
        <p:spPr>
          <a:xfrm>
            <a:off x="548640" y="2176272"/>
            <a:ext cx="11094415" cy="777240"/>
          </a:xfrm>
          <a:prstGeom prst="rect">
            <a:avLst/>
          </a:prstGeom>
          <a:solidFill>
            <a:srgbClr val="FFFFFF"/>
          </a:solidFill>
          <a:ln/>
        </p:spPr>
      </p:sp>
      <p:sp>
        <p:nvSpPr>
          <p:cNvPr id="16" name="Text 14"/>
          <p:cNvSpPr txBox="1"/>
          <p:nvPr/>
        </p:nvSpPr>
        <p:spPr>
          <a:xfrm>
            <a:off x="731520" y="2176272"/>
            <a:ext cx="548640" cy="777240"/>
          </a:xfrm>
          <a:prstGeom prst="rect">
            <a:avLst/>
          </a:prstGeom>
          <a:noFill/>
          <a:ln/>
        </p:spPr>
        <p:txBody>
          <a:bodyPr wrap="square" lIns="0" tIns="0" rIns="0" bIns="0" rtlCol="0" anchor="ctr"/>
          <a:lstStyle/>
          <a:p>
            <a:pPr indent="0" marL="0">
              <a:buNone/>
            </a:pPr>
            <a:r>
              <a:rPr lang="en-US" sz="2400" b="1" dirty="0">
                <a:solidFill>
                  <a:srgbClr val="E60012"/>
                </a:solidFill>
                <a:latin typeface="Meiryo" pitchFamily="34" charset="0"/>
                <a:ea typeface="Meiryo" pitchFamily="34" charset="-122"/>
                <a:cs typeface="Meiryo" pitchFamily="34" charset="-120"/>
              </a:rPr>
              <a:t>2</a:t>
            </a:r>
            <a:endParaRPr lang="en-US" sz="2400" dirty="0"/>
          </a:p>
        </p:txBody>
      </p:sp>
      <p:sp>
        <p:nvSpPr>
          <p:cNvPr id="17" name="Text 15"/>
          <p:cNvSpPr txBox="1"/>
          <p:nvPr/>
        </p:nvSpPr>
        <p:spPr>
          <a:xfrm>
            <a:off x="1325880" y="2176272"/>
            <a:ext cx="5120640" cy="777240"/>
          </a:xfrm>
          <a:prstGeom prst="rect">
            <a:avLst/>
          </a:prstGeom>
          <a:noFill/>
          <a:ln/>
        </p:spPr>
        <p:txBody>
          <a:bodyPr wrap="square" lIns="0" tIns="0" rIns="0" bIns="0" rtlCol="0" anchor="ctr"/>
          <a:lstStyle/>
          <a:p>
            <a:pPr indent="0" marL="0">
              <a:buNone/>
            </a:pPr>
            <a:r>
              <a:rPr lang="en-US" sz="1700" b="1" dirty="0">
                <a:solidFill>
                  <a:srgbClr val="1E2126"/>
                </a:solidFill>
                <a:latin typeface="Meiryo" pitchFamily="34" charset="0"/>
                <a:ea typeface="Meiryo" pitchFamily="34" charset="-122"/>
                <a:cs typeface="Meiryo" pitchFamily="34" charset="-120"/>
              </a:rPr>
              <a:t>日常を支えるものづくりに貢献できる</a:t>
            </a:r>
            <a:endParaRPr lang="en-US" sz="1700" dirty="0"/>
          </a:p>
        </p:txBody>
      </p:sp>
      <p:sp>
        <p:nvSpPr>
          <p:cNvPr id="18" name="Text 16"/>
          <p:cNvSpPr txBox="1"/>
          <p:nvPr/>
        </p:nvSpPr>
        <p:spPr>
          <a:xfrm>
            <a:off x="6492240" y="2176272"/>
            <a:ext cx="4967935" cy="777240"/>
          </a:xfrm>
          <a:prstGeom prst="rect">
            <a:avLst/>
          </a:prstGeom>
          <a:noFill/>
          <a:ln/>
        </p:spPr>
        <p:txBody>
          <a:bodyPr wrap="square" lIns="0" tIns="0" rIns="0" bIns="0" rtlCol="0" anchor="ctr"/>
          <a:lstStyle/>
          <a:p>
            <a:pPr indent="0" marL="0">
              <a:buNone/>
            </a:pPr>
            <a:r>
              <a:rPr lang="en-US" sz="1250" dirty="0">
                <a:solidFill>
                  <a:srgbClr val="5A6470"/>
                </a:solidFill>
                <a:latin typeface="Meiryo" pitchFamily="34" charset="0"/>
                <a:ea typeface="Meiryo" pitchFamily="34" charset="-122"/>
                <a:cs typeface="Meiryo" pitchFamily="34" charset="-120"/>
              </a:rPr>
              <a:t>飲み物や食品など、身近な製品の生産を支える</a:t>
            </a:r>
            <a:endParaRPr lang="en-US" sz="1250" dirty="0"/>
          </a:p>
        </p:txBody>
      </p:sp>
      <p:sp>
        <p:nvSpPr>
          <p:cNvPr id="19" name="Shape 17"/>
          <p:cNvSpPr/>
          <p:nvPr/>
        </p:nvSpPr>
        <p:spPr>
          <a:xfrm>
            <a:off x="548640" y="3072384"/>
            <a:ext cx="11094415" cy="777240"/>
          </a:xfrm>
          <a:prstGeom prst="rect">
            <a:avLst/>
          </a:prstGeom>
          <a:solidFill>
            <a:srgbClr val="FFFFFF"/>
          </a:solidFill>
          <a:ln/>
        </p:spPr>
      </p:sp>
      <p:sp>
        <p:nvSpPr>
          <p:cNvPr id="20" name="Text 18"/>
          <p:cNvSpPr txBox="1"/>
          <p:nvPr/>
        </p:nvSpPr>
        <p:spPr>
          <a:xfrm>
            <a:off x="731520" y="3072384"/>
            <a:ext cx="548640" cy="777240"/>
          </a:xfrm>
          <a:prstGeom prst="rect">
            <a:avLst/>
          </a:prstGeom>
          <a:noFill/>
          <a:ln/>
        </p:spPr>
        <p:txBody>
          <a:bodyPr wrap="square" lIns="0" tIns="0" rIns="0" bIns="0" rtlCol="0" anchor="ctr"/>
          <a:lstStyle/>
          <a:p>
            <a:pPr indent="0" marL="0">
              <a:buNone/>
            </a:pPr>
            <a:r>
              <a:rPr lang="en-US" sz="2400" b="1" dirty="0">
                <a:solidFill>
                  <a:srgbClr val="E60012"/>
                </a:solidFill>
                <a:latin typeface="Meiryo" pitchFamily="34" charset="0"/>
                <a:ea typeface="Meiryo" pitchFamily="34" charset="-122"/>
                <a:cs typeface="Meiryo" pitchFamily="34" charset="-120"/>
              </a:rPr>
              <a:t>3</a:t>
            </a:r>
            <a:endParaRPr lang="en-US" sz="2400" dirty="0"/>
          </a:p>
        </p:txBody>
      </p:sp>
      <p:sp>
        <p:nvSpPr>
          <p:cNvPr id="21" name="Text 19"/>
          <p:cNvSpPr txBox="1"/>
          <p:nvPr/>
        </p:nvSpPr>
        <p:spPr>
          <a:xfrm>
            <a:off x="1325880" y="3072384"/>
            <a:ext cx="5120640" cy="777240"/>
          </a:xfrm>
          <a:prstGeom prst="rect">
            <a:avLst/>
          </a:prstGeom>
          <a:noFill/>
          <a:ln/>
        </p:spPr>
        <p:txBody>
          <a:bodyPr wrap="square" lIns="0" tIns="0" rIns="0" bIns="0" rtlCol="0" anchor="ctr"/>
          <a:lstStyle/>
          <a:p>
            <a:pPr indent="0" marL="0">
              <a:buNone/>
            </a:pPr>
            <a:r>
              <a:rPr lang="en-US" sz="1700" b="1" dirty="0">
                <a:solidFill>
                  <a:srgbClr val="1E2126"/>
                </a:solidFill>
                <a:latin typeface="Meiryo" pitchFamily="34" charset="0"/>
                <a:ea typeface="Meiryo" pitchFamily="34" charset="-122"/>
                <a:cs typeface="Meiryo" pitchFamily="34" charset="-120"/>
              </a:rPr>
              <a:t>自分の質問やアイデアが、解決のきっかけになる</a:t>
            </a:r>
            <a:endParaRPr lang="en-US" sz="1700" dirty="0"/>
          </a:p>
        </p:txBody>
      </p:sp>
      <p:sp>
        <p:nvSpPr>
          <p:cNvPr id="22" name="Text 20"/>
          <p:cNvSpPr txBox="1"/>
          <p:nvPr/>
        </p:nvSpPr>
        <p:spPr>
          <a:xfrm>
            <a:off x="6492240" y="3072384"/>
            <a:ext cx="4967935" cy="777240"/>
          </a:xfrm>
          <a:prstGeom prst="rect">
            <a:avLst/>
          </a:prstGeom>
          <a:noFill/>
          <a:ln/>
        </p:spPr>
        <p:txBody>
          <a:bodyPr wrap="square" lIns="0" tIns="0" rIns="0" bIns="0" rtlCol="0" anchor="ctr"/>
          <a:lstStyle/>
          <a:p>
            <a:pPr indent="0" marL="0">
              <a:buNone/>
            </a:pPr>
            <a:r>
              <a:rPr lang="en-US" sz="1250" dirty="0">
                <a:solidFill>
                  <a:srgbClr val="5A6470"/>
                </a:solidFill>
                <a:latin typeface="Meiryo" pitchFamily="34" charset="0"/>
                <a:ea typeface="Meiryo" pitchFamily="34" charset="-122"/>
                <a:cs typeface="Meiryo" pitchFamily="34" charset="-120"/>
              </a:rPr>
              <a:t>今日の「何を聞くか」が、そのまま仕事になる</a:t>
            </a:r>
            <a:endParaRPr lang="en-US" sz="1250" dirty="0"/>
          </a:p>
        </p:txBody>
      </p:sp>
      <p:sp>
        <p:nvSpPr>
          <p:cNvPr id="23" name="Shape 21"/>
          <p:cNvSpPr/>
          <p:nvPr/>
        </p:nvSpPr>
        <p:spPr>
          <a:xfrm>
            <a:off x="548640" y="3968496"/>
            <a:ext cx="11094415" cy="777240"/>
          </a:xfrm>
          <a:prstGeom prst="rect">
            <a:avLst/>
          </a:prstGeom>
          <a:solidFill>
            <a:srgbClr val="FFFFFF"/>
          </a:solidFill>
          <a:ln/>
        </p:spPr>
      </p:sp>
      <p:sp>
        <p:nvSpPr>
          <p:cNvPr id="24" name="Text 22"/>
          <p:cNvSpPr txBox="1"/>
          <p:nvPr/>
        </p:nvSpPr>
        <p:spPr>
          <a:xfrm>
            <a:off x="731520" y="3968496"/>
            <a:ext cx="548640" cy="777240"/>
          </a:xfrm>
          <a:prstGeom prst="rect">
            <a:avLst/>
          </a:prstGeom>
          <a:noFill/>
          <a:ln/>
        </p:spPr>
        <p:txBody>
          <a:bodyPr wrap="square" lIns="0" tIns="0" rIns="0" bIns="0" rtlCol="0" anchor="ctr"/>
          <a:lstStyle/>
          <a:p>
            <a:pPr indent="0" marL="0">
              <a:buNone/>
            </a:pPr>
            <a:r>
              <a:rPr lang="en-US" sz="2400" b="1" dirty="0">
                <a:solidFill>
                  <a:srgbClr val="E60012"/>
                </a:solidFill>
                <a:latin typeface="Meiryo" pitchFamily="34" charset="0"/>
                <a:ea typeface="Meiryo" pitchFamily="34" charset="-122"/>
                <a:cs typeface="Meiryo" pitchFamily="34" charset="-120"/>
              </a:rPr>
              <a:t>4</a:t>
            </a:r>
            <a:endParaRPr lang="en-US" sz="2400" dirty="0"/>
          </a:p>
        </p:txBody>
      </p:sp>
      <p:sp>
        <p:nvSpPr>
          <p:cNvPr id="25" name="Text 23"/>
          <p:cNvSpPr txBox="1"/>
          <p:nvPr/>
        </p:nvSpPr>
        <p:spPr>
          <a:xfrm>
            <a:off x="1325880" y="3968496"/>
            <a:ext cx="5120640" cy="777240"/>
          </a:xfrm>
          <a:prstGeom prst="rect">
            <a:avLst/>
          </a:prstGeom>
          <a:noFill/>
          <a:ln/>
        </p:spPr>
        <p:txBody>
          <a:bodyPr wrap="square" lIns="0" tIns="0" rIns="0" bIns="0" rtlCol="0" anchor="ctr"/>
          <a:lstStyle/>
          <a:p>
            <a:pPr indent="0" marL="0">
              <a:buNone/>
            </a:pPr>
            <a:r>
              <a:rPr lang="en-US" sz="1700" b="1" dirty="0">
                <a:solidFill>
                  <a:srgbClr val="1E2126"/>
                </a:solidFill>
                <a:latin typeface="Meiryo" pitchFamily="34" charset="0"/>
                <a:ea typeface="Meiryo" pitchFamily="34" charset="-122"/>
                <a:cs typeface="Meiryo" pitchFamily="34" charset="-120"/>
              </a:rPr>
              <a:t>技術担当者と一緒に提案できる</a:t>
            </a:r>
            <a:endParaRPr lang="en-US" sz="1700" dirty="0"/>
          </a:p>
        </p:txBody>
      </p:sp>
      <p:sp>
        <p:nvSpPr>
          <p:cNvPr id="26" name="Text 24"/>
          <p:cNvSpPr txBox="1"/>
          <p:nvPr/>
        </p:nvSpPr>
        <p:spPr>
          <a:xfrm>
            <a:off x="6492240" y="3968496"/>
            <a:ext cx="4967935" cy="777240"/>
          </a:xfrm>
          <a:prstGeom prst="rect">
            <a:avLst/>
          </a:prstGeom>
          <a:noFill/>
          <a:ln/>
        </p:spPr>
        <p:txBody>
          <a:bodyPr wrap="square" lIns="0" tIns="0" rIns="0" bIns="0" rtlCol="0" anchor="ctr"/>
          <a:lstStyle/>
          <a:p>
            <a:pPr indent="0" marL="0">
              <a:buNone/>
            </a:pPr>
            <a:r>
              <a:rPr lang="en-US" sz="1250" dirty="0">
                <a:solidFill>
                  <a:srgbClr val="5A6470"/>
                </a:solidFill>
                <a:latin typeface="Meiryo" pitchFamily="34" charset="0"/>
                <a:ea typeface="Meiryo" pitchFamily="34" charset="-122"/>
                <a:cs typeface="Meiryo" pitchFamily="34" charset="-120"/>
              </a:rPr>
              <a:t>中田さんのような技術の仲間と、チームで解決する</a:t>
            </a:r>
            <a:endParaRPr lang="en-US" sz="1250" dirty="0"/>
          </a:p>
        </p:txBody>
      </p:sp>
      <p:sp>
        <p:nvSpPr>
          <p:cNvPr id="27" name="Shape 25"/>
          <p:cNvSpPr/>
          <p:nvPr/>
        </p:nvSpPr>
        <p:spPr>
          <a:xfrm>
            <a:off x="548640" y="4864608"/>
            <a:ext cx="11094415" cy="777240"/>
          </a:xfrm>
          <a:prstGeom prst="rect">
            <a:avLst/>
          </a:prstGeom>
          <a:solidFill>
            <a:srgbClr val="FFFFFF"/>
          </a:solidFill>
          <a:ln/>
        </p:spPr>
      </p:sp>
      <p:sp>
        <p:nvSpPr>
          <p:cNvPr id="28" name="Text 26"/>
          <p:cNvSpPr txBox="1"/>
          <p:nvPr/>
        </p:nvSpPr>
        <p:spPr>
          <a:xfrm>
            <a:off x="731520" y="4864608"/>
            <a:ext cx="548640" cy="777240"/>
          </a:xfrm>
          <a:prstGeom prst="rect">
            <a:avLst/>
          </a:prstGeom>
          <a:noFill/>
          <a:ln/>
        </p:spPr>
        <p:txBody>
          <a:bodyPr wrap="square" lIns="0" tIns="0" rIns="0" bIns="0" rtlCol="0" anchor="ctr"/>
          <a:lstStyle/>
          <a:p>
            <a:pPr indent="0" marL="0">
              <a:buNone/>
            </a:pPr>
            <a:r>
              <a:rPr lang="en-US" sz="2400" b="1" dirty="0">
                <a:solidFill>
                  <a:srgbClr val="E60012"/>
                </a:solidFill>
                <a:latin typeface="Meiryo" pitchFamily="34" charset="0"/>
                <a:ea typeface="Meiryo" pitchFamily="34" charset="-122"/>
                <a:cs typeface="Meiryo" pitchFamily="34" charset="-120"/>
              </a:rPr>
              <a:t>5</a:t>
            </a:r>
            <a:endParaRPr lang="en-US" sz="2400" dirty="0"/>
          </a:p>
        </p:txBody>
      </p:sp>
      <p:sp>
        <p:nvSpPr>
          <p:cNvPr id="29" name="Text 27"/>
          <p:cNvSpPr txBox="1"/>
          <p:nvPr/>
        </p:nvSpPr>
        <p:spPr>
          <a:xfrm>
            <a:off x="1325880" y="4864608"/>
            <a:ext cx="5120640" cy="777240"/>
          </a:xfrm>
          <a:prstGeom prst="rect">
            <a:avLst/>
          </a:prstGeom>
          <a:noFill/>
          <a:ln/>
        </p:spPr>
        <p:txBody>
          <a:bodyPr wrap="square" lIns="0" tIns="0" rIns="0" bIns="0" rtlCol="0" anchor="ctr"/>
          <a:lstStyle/>
          <a:p>
            <a:pPr indent="0" marL="0">
              <a:buNone/>
            </a:pPr>
            <a:r>
              <a:rPr lang="en-US" sz="1700" b="1" dirty="0">
                <a:solidFill>
                  <a:srgbClr val="1E2126"/>
                </a:solidFill>
                <a:latin typeface="Meiryo" pitchFamily="34" charset="0"/>
                <a:ea typeface="Meiryo" pitchFamily="34" charset="-122"/>
                <a:cs typeface="Meiryo" pitchFamily="34" charset="-120"/>
              </a:rPr>
              <a:t>専門知識は、入社後に学んで成長できる</a:t>
            </a:r>
            <a:endParaRPr lang="en-US" sz="1700" dirty="0"/>
          </a:p>
        </p:txBody>
      </p:sp>
      <p:sp>
        <p:nvSpPr>
          <p:cNvPr id="30" name="Text 28"/>
          <p:cNvSpPr txBox="1"/>
          <p:nvPr/>
        </p:nvSpPr>
        <p:spPr>
          <a:xfrm>
            <a:off x="6492240" y="4864608"/>
            <a:ext cx="4967935" cy="777240"/>
          </a:xfrm>
          <a:prstGeom prst="rect">
            <a:avLst/>
          </a:prstGeom>
          <a:noFill/>
          <a:ln/>
        </p:spPr>
        <p:txBody>
          <a:bodyPr wrap="square" lIns="0" tIns="0" rIns="0" bIns="0" rtlCol="0" anchor="ctr"/>
          <a:lstStyle/>
          <a:p>
            <a:pPr indent="0" marL="0">
              <a:buNone/>
            </a:pPr>
            <a:r>
              <a:rPr lang="en-US" sz="1250" dirty="0">
                <a:solidFill>
                  <a:srgbClr val="E60012"/>
                </a:solidFill>
                <a:latin typeface="Meiryo" pitchFamily="34" charset="0"/>
                <a:ea typeface="Meiryo" pitchFamily="34" charset="-122"/>
                <a:cs typeface="Meiryo" pitchFamily="34" charset="-120"/>
              </a:rPr>
              <a:t>【要確認】研修・育成の具体的な内容は社内資料で追記</a:t>
            </a:r>
            <a:endParaRPr lang="en-US" sz="125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48640" y="566928"/>
            <a:ext cx="914400" cy="329184"/>
          </a:xfrm>
          <a:prstGeom prst="rect">
            <a:avLst/>
          </a:prstGeom>
          <a:solidFill>
            <a:srgbClr val="E60012"/>
          </a:solidFill>
          <a:ln/>
        </p:spPr>
      </p:sp>
      <p:sp>
        <p:nvSpPr>
          <p:cNvPr id="3" name="Text 1"/>
          <p:cNvSpPr txBox="1"/>
          <p:nvPr/>
        </p:nvSpPr>
        <p:spPr>
          <a:xfrm>
            <a:off x="548640" y="566928"/>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ふりかえる</a:t>
            </a:r>
            <a:endParaRPr lang="en-US" sz="1100" dirty="0"/>
          </a:p>
        </p:txBody>
      </p:sp>
      <p:sp>
        <p:nvSpPr>
          <p:cNvPr id="4" name="Text 2"/>
          <p:cNvSpPr txBox="1"/>
          <p:nvPr/>
        </p:nvSpPr>
        <p:spPr>
          <a:xfrm>
            <a:off x="1627632" y="530352"/>
            <a:ext cx="999713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若手営業社員から</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A0A7AF"/>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REFLECTION</a:t>
            </a:r>
            <a:endParaRPr lang="en-US" sz="650" dirty="0"/>
          </a:p>
        </p:txBody>
      </p:sp>
      <p:sp>
        <p:nvSpPr>
          <p:cNvPr id="11" name="IMAGE_PLACEHOLDER_08"/>
          <p:cNvSpPr/>
          <p:nvPr/>
        </p:nvSpPr>
        <p:spPr>
          <a:xfrm>
            <a:off x="548640" y="1280160"/>
            <a:ext cx="3291840" cy="4114800"/>
          </a:xfrm>
          <a:prstGeom prst="rect">
            <a:avLst/>
          </a:prstGeom>
          <a:solidFill>
            <a:srgbClr val="FAFAFB"/>
          </a:solidFill>
          <a:ln w="15875">
            <a:solidFill>
              <a:srgbClr val="B9C1CA"/>
            </a:solidFill>
            <a:prstDash val="dash"/>
          </a:ln>
        </p:spPr>
      </p:sp>
      <p:sp>
        <p:nvSpPr>
          <p:cNvPr id="12" name="Text 10"/>
          <p:cNvSpPr txBox="1"/>
          <p:nvPr/>
        </p:nvSpPr>
        <p:spPr>
          <a:xfrm>
            <a:off x="685800" y="1371600"/>
            <a:ext cx="3017520" cy="3931920"/>
          </a:xfrm>
          <a:prstGeom prst="rect">
            <a:avLst/>
          </a:prstGeom>
          <a:noFill/>
          <a:ln/>
        </p:spPr>
        <p:txBody>
          <a:bodyPr wrap="square" lIns="0" tIns="0" rIns="0" bIns="0" rtlCol="0" anchor="ctr"/>
          <a:lstStyle/>
          <a:p>
            <a:pPr algn="ctr" indent="0" marL="0">
              <a:spcAft>
                <a:spcPts val="300"/>
              </a:spcAft>
              <a:buNone/>
            </a:pPr>
            <a:r>
              <a:rPr lang="en-US" sz="1100" b="1" dirty="0">
                <a:solidFill>
                  <a:srgbClr val="E60012"/>
                </a:solidFill>
                <a:latin typeface="Meiryo" pitchFamily="34" charset="0"/>
                <a:ea typeface="Meiryo" pitchFamily="34" charset="-122"/>
                <a:cs typeface="Meiryo" pitchFamily="34" charset="-120"/>
              </a:rPr>
              <a:t>【IMAGE_PLACEHOLDER_08】</a:t>
            </a:r>
            <a:endParaRPr lang="en-US" sz="1100" dirty="0"/>
          </a:p>
          <a:p>
            <a:pPr algn="ctr" indent="0" marL="0">
              <a:spcAft>
                <a:spcPts val="300"/>
              </a:spcAft>
              <a:buNone/>
            </a:pPr>
            <a:r>
              <a:rPr lang="en-US" sz="950" dirty="0">
                <a:solidFill>
                  <a:srgbClr val="1E2126"/>
                </a:solidFill>
                <a:latin typeface="Meiryo" pitchFamily="34" charset="0"/>
                <a:ea typeface="Meiryo" pitchFamily="34" charset="-122"/>
                <a:cs typeface="Meiryo" pitchFamily="34" charset="-120"/>
              </a:rPr>
              <a:t>用途：若手営業社員の写真</a:t>
            </a:r>
            <a:endParaRPr lang="en-US" sz="1100" dirty="0"/>
          </a:p>
          <a:p>
            <a:pPr algn="ctr" indent="0" marL="0">
              <a:spcAft>
                <a:spcPts val="300"/>
              </a:spcAft>
              <a:buNone/>
            </a:pPr>
            <a:r>
              <a:rPr lang="en-US" sz="850" dirty="0">
                <a:solidFill>
                  <a:srgbClr val="5A6470"/>
                </a:solidFill>
                <a:latin typeface="Meiryo" pitchFamily="34" charset="0"/>
                <a:ea typeface="Meiryo" pitchFamily="34" charset="-122"/>
                <a:cs typeface="Meiryo" pitchFamily="34" charset="-120"/>
              </a:rPr>
              <a:t>目的：学生が「自分もなれそう」と感じる実在の先輩を見せる</a:t>
            </a:r>
            <a:endParaRPr lang="en-US" sz="1100" dirty="0"/>
          </a:p>
          <a:p>
            <a:pPr algn="ctr" indent="0" marL="0">
              <a:spcAft>
                <a:spcPts val="300"/>
              </a:spcAft>
              <a:buNone/>
            </a:pPr>
            <a:r>
              <a:rPr lang="en-US" sz="850" dirty="0">
                <a:solidFill>
                  <a:srgbClr val="5A6470"/>
                </a:solidFill>
                <a:latin typeface="Meiryo" pitchFamily="34" charset="0"/>
                <a:ea typeface="Meiryo" pitchFamily="34" charset="-122"/>
                <a:cs typeface="Meiryo" pitchFamily="34" charset="-120"/>
              </a:rPr>
              <a:t>状態：後日指定画像に差し替え</a:t>
            </a:r>
            <a:endParaRPr lang="en-US" sz="1100" dirty="0"/>
          </a:p>
        </p:txBody>
      </p:sp>
      <p:sp>
        <p:nvSpPr>
          <p:cNvPr id="13" name="VIDEO_PLACEHOLDER_05"/>
          <p:cNvSpPr/>
          <p:nvPr/>
        </p:nvSpPr>
        <p:spPr>
          <a:xfrm>
            <a:off x="4023360" y="1280160"/>
            <a:ext cx="3840480" cy="2157984"/>
          </a:xfrm>
          <a:prstGeom prst="rect">
            <a:avLst/>
          </a:prstGeom>
          <a:solidFill>
            <a:srgbClr val="FAFAFB"/>
          </a:solidFill>
          <a:ln w="15875">
            <a:solidFill>
              <a:srgbClr val="B9C1CA"/>
            </a:solidFill>
            <a:prstDash val="dash"/>
          </a:ln>
        </p:spPr>
      </p:sp>
      <p:sp>
        <p:nvSpPr>
          <p:cNvPr id="14" name="Text 12"/>
          <p:cNvSpPr txBox="1"/>
          <p:nvPr/>
        </p:nvSpPr>
        <p:spPr>
          <a:xfrm>
            <a:off x="4160520" y="1371600"/>
            <a:ext cx="3566160" cy="1975104"/>
          </a:xfrm>
          <a:prstGeom prst="rect">
            <a:avLst/>
          </a:prstGeom>
          <a:noFill/>
          <a:ln/>
        </p:spPr>
        <p:txBody>
          <a:bodyPr wrap="square" lIns="0" tIns="0" rIns="0" bIns="0" rtlCol="0" anchor="ctr"/>
          <a:lstStyle/>
          <a:p>
            <a:pPr algn="ctr" indent="0" marL="0">
              <a:spcAft>
                <a:spcPts val="300"/>
              </a:spcAft>
              <a:buNone/>
            </a:pPr>
            <a:r>
              <a:rPr lang="en-US" sz="1100" b="1" dirty="0">
                <a:solidFill>
                  <a:srgbClr val="E60012"/>
                </a:solidFill>
                <a:latin typeface="Meiryo" pitchFamily="34" charset="0"/>
                <a:ea typeface="Meiryo" pitchFamily="34" charset="-122"/>
                <a:cs typeface="Meiryo" pitchFamily="34" charset="-120"/>
              </a:rPr>
              <a:t>【VIDEO_PLACEHOLDER_05】</a:t>
            </a:r>
            <a:endParaRPr lang="en-US" sz="1100" dirty="0"/>
          </a:p>
          <a:p>
            <a:pPr algn="ctr" indent="0" marL="0">
              <a:spcAft>
                <a:spcPts val="300"/>
              </a:spcAft>
              <a:buNone/>
            </a:pPr>
            <a:r>
              <a:rPr lang="en-US" sz="950" dirty="0">
                <a:solidFill>
                  <a:srgbClr val="1E2126"/>
                </a:solidFill>
                <a:latin typeface="Meiryo" pitchFamily="34" charset="0"/>
                <a:ea typeface="Meiryo" pitchFamily="34" charset="-122"/>
                <a:cs typeface="Meiryo" pitchFamily="34" charset="-120"/>
              </a:rPr>
              <a:t>用途：若手営業社員のメッセージ（任意）</a:t>
            </a:r>
            <a:endParaRPr lang="en-US" sz="1100" dirty="0"/>
          </a:p>
          <a:p>
            <a:pPr algn="ctr" indent="0" marL="0">
              <a:spcAft>
                <a:spcPts val="300"/>
              </a:spcAft>
              <a:buNone/>
            </a:pPr>
            <a:r>
              <a:rPr lang="en-US" sz="850" dirty="0">
                <a:solidFill>
                  <a:srgbClr val="5A6470"/>
                </a:solidFill>
                <a:latin typeface="Meiryo" pitchFamily="34" charset="0"/>
                <a:ea typeface="Meiryo" pitchFamily="34" charset="-122"/>
                <a:cs typeface="Meiryo" pitchFamily="34" charset="-120"/>
              </a:rPr>
              <a:t>目的：入社後の姿を具体的に想像させる</a:t>
            </a:r>
            <a:endParaRPr lang="en-US" sz="1100" dirty="0"/>
          </a:p>
          <a:p>
            <a:pPr algn="ctr" indent="0" marL="0">
              <a:spcAft>
                <a:spcPts val="300"/>
              </a:spcAft>
              <a:buNone/>
            </a:pPr>
            <a:r>
              <a:rPr lang="en-US" sz="850" dirty="0">
                <a:solidFill>
                  <a:srgbClr val="5A6470"/>
                </a:solidFill>
                <a:latin typeface="Meiryo" pitchFamily="34" charset="0"/>
                <a:ea typeface="Meiryo" pitchFamily="34" charset="-122"/>
                <a:cs typeface="Meiryo" pitchFamily="34" charset="-120"/>
              </a:rPr>
              <a:t>状態：後日指定動画に差し替え</a:t>
            </a:r>
            <a:endParaRPr lang="en-US" sz="1100" dirty="0"/>
          </a:p>
        </p:txBody>
      </p:sp>
      <p:sp>
        <p:nvSpPr>
          <p:cNvPr id="15" name="Text 13"/>
          <p:cNvSpPr txBox="1"/>
          <p:nvPr/>
        </p:nvSpPr>
        <p:spPr>
          <a:xfrm>
            <a:off x="4023360" y="3657600"/>
            <a:ext cx="2011680" cy="457200"/>
          </a:xfrm>
          <a:prstGeom prst="rect">
            <a:avLst/>
          </a:prstGeom>
          <a:noFill/>
          <a:ln/>
        </p:spPr>
        <p:txBody>
          <a:bodyPr wrap="square" lIns="0" tIns="0" rIns="0" bIns="0" rtlCol="0" anchor="ctr"/>
          <a:lstStyle/>
          <a:p>
            <a:pPr indent="0" marL="0">
              <a:buNone/>
            </a:pPr>
            <a:r>
              <a:rPr lang="en-US" sz="1200" b="1" dirty="0">
                <a:solidFill>
                  <a:srgbClr val="5A6470"/>
                </a:solidFill>
                <a:latin typeface="Meiryo" pitchFamily="34" charset="0"/>
                <a:ea typeface="Meiryo" pitchFamily="34" charset="-122"/>
                <a:cs typeface="Meiryo" pitchFamily="34" charset="-120"/>
              </a:rPr>
              <a:t>氏名・入社年</a:t>
            </a:r>
            <a:endParaRPr lang="en-US" sz="1200" dirty="0"/>
          </a:p>
        </p:txBody>
      </p:sp>
      <p:sp>
        <p:nvSpPr>
          <p:cNvPr id="16" name="Shape 14"/>
          <p:cNvSpPr/>
          <p:nvPr/>
        </p:nvSpPr>
        <p:spPr>
          <a:xfrm>
            <a:off x="6035040" y="3657600"/>
            <a:ext cx="5605272" cy="457200"/>
          </a:xfrm>
          <a:prstGeom prst="rect">
            <a:avLst/>
          </a:prstGeom>
          <a:solidFill>
            <a:srgbClr val="FAFAFB"/>
          </a:solidFill>
          <a:ln w="12700">
            <a:solidFill>
              <a:srgbClr val="B9C1CA"/>
            </a:solidFill>
            <a:prstDash val="dash"/>
          </a:ln>
        </p:spPr>
      </p:sp>
      <p:sp>
        <p:nvSpPr>
          <p:cNvPr id="17" name="Text 15"/>
          <p:cNvSpPr txBox="1"/>
          <p:nvPr/>
        </p:nvSpPr>
        <p:spPr>
          <a:xfrm>
            <a:off x="6172200" y="3657600"/>
            <a:ext cx="5303520" cy="457200"/>
          </a:xfrm>
          <a:prstGeom prst="rect">
            <a:avLst/>
          </a:prstGeom>
          <a:noFill/>
          <a:ln/>
        </p:spPr>
        <p:txBody>
          <a:bodyPr wrap="square" lIns="0" tIns="0" rIns="0" bIns="0" rtlCol="0" anchor="ctr"/>
          <a:lstStyle/>
          <a:p>
            <a:pPr indent="0" marL="0">
              <a:buNone/>
            </a:pPr>
            <a:r>
              <a:rPr lang="en-US" sz="1100" dirty="0">
                <a:solidFill>
                  <a:srgbClr val="5A6470"/>
                </a:solidFill>
                <a:latin typeface="Meiryo" pitchFamily="34" charset="0"/>
                <a:ea typeface="Meiryo" pitchFamily="34" charset="-122"/>
                <a:cs typeface="Meiryo" pitchFamily="34" charset="-120"/>
              </a:rPr>
              <a:t>（未提供）</a:t>
            </a:r>
            <a:endParaRPr lang="en-US" sz="1100" dirty="0"/>
          </a:p>
        </p:txBody>
      </p:sp>
      <p:sp>
        <p:nvSpPr>
          <p:cNvPr id="18" name="Text 16"/>
          <p:cNvSpPr txBox="1"/>
          <p:nvPr/>
        </p:nvSpPr>
        <p:spPr>
          <a:xfrm>
            <a:off x="4023360" y="4251960"/>
            <a:ext cx="2011680" cy="457200"/>
          </a:xfrm>
          <a:prstGeom prst="rect">
            <a:avLst/>
          </a:prstGeom>
          <a:noFill/>
          <a:ln/>
        </p:spPr>
        <p:txBody>
          <a:bodyPr wrap="square" lIns="0" tIns="0" rIns="0" bIns="0" rtlCol="0" anchor="ctr"/>
          <a:lstStyle/>
          <a:p>
            <a:pPr indent="0" marL="0">
              <a:buNone/>
            </a:pPr>
            <a:r>
              <a:rPr lang="en-US" sz="1200" b="1" dirty="0">
                <a:solidFill>
                  <a:srgbClr val="5A6470"/>
                </a:solidFill>
                <a:latin typeface="Meiryo" pitchFamily="34" charset="0"/>
                <a:ea typeface="Meiryo" pitchFamily="34" charset="-122"/>
                <a:cs typeface="Meiryo" pitchFamily="34" charset="-120"/>
              </a:rPr>
              <a:t>担当・仕事の内容</a:t>
            </a:r>
            <a:endParaRPr lang="en-US" sz="1200" dirty="0"/>
          </a:p>
        </p:txBody>
      </p:sp>
      <p:sp>
        <p:nvSpPr>
          <p:cNvPr id="19" name="Shape 17"/>
          <p:cNvSpPr/>
          <p:nvPr/>
        </p:nvSpPr>
        <p:spPr>
          <a:xfrm>
            <a:off x="6035040" y="4251960"/>
            <a:ext cx="5605272" cy="457200"/>
          </a:xfrm>
          <a:prstGeom prst="rect">
            <a:avLst/>
          </a:prstGeom>
          <a:solidFill>
            <a:srgbClr val="FAFAFB"/>
          </a:solidFill>
          <a:ln w="12700">
            <a:solidFill>
              <a:srgbClr val="B9C1CA"/>
            </a:solidFill>
            <a:prstDash val="dash"/>
          </a:ln>
        </p:spPr>
      </p:sp>
      <p:sp>
        <p:nvSpPr>
          <p:cNvPr id="20" name="Text 18"/>
          <p:cNvSpPr txBox="1"/>
          <p:nvPr/>
        </p:nvSpPr>
        <p:spPr>
          <a:xfrm>
            <a:off x="6172200" y="4251960"/>
            <a:ext cx="5303520" cy="457200"/>
          </a:xfrm>
          <a:prstGeom prst="rect">
            <a:avLst/>
          </a:prstGeom>
          <a:noFill/>
          <a:ln/>
        </p:spPr>
        <p:txBody>
          <a:bodyPr wrap="square" lIns="0" tIns="0" rIns="0" bIns="0" rtlCol="0" anchor="ctr"/>
          <a:lstStyle/>
          <a:p>
            <a:pPr indent="0" marL="0">
              <a:buNone/>
            </a:pPr>
            <a:r>
              <a:rPr lang="en-US" sz="1100" dirty="0">
                <a:solidFill>
                  <a:srgbClr val="5A6470"/>
                </a:solidFill>
                <a:latin typeface="Meiryo" pitchFamily="34" charset="0"/>
                <a:ea typeface="Meiryo" pitchFamily="34" charset="-122"/>
                <a:cs typeface="Meiryo" pitchFamily="34" charset="-120"/>
              </a:rPr>
              <a:t>（未提供）</a:t>
            </a:r>
            <a:endParaRPr lang="en-US" sz="1100" dirty="0"/>
          </a:p>
        </p:txBody>
      </p:sp>
      <p:sp>
        <p:nvSpPr>
          <p:cNvPr id="21" name="Text 19"/>
          <p:cNvSpPr txBox="1"/>
          <p:nvPr/>
        </p:nvSpPr>
        <p:spPr>
          <a:xfrm>
            <a:off x="4023360" y="4846320"/>
            <a:ext cx="2011680" cy="457200"/>
          </a:xfrm>
          <a:prstGeom prst="rect">
            <a:avLst/>
          </a:prstGeom>
          <a:noFill/>
          <a:ln/>
        </p:spPr>
        <p:txBody>
          <a:bodyPr wrap="square" lIns="0" tIns="0" rIns="0" bIns="0" rtlCol="0" anchor="ctr"/>
          <a:lstStyle/>
          <a:p>
            <a:pPr indent="0" marL="0">
              <a:buNone/>
            </a:pPr>
            <a:r>
              <a:rPr lang="en-US" sz="1200" b="1" dirty="0">
                <a:solidFill>
                  <a:srgbClr val="5A6470"/>
                </a:solidFill>
                <a:latin typeface="Meiryo" pitchFamily="34" charset="0"/>
                <a:ea typeface="Meiryo" pitchFamily="34" charset="-122"/>
                <a:cs typeface="Meiryo" pitchFamily="34" charset="-120"/>
              </a:rPr>
              <a:t>学生へのメッセージ</a:t>
            </a:r>
            <a:endParaRPr lang="en-US" sz="1200" dirty="0"/>
          </a:p>
        </p:txBody>
      </p:sp>
      <p:sp>
        <p:nvSpPr>
          <p:cNvPr id="22" name="Shape 20"/>
          <p:cNvSpPr/>
          <p:nvPr/>
        </p:nvSpPr>
        <p:spPr>
          <a:xfrm>
            <a:off x="6035040" y="4846320"/>
            <a:ext cx="5605272" cy="457200"/>
          </a:xfrm>
          <a:prstGeom prst="rect">
            <a:avLst/>
          </a:prstGeom>
          <a:solidFill>
            <a:srgbClr val="FAFAFB"/>
          </a:solidFill>
          <a:ln w="12700">
            <a:solidFill>
              <a:srgbClr val="B9C1CA"/>
            </a:solidFill>
            <a:prstDash val="dash"/>
          </a:ln>
        </p:spPr>
      </p:sp>
      <p:sp>
        <p:nvSpPr>
          <p:cNvPr id="23" name="Text 21"/>
          <p:cNvSpPr txBox="1"/>
          <p:nvPr/>
        </p:nvSpPr>
        <p:spPr>
          <a:xfrm>
            <a:off x="6172200" y="4846320"/>
            <a:ext cx="5303520" cy="457200"/>
          </a:xfrm>
          <a:prstGeom prst="rect">
            <a:avLst/>
          </a:prstGeom>
          <a:noFill/>
          <a:ln/>
        </p:spPr>
        <p:txBody>
          <a:bodyPr wrap="square" lIns="0" tIns="0" rIns="0" bIns="0" rtlCol="0" anchor="ctr"/>
          <a:lstStyle/>
          <a:p>
            <a:pPr indent="0" marL="0">
              <a:buNone/>
            </a:pPr>
            <a:r>
              <a:rPr lang="en-US" sz="1100" dirty="0">
                <a:solidFill>
                  <a:srgbClr val="5A6470"/>
                </a:solidFill>
                <a:latin typeface="Meiryo" pitchFamily="34" charset="0"/>
                <a:ea typeface="Meiryo" pitchFamily="34" charset="-122"/>
                <a:cs typeface="Meiryo" pitchFamily="34" charset="-120"/>
              </a:rPr>
              <a:t>（未提供）</a:t>
            </a:r>
            <a:endParaRPr lang="en-US" sz="1100" dirty="0"/>
          </a:p>
        </p:txBody>
      </p:sp>
      <p:sp>
        <p:nvSpPr>
          <p:cNvPr id="24" name="Shape 22"/>
          <p:cNvSpPr/>
          <p:nvPr/>
        </p:nvSpPr>
        <p:spPr>
          <a:xfrm>
            <a:off x="8092440" y="1280160"/>
            <a:ext cx="3547872" cy="2157984"/>
          </a:xfrm>
          <a:prstGeom prst="rect">
            <a:avLst/>
          </a:prstGeom>
          <a:solidFill>
            <a:srgbClr val="FDECEE"/>
          </a:solidFill>
          <a:ln/>
        </p:spPr>
      </p:sp>
      <p:sp>
        <p:nvSpPr>
          <p:cNvPr id="25" name="Text 23"/>
          <p:cNvSpPr txBox="1"/>
          <p:nvPr/>
        </p:nvSpPr>
        <p:spPr>
          <a:xfrm>
            <a:off x="8275320" y="1371600"/>
            <a:ext cx="3200400" cy="1975104"/>
          </a:xfrm>
          <a:prstGeom prst="rect">
            <a:avLst/>
          </a:prstGeom>
          <a:noFill/>
          <a:ln/>
        </p:spPr>
        <p:txBody>
          <a:bodyPr wrap="square" lIns="0" tIns="0" rIns="0" bIns="0" rtlCol="0" anchor="ctr"/>
          <a:lstStyle/>
          <a:p>
            <a:pPr indent="0" marL="0">
              <a:buNone/>
            </a:pPr>
            <a:r>
              <a:rPr lang="en-US" sz="1200" b="1" dirty="0">
                <a:solidFill>
                  <a:srgbClr val="E60012"/>
                </a:solidFill>
                <a:latin typeface="Meiryo" pitchFamily="34" charset="0"/>
                <a:ea typeface="Meiryo" pitchFamily="34" charset="-122"/>
                <a:cs typeface="Meiryo" pitchFamily="34" charset="-120"/>
              </a:rPr>
              <a:t>社員情報が届くまで、このスライドは非表示にします。仮の社員エピソードは創作しません。</a:t>
            </a:r>
            <a:endParaRPr lang="en-US" sz="12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48640" y="566928"/>
            <a:ext cx="914400" cy="329184"/>
          </a:xfrm>
          <a:prstGeom prst="rect">
            <a:avLst/>
          </a:prstGeom>
          <a:solidFill>
            <a:srgbClr val="E60012"/>
          </a:solidFill>
          <a:ln/>
        </p:spPr>
      </p:sp>
      <p:sp>
        <p:nvSpPr>
          <p:cNvPr id="3" name="Text 1"/>
          <p:cNvSpPr txBox="1"/>
          <p:nvPr/>
        </p:nvSpPr>
        <p:spPr>
          <a:xfrm>
            <a:off x="548640" y="566928"/>
            <a:ext cx="9144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ふりかえる</a:t>
            </a:r>
            <a:endParaRPr lang="en-US" sz="1100" dirty="0"/>
          </a:p>
        </p:txBody>
      </p:sp>
      <p:sp>
        <p:nvSpPr>
          <p:cNvPr id="4" name="Text 2"/>
          <p:cNvSpPr txBox="1"/>
          <p:nvPr/>
        </p:nvSpPr>
        <p:spPr>
          <a:xfrm>
            <a:off x="1627632" y="530352"/>
            <a:ext cx="9997135" cy="420624"/>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アンケートと次のステップ</a:t>
            </a:r>
            <a:endParaRPr lang="en-US" sz="2200" dirty="0"/>
          </a:p>
        </p:txBody>
      </p:sp>
      <p:sp>
        <p:nvSpPr>
          <p:cNvPr id="5" name="Text 3"/>
          <p:cNvSpPr txBox="1"/>
          <p:nvPr/>
        </p:nvSpPr>
        <p:spPr>
          <a:xfrm>
            <a:off x="6266383"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MISSION</a:t>
            </a:r>
            <a:endParaRPr lang="en-US" sz="650" dirty="0"/>
          </a:p>
        </p:txBody>
      </p:sp>
      <p:sp>
        <p:nvSpPr>
          <p:cNvPr id="6" name="Text 4"/>
          <p:cNvSpPr txBox="1"/>
          <p:nvPr/>
        </p:nvSpPr>
        <p:spPr>
          <a:xfrm>
            <a:off x="7162495"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HEARING</a:t>
            </a:r>
            <a:endParaRPr lang="en-US" sz="650" dirty="0"/>
          </a:p>
        </p:txBody>
      </p:sp>
      <p:sp>
        <p:nvSpPr>
          <p:cNvPr id="7" name="Text 5"/>
          <p:cNvSpPr txBox="1"/>
          <p:nvPr/>
        </p:nvSpPr>
        <p:spPr>
          <a:xfrm>
            <a:off x="8058607"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ANALYSIS</a:t>
            </a:r>
            <a:endParaRPr lang="en-US" sz="650" dirty="0"/>
          </a:p>
        </p:txBody>
      </p:sp>
      <p:sp>
        <p:nvSpPr>
          <p:cNvPr id="8" name="Text 6"/>
          <p:cNvSpPr txBox="1"/>
          <p:nvPr/>
        </p:nvSpPr>
        <p:spPr>
          <a:xfrm>
            <a:off x="8954719"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DISCOVERY</a:t>
            </a:r>
            <a:endParaRPr lang="en-US" sz="650" dirty="0"/>
          </a:p>
        </p:txBody>
      </p:sp>
      <p:sp>
        <p:nvSpPr>
          <p:cNvPr id="9" name="Text 7"/>
          <p:cNvSpPr txBox="1"/>
          <p:nvPr/>
        </p:nvSpPr>
        <p:spPr>
          <a:xfrm>
            <a:off x="9850831" y="201168"/>
            <a:ext cx="859536" cy="201168"/>
          </a:xfrm>
          <a:prstGeom prst="rect">
            <a:avLst/>
          </a:prstGeom>
          <a:noFill/>
          <a:ln/>
        </p:spPr>
        <p:txBody>
          <a:bodyPr wrap="square" lIns="0" tIns="0" rIns="0" bIns="0" rtlCol="0" anchor="t"/>
          <a:lstStyle/>
          <a:p>
            <a:pPr algn="r" indent="0" marL="0">
              <a:buNone/>
            </a:pPr>
            <a:r>
              <a:rPr lang="en-US" sz="650" spc="50" kern="0" dirty="0">
                <a:solidFill>
                  <a:srgbClr val="5A5D63"/>
                </a:solidFill>
                <a:latin typeface="Meiryo" pitchFamily="34" charset="0"/>
                <a:ea typeface="Meiryo" pitchFamily="34" charset="-122"/>
                <a:cs typeface="Meiryo" pitchFamily="34" charset="-120"/>
              </a:rPr>
              <a:t>PROPOSAL</a:t>
            </a:r>
            <a:endParaRPr lang="en-US" sz="650" dirty="0"/>
          </a:p>
        </p:txBody>
      </p:sp>
      <p:sp>
        <p:nvSpPr>
          <p:cNvPr id="10" name="Text 8"/>
          <p:cNvSpPr txBox="1"/>
          <p:nvPr/>
        </p:nvSpPr>
        <p:spPr>
          <a:xfrm>
            <a:off x="10746943" y="201168"/>
            <a:ext cx="859536" cy="201168"/>
          </a:xfrm>
          <a:prstGeom prst="rect">
            <a:avLst/>
          </a:prstGeom>
          <a:noFill/>
          <a:ln/>
        </p:spPr>
        <p:txBody>
          <a:bodyPr wrap="square" lIns="0" tIns="0" rIns="0" bIns="0" rtlCol="0" anchor="t"/>
          <a:lstStyle/>
          <a:p>
            <a:pPr algn="r" indent="0" marL="0">
              <a:buNone/>
            </a:pPr>
            <a:r>
              <a:rPr lang="en-US" sz="650" b="1" spc="50" kern="0" dirty="0">
                <a:solidFill>
                  <a:srgbClr val="E60012"/>
                </a:solidFill>
                <a:latin typeface="Meiryo" pitchFamily="34" charset="0"/>
                <a:ea typeface="Meiryo" pitchFamily="34" charset="-122"/>
                <a:cs typeface="Meiryo" pitchFamily="34" charset="-120"/>
              </a:rPr>
              <a:t>REFLECTION</a:t>
            </a:r>
            <a:endParaRPr lang="en-US" sz="650" dirty="0"/>
          </a:p>
        </p:txBody>
      </p:sp>
      <p:sp>
        <p:nvSpPr>
          <p:cNvPr id="11" name="IMAGE_PLACEHOLDER_10"/>
          <p:cNvSpPr/>
          <p:nvPr/>
        </p:nvSpPr>
        <p:spPr>
          <a:xfrm>
            <a:off x="548640" y="1325880"/>
            <a:ext cx="2926080" cy="2926080"/>
          </a:xfrm>
          <a:prstGeom prst="rect">
            <a:avLst/>
          </a:prstGeom>
          <a:solidFill>
            <a:srgbClr val="1B1D20"/>
          </a:solidFill>
          <a:ln w="15875">
            <a:solidFill>
              <a:srgbClr val="5A5D63"/>
            </a:solidFill>
            <a:prstDash val="dash"/>
          </a:ln>
        </p:spPr>
      </p:sp>
      <p:sp>
        <p:nvSpPr>
          <p:cNvPr id="12" name="Text 10"/>
          <p:cNvSpPr txBox="1"/>
          <p:nvPr/>
        </p:nvSpPr>
        <p:spPr>
          <a:xfrm>
            <a:off x="685800" y="1417320"/>
            <a:ext cx="2651760" cy="2743200"/>
          </a:xfrm>
          <a:prstGeom prst="rect">
            <a:avLst/>
          </a:prstGeom>
          <a:noFill/>
          <a:ln/>
        </p:spPr>
        <p:txBody>
          <a:bodyPr wrap="square" lIns="0" tIns="0" rIns="0" bIns="0" rtlCol="0" anchor="ctr"/>
          <a:lstStyle/>
          <a:p>
            <a:pPr algn="ctr" indent="0" marL="0">
              <a:spcAft>
                <a:spcPts val="300"/>
              </a:spcAft>
              <a:buNone/>
            </a:pPr>
            <a:r>
              <a:rPr lang="en-US" sz="1100" b="1" dirty="0">
                <a:solidFill>
                  <a:srgbClr val="E60012"/>
                </a:solidFill>
                <a:latin typeface="Meiryo" pitchFamily="34" charset="0"/>
                <a:ea typeface="Meiryo" pitchFamily="34" charset="-122"/>
                <a:cs typeface="Meiryo" pitchFamily="34" charset="-120"/>
              </a:rPr>
              <a:t>【IMAGE_PLACEHOLDER_10】</a:t>
            </a:r>
            <a:endParaRPr lang="en-US" sz="1100" dirty="0"/>
          </a:p>
          <a:p>
            <a:pPr algn="ctr" indent="0" marL="0">
              <a:spcAft>
                <a:spcPts val="300"/>
              </a:spcAft>
              <a:buNone/>
            </a:pPr>
            <a:r>
              <a:rPr lang="en-US" sz="950" dirty="0">
                <a:solidFill>
                  <a:srgbClr val="FFFFFF"/>
                </a:solidFill>
                <a:latin typeface="Meiryo" pitchFamily="34" charset="0"/>
                <a:ea typeface="Meiryo" pitchFamily="34" charset="-122"/>
                <a:cs typeface="Meiryo" pitchFamily="34" charset="-120"/>
              </a:rPr>
              <a:t>用途：事後アンケート・次回ステップ申込のQRコード</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目的：体験直後に回答と申込をしてもらう</a:t>
            </a:r>
            <a:endParaRPr lang="en-US" sz="1100" dirty="0"/>
          </a:p>
          <a:p>
            <a:pPr algn="ctr" indent="0" marL="0">
              <a:spcAft>
                <a:spcPts val="300"/>
              </a:spcAft>
              <a:buNone/>
            </a:pPr>
            <a:r>
              <a:rPr lang="en-US" sz="850" dirty="0">
                <a:solidFill>
                  <a:srgbClr val="8A939D"/>
                </a:solidFill>
                <a:latin typeface="Meiryo" pitchFamily="34" charset="0"/>
                <a:ea typeface="Meiryo" pitchFamily="34" charset="-122"/>
                <a:cs typeface="Meiryo" pitchFamily="34" charset="-120"/>
              </a:rPr>
              <a:t>状態：後日指定画像に差し替え</a:t>
            </a:r>
            <a:endParaRPr lang="en-US" sz="1100" dirty="0"/>
          </a:p>
        </p:txBody>
      </p:sp>
      <p:sp>
        <p:nvSpPr>
          <p:cNvPr id="13" name="Text 11"/>
          <p:cNvSpPr txBox="1"/>
          <p:nvPr/>
        </p:nvSpPr>
        <p:spPr>
          <a:xfrm>
            <a:off x="3840480" y="1325880"/>
            <a:ext cx="5486400" cy="411480"/>
          </a:xfrm>
          <a:prstGeom prst="rect">
            <a:avLst/>
          </a:prstGeom>
          <a:noFill/>
          <a:ln/>
        </p:spPr>
        <p:txBody>
          <a:bodyPr wrap="square" lIns="0" tIns="0" rIns="0" bIns="0" rtlCol="0" anchor="t"/>
          <a:lstStyle/>
          <a:p>
            <a:pPr indent="0" marL="0">
              <a:buNone/>
            </a:pPr>
            <a:r>
              <a:rPr lang="en-US" sz="2000" b="1" dirty="0">
                <a:solidFill>
                  <a:srgbClr val="FFFFFF"/>
                </a:solidFill>
                <a:latin typeface="Meiryo" pitchFamily="34" charset="0"/>
                <a:ea typeface="Meiryo" pitchFamily="34" charset="-122"/>
                <a:cs typeface="Meiryo" pitchFamily="34" charset="-120"/>
              </a:rPr>
              <a:t>アンケート</a:t>
            </a:r>
            <a:endParaRPr lang="en-US" sz="2000" dirty="0"/>
          </a:p>
        </p:txBody>
      </p:sp>
      <p:sp>
        <p:nvSpPr>
          <p:cNvPr id="14" name="Text 12"/>
          <p:cNvSpPr txBox="1"/>
          <p:nvPr/>
        </p:nvSpPr>
        <p:spPr>
          <a:xfrm>
            <a:off x="3840480" y="1783080"/>
            <a:ext cx="7772400"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最初に聞いた「営業への興味」を、もう一度聞きます</a:t>
            </a:r>
            <a:endParaRPr lang="en-US" sz="1400" dirty="0"/>
          </a:p>
        </p:txBody>
      </p:sp>
      <p:sp>
        <p:nvSpPr>
          <p:cNvPr id="15" name="Text 13"/>
          <p:cNvSpPr txBox="1"/>
          <p:nvPr/>
        </p:nvSpPr>
        <p:spPr>
          <a:xfrm>
            <a:off x="3840480" y="2514600"/>
            <a:ext cx="7772400" cy="365760"/>
          </a:xfrm>
          <a:prstGeom prst="rect">
            <a:avLst/>
          </a:prstGeom>
          <a:noFill/>
          <a:ln/>
        </p:spPr>
        <p:txBody>
          <a:bodyPr wrap="square" lIns="0" tIns="0" rIns="0" bIns="0" rtlCol="0" anchor="t"/>
          <a:lstStyle/>
          <a:p>
            <a:pPr indent="0" marL="0">
              <a:buNone/>
            </a:pPr>
            <a:r>
              <a:rPr lang="en-US" sz="1500" b="1" dirty="0">
                <a:solidFill>
                  <a:srgbClr val="E60012"/>
                </a:solidFill>
                <a:latin typeface="Meiryo" pitchFamily="34" charset="0"/>
                <a:ea typeface="Meiryo" pitchFamily="34" charset="-122"/>
                <a:cs typeface="Meiryo" pitchFamily="34" charset="-120"/>
              </a:rPr>
              <a:t>OPTEX-FAの営業を、もっと知りたい人へ</a:t>
            </a:r>
            <a:endParaRPr lang="en-US" sz="1500" dirty="0"/>
          </a:p>
        </p:txBody>
      </p:sp>
      <p:sp>
        <p:nvSpPr>
          <p:cNvPr id="16" name="Shape 14"/>
          <p:cNvSpPr/>
          <p:nvPr/>
        </p:nvSpPr>
        <p:spPr>
          <a:xfrm>
            <a:off x="3840480" y="2971800"/>
            <a:ext cx="2423160" cy="1280160"/>
          </a:xfrm>
          <a:prstGeom prst="rect">
            <a:avLst/>
          </a:prstGeom>
          <a:solidFill>
            <a:srgbClr val="2A2D33"/>
          </a:solidFill>
          <a:ln/>
        </p:spPr>
      </p:sp>
      <p:sp>
        <p:nvSpPr>
          <p:cNvPr id="17" name="Text 15"/>
          <p:cNvSpPr txBox="1"/>
          <p:nvPr/>
        </p:nvSpPr>
        <p:spPr>
          <a:xfrm>
            <a:off x="4023360" y="3063240"/>
            <a:ext cx="2103120" cy="45720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会社説明会</a:t>
            </a:r>
            <a:endParaRPr lang="en-US" sz="1600" dirty="0"/>
          </a:p>
        </p:txBody>
      </p:sp>
      <p:sp>
        <p:nvSpPr>
          <p:cNvPr id="18" name="Text 16"/>
          <p:cNvSpPr txBox="1"/>
          <p:nvPr/>
        </p:nvSpPr>
        <p:spPr>
          <a:xfrm>
            <a:off x="4023360" y="3611880"/>
            <a:ext cx="2103120" cy="457200"/>
          </a:xfrm>
          <a:prstGeom prst="rect">
            <a:avLst/>
          </a:prstGeom>
          <a:noFill/>
          <a:ln/>
        </p:spPr>
        <p:txBody>
          <a:bodyPr wrap="square" lIns="0" tIns="0" rIns="0" bIns="0" rtlCol="0" anchor="t"/>
          <a:lstStyle/>
          <a:p>
            <a:pPr indent="0" marL="0">
              <a:buNone/>
            </a:pPr>
            <a:r>
              <a:rPr lang="en-US" sz="1000" dirty="0">
                <a:solidFill>
                  <a:srgbClr val="8A939D"/>
                </a:solidFill>
                <a:latin typeface="Meiryo" pitchFamily="34" charset="0"/>
                <a:ea typeface="Meiryo" pitchFamily="34" charset="-122"/>
                <a:cs typeface="Meiryo" pitchFamily="34" charset="-120"/>
              </a:rPr>
              <a:t>日程・申込方法：差し替え</a:t>
            </a:r>
            <a:endParaRPr lang="en-US" sz="1000" dirty="0"/>
          </a:p>
        </p:txBody>
      </p:sp>
      <p:sp>
        <p:nvSpPr>
          <p:cNvPr id="19" name="Shape 17"/>
          <p:cNvSpPr/>
          <p:nvPr/>
        </p:nvSpPr>
        <p:spPr>
          <a:xfrm>
            <a:off x="6446520" y="2971800"/>
            <a:ext cx="2423160" cy="1280160"/>
          </a:xfrm>
          <a:prstGeom prst="rect">
            <a:avLst/>
          </a:prstGeom>
          <a:solidFill>
            <a:srgbClr val="2A2D33"/>
          </a:solidFill>
          <a:ln/>
        </p:spPr>
      </p:sp>
      <p:sp>
        <p:nvSpPr>
          <p:cNvPr id="20" name="Text 18"/>
          <p:cNvSpPr txBox="1"/>
          <p:nvPr/>
        </p:nvSpPr>
        <p:spPr>
          <a:xfrm>
            <a:off x="6629400" y="3063240"/>
            <a:ext cx="2103120" cy="45720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若手社員との交流会</a:t>
            </a:r>
            <a:endParaRPr lang="en-US" sz="1600" dirty="0"/>
          </a:p>
        </p:txBody>
      </p:sp>
      <p:sp>
        <p:nvSpPr>
          <p:cNvPr id="21" name="Text 19"/>
          <p:cNvSpPr txBox="1"/>
          <p:nvPr/>
        </p:nvSpPr>
        <p:spPr>
          <a:xfrm>
            <a:off x="6629400" y="3611880"/>
            <a:ext cx="2103120" cy="457200"/>
          </a:xfrm>
          <a:prstGeom prst="rect">
            <a:avLst/>
          </a:prstGeom>
          <a:noFill/>
          <a:ln/>
        </p:spPr>
        <p:txBody>
          <a:bodyPr wrap="square" lIns="0" tIns="0" rIns="0" bIns="0" rtlCol="0" anchor="t"/>
          <a:lstStyle/>
          <a:p>
            <a:pPr indent="0" marL="0">
              <a:buNone/>
            </a:pPr>
            <a:r>
              <a:rPr lang="en-US" sz="1000" dirty="0">
                <a:solidFill>
                  <a:srgbClr val="8A939D"/>
                </a:solidFill>
                <a:latin typeface="Meiryo" pitchFamily="34" charset="0"/>
                <a:ea typeface="Meiryo" pitchFamily="34" charset="-122"/>
                <a:cs typeface="Meiryo" pitchFamily="34" charset="-120"/>
              </a:rPr>
              <a:t>日程・申込方法：差し替え</a:t>
            </a:r>
            <a:endParaRPr lang="en-US" sz="1000" dirty="0"/>
          </a:p>
        </p:txBody>
      </p:sp>
      <p:sp>
        <p:nvSpPr>
          <p:cNvPr id="22" name="Shape 20"/>
          <p:cNvSpPr/>
          <p:nvPr/>
        </p:nvSpPr>
        <p:spPr>
          <a:xfrm>
            <a:off x="9052560" y="2971800"/>
            <a:ext cx="2423160" cy="1280160"/>
          </a:xfrm>
          <a:prstGeom prst="rect">
            <a:avLst/>
          </a:prstGeom>
          <a:solidFill>
            <a:srgbClr val="2A2D33"/>
          </a:solidFill>
          <a:ln/>
        </p:spPr>
      </p:sp>
      <p:sp>
        <p:nvSpPr>
          <p:cNvPr id="23" name="Text 21"/>
          <p:cNvSpPr txBox="1"/>
          <p:nvPr/>
        </p:nvSpPr>
        <p:spPr>
          <a:xfrm>
            <a:off x="9235440" y="3063240"/>
            <a:ext cx="2103120" cy="45720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選考</a:t>
            </a:r>
            <a:endParaRPr lang="en-US" sz="1600" dirty="0"/>
          </a:p>
        </p:txBody>
      </p:sp>
      <p:sp>
        <p:nvSpPr>
          <p:cNvPr id="24" name="Text 22"/>
          <p:cNvSpPr txBox="1"/>
          <p:nvPr/>
        </p:nvSpPr>
        <p:spPr>
          <a:xfrm>
            <a:off x="9235440" y="3611880"/>
            <a:ext cx="2103120" cy="457200"/>
          </a:xfrm>
          <a:prstGeom prst="rect">
            <a:avLst/>
          </a:prstGeom>
          <a:noFill/>
          <a:ln/>
        </p:spPr>
        <p:txBody>
          <a:bodyPr wrap="square" lIns="0" tIns="0" rIns="0" bIns="0" rtlCol="0" anchor="t"/>
          <a:lstStyle/>
          <a:p>
            <a:pPr indent="0" marL="0">
              <a:buNone/>
            </a:pPr>
            <a:r>
              <a:rPr lang="en-US" sz="1000" dirty="0">
                <a:solidFill>
                  <a:srgbClr val="8A939D"/>
                </a:solidFill>
                <a:latin typeface="Meiryo" pitchFamily="34" charset="0"/>
                <a:ea typeface="Meiryo" pitchFamily="34" charset="-122"/>
                <a:cs typeface="Meiryo" pitchFamily="34" charset="-120"/>
              </a:rPr>
              <a:t>日程・申込方法：差し替え</a:t>
            </a:r>
            <a:endParaRPr lang="en-US" sz="1000" dirty="0"/>
          </a:p>
        </p:txBody>
      </p:sp>
      <p:sp>
        <p:nvSpPr>
          <p:cNvPr id="25" name="Text 23"/>
          <p:cNvSpPr txBox="1"/>
          <p:nvPr/>
        </p:nvSpPr>
        <p:spPr>
          <a:xfrm>
            <a:off x="548640" y="4846320"/>
            <a:ext cx="5486400" cy="640080"/>
          </a:xfrm>
          <a:prstGeom prst="rect">
            <a:avLst/>
          </a:prstGeom>
          <a:noFill/>
          <a:ln/>
        </p:spPr>
        <p:txBody>
          <a:bodyPr wrap="square" lIns="0" tIns="0" rIns="0" bIns="0" rtlCol="0" anchor="t"/>
          <a:lstStyle/>
          <a:p>
            <a:pPr indent="0" marL="0">
              <a:buNone/>
            </a:pPr>
            <a:r>
              <a:rPr lang="en-US" sz="3000" b="1" dirty="0">
                <a:solidFill>
                  <a:srgbClr val="E60012"/>
                </a:solidFill>
                <a:latin typeface="Arial" pitchFamily="34" charset="0"/>
                <a:ea typeface="Arial" pitchFamily="34" charset="-122"/>
                <a:cs typeface="Arial" pitchFamily="34" charset="-120"/>
              </a:rPr>
              <a:t>/ </a:t>
            </a:r>
            <a:pPr indent="0" marL="0">
              <a:buNone/>
            </a:pPr>
            <a:r>
              <a:rPr lang="en-US" sz="3000" b="1" dirty="0">
                <a:solidFill>
                  <a:srgbClr val="FFFFFF"/>
                </a:solidFill>
                <a:latin typeface="Arial" pitchFamily="34" charset="0"/>
                <a:ea typeface="Arial" pitchFamily="34" charset="-122"/>
                <a:cs typeface="Arial" pitchFamily="34" charset="-120"/>
              </a:rPr>
              <a:t>OPTEX FA</a:t>
            </a:r>
            <a:endParaRPr lang="en-US" sz="3000" dirty="0"/>
          </a:p>
        </p:txBody>
      </p:sp>
      <p:sp>
        <p:nvSpPr>
          <p:cNvPr id="26" name="Text 24"/>
          <p:cNvSpPr txBox="1"/>
          <p:nvPr/>
        </p:nvSpPr>
        <p:spPr>
          <a:xfrm>
            <a:off x="548640" y="5486400"/>
            <a:ext cx="5486400" cy="365760"/>
          </a:xfrm>
          <a:prstGeom prst="rect">
            <a:avLst/>
          </a:prstGeom>
          <a:noFill/>
          <a:ln/>
        </p:spPr>
        <p:txBody>
          <a:bodyPr wrap="square" lIns="0" tIns="0" rIns="0" bIns="0" rtlCol="0" anchor="t"/>
          <a:lstStyle/>
          <a:p>
            <a:pPr indent="0" marL="0">
              <a:buNone/>
            </a:pPr>
            <a:r>
              <a:rPr lang="en-US" sz="1400" dirty="0">
                <a:solidFill>
                  <a:srgbClr val="8A939D"/>
                </a:solidFill>
                <a:latin typeface="Meiryo" pitchFamily="34" charset="0"/>
                <a:ea typeface="Meiryo" pitchFamily="34" charset="-122"/>
                <a:cs typeface="Meiryo" pitchFamily="34" charset="-120"/>
              </a:rPr>
              <a:t>ありがとうございました</a:t>
            </a:r>
            <a:endParaRPr lang="en-US" sz="14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flipH="1">
            <a:off x="9052560" y="0"/>
            <a:ext cx="1463040" cy="6858000"/>
          </a:xfrm>
          <a:prstGeom prst="rtTriangle">
            <a:avLst/>
          </a:prstGeom>
          <a:solidFill>
            <a:srgbClr val="E60012"/>
          </a:solidFill>
          <a:ln/>
        </p:spPr>
      </p:sp>
      <p:sp>
        <p:nvSpPr>
          <p:cNvPr id="3" name="Shape 1"/>
          <p:cNvSpPr/>
          <p:nvPr/>
        </p:nvSpPr>
        <p:spPr>
          <a:xfrm>
            <a:off x="10515600" y="0"/>
            <a:ext cx="1676095" cy="6858000"/>
          </a:xfrm>
          <a:prstGeom prst="rect">
            <a:avLst/>
          </a:prstGeom>
          <a:solidFill>
            <a:srgbClr val="E60012"/>
          </a:solidFill>
          <a:ln/>
        </p:spPr>
      </p:sp>
      <p:sp>
        <p:nvSpPr>
          <p:cNvPr id="4" name="Text 2"/>
          <p:cNvSpPr txBox="1"/>
          <p:nvPr/>
        </p:nvSpPr>
        <p:spPr>
          <a:xfrm>
            <a:off x="548640" y="2560320"/>
            <a:ext cx="8229600" cy="822960"/>
          </a:xfrm>
          <a:prstGeom prst="rect">
            <a:avLst/>
          </a:prstGeom>
          <a:noFill/>
          <a:ln/>
        </p:spPr>
        <p:txBody>
          <a:bodyPr wrap="square" lIns="0" tIns="0" rIns="0" bIns="0" rtlCol="0" anchor="t"/>
          <a:lstStyle/>
          <a:p>
            <a:pPr indent="0" marL="0">
              <a:buNone/>
            </a:pPr>
            <a:r>
              <a:rPr lang="en-US" sz="4000" b="1" dirty="0">
                <a:solidFill>
                  <a:srgbClr val="FFFFFF"/>
                </a:solidFill>
                <a:latin typeface="Meiryo" pitchFamily="34" charset="0"/>
                <a:ea typeface="Meiryo" pitchFamily="34" charset="-122"/>
                <a:cs typeface="Meiryo" pitchFamily="34" charset="-120"/>
              </a:rPr>
              <a:t>補足資料</a:t>
            </a:r>
            <a:endParaRPr lang="en-US" sz="4000" dirty="0"/>
          </a:p>
        </p:txBody>
      </p:sp>
      <p:sp>
        <p:nvSpPr>
          <p:cNvPr id="5" name="Text 3"/>
          <p:cNvSpPr txBox="1"/>
          <p:nvPr/>
        </p:nvSpPr>
        <p:spPr>
          <a:xfrm>
            <a:off x="548640" y="3474720"/>
            <a:ext cx="8229600" cy="457200"/>
          </a:xfrm>
          <a:prstGeom prst="rect">
            <a:avLst/>
          </a:prstGeom>
          <a:noFill/>
          <a:ln/>
        </p:spPr>
        <p:txBody>
          <a:bodyPr wrap="square" lIns="0" tIns="0" rIns="0" bIns="0" rtlCol="0" anchor="t"/>
          <a:lstStyle/>
          <a:p>
            <a:pPr indent="0" marL="0">
              <a:buNone/>
            </a:pPr>
            <a:r>
              <a:rPr lang="en-US" sz="1600" dirty="0">
                <a:solidFill>
                  <a:srgbClr val="8A939D"/>
                </a:solidFill>
                <a:latin typeface="Meiryo" pitchFamily="34" charset="0"/>
                <a:ea typeface="Meiryo" pitchFamily="34" charset="-122"/>
                <a:cs typeface="Meiryo" pitchFamily="34" charset="-120"/>
              </a:rPr>
              <a:t>時間に余裕があるとき・質問が出たときに使う</a:t>
            </a:r>
            <a:endParaRPr lang="en-US" sz="16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A939D"/>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補足</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用語集</a:t>
            </a:r>
            <a:endParaRPr lang="en-US" sz="2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011680"/>
                <a:gridCol w="9082735"/>
              </a:tblGrid>
              <a:tr h="548640">
                <a:tc>
                  <a:txBody>
                    <a:bodyPr/>
                    <a:lstStyle/>
                    <a:p>
                      <a:pPr indent="0" marL="0">
                        <a:buNone/>
                      </a:pPr>
                      <a:r>
                        <a:rPr lang="en-US" sz="1250" b="1" dirty="0">
                          <a:solidFill>
                            <a:srgbClr val="E60012"/>
                          </a:solidFill>
                          <a:latin typeface="Meiryo" pitchFamily="34" charset="0"/>
                          <a:ea typeface="Meiryo" pitchFamily="34" charset="-122"/>
                          <a:cs typeface="Meiryo" pitchFamily="34" charset="-120"/>
                        </a:rPr>
                        <a:t>光電センサ</a:t>
                      </a:r>
                      <a:endParaRPr lang="en-US" sz="12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50" dirty="0">
                          <a:solidFill>
                            <a:srgbClr val="1E2126"/>
                          </a:solidFill>
                          <a:latin typeface="Meiryo" pitchFamily="34" charset="0"/>
                          <a:ea typeface="Meiryo" pitchFamily="34" charset="-122"/>
                          <a:cs typeface="Meiryo" pitchFamily="34" charset="-120"/>
                        </a:rPr>
                        <a:t>光で「物が来た」を知らせるセンサ。物が光をさえぎったり、光の量が変わったりすると反応する</a:t>
                      </a:r>
                      <a:endParaRPr lang="en-US" sz="11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E60012"/>
                          </a:solidFill>
                          <a:latin typeface="Meiryo" pitchFamily="34" charset="0"/>
                          <a:ea typeface="Meiryo" pitchFamily="34" charset="-122"/>
                          <a:cs typeface="Meiryo" pitchFamily="34" charset="-120"/>
                        </a:rPr>
                        <a:t>回帰反射型</a:t>
                      </a:r>
                      <a:endParaRPr lang="en-US" sz="12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50" dirty="0">
                          <a:solidFill>
                            <a:srgbClr val="1E2126"/>
                          </a:solidFill>
                          <a:latin typeface="Meiryo" pitchFamily="34" charset="0"/>
                          <a:ea typeface="Meiryo" pitchFamily="34" charset="-122"/>
                          <a:cs typeface="Meiryo" pitchFamily="34" charset="-120"/>
                        </a:rPr>
                        <a:t>センサが出した光を反射板が送り返し、同じセンサが受け取る方式。自転車の反射板と同じしくみ</a:t>
                      </a:r>
                      <a:endParaRPr lang="en-US" sz="11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AFAFB"/>
                    </a:solidFill>
                  </a:tcPr>
                </a:tc>
              </a:tr>
              <a:tr h="548640">
                <a:tc>
                  <a:txBody>
                    <a:bodyPr/>
                    <a:lstStyle/>
                    <a:p>
                      <a:pPr indent="0" marL="0">
                        <a:buNone/>
                      </a:pPr>
                      <a:r>
                        <a:rPr lang="en-US" sz="1250" b="1" dirty="0">
                          <a:solidFill>
                            <a:srgbClr val="E60012"/>
                          </a:solidFill>
                          <a:latin typeface="Meiryo" pitchFamily="34" charset="0"/>
                          <a:ea typeface="Meiryo" pitchFamily="34" charset="-122"/>
                          <a:cs typeface="Meiryo" pitchFamily="34" charset="-120"/>
                        </a:rPr>
                        <a:t>反射板</a:t>
                      </a:r>
                      <a:endParaRPr lang="en-US" sz="12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50" dirty="0">
                          <a:solidFill>
                            <a:srgbClr val="1E2126"/>
                          </a:solidFill>
                          <a:latin typeface="Meiryo" pitchFamily="34" charset="0"/>
                          <a:ea typeface="Meiryo" pitchFamily="34" charset="-122"/>
                          <a:cs typeface="Meiryo" pitchFamily="34" charset="-120"/>
                        </a:rPr>
                        <a:t>光を来た方向へ送り返す板。センサの反対側に取り付ける</a:t>
                      </a:r>
                      <a:endParaRPr lang="en-US" sz="11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E60012"/>
                          </a:solidFill>
                          <a:latin typeface="Meiryo" pitchFamily="34" charset="0"/>
                          <a:ea typeface="Meiryo" pitchFamily="34" charset="-122"/>
                          <a:cs typeface="Meiryo" pitchFamily="34" charset="-120"/>
                        </a:rPr>
                        <a:t>透明体検出</a:t>
                      </a:r>
                      <a:endParaRPr lang="en-US" sz="12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50" dirty="0">
                          <a:solidFill>
                            <a:srgbClr val="1E2126"/>
                          </a:solidFill>
                          <a:latin typeface="Meiryo" pitchFamily="34" charset="0"/>
                          <a:ea typeface="Meiryo" pitchFamily="34" charset="-122"/>
                          <a:cs typeface="Meiryo" pitchFamily="34" charset="-120"/>
                        </a:rPr>
                        <a:t>透明なボトルやフィルムのように、光を通しやすい物を検出すること。光の変化が小さいため、専用の設計が使われる</a:t>
                      </a:r>
                      <a:endParaRPr lang="en-US" sz="11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AFAFB"/>
                    </a:solidFill>
                  </a:tcPr>
                </a:tc>
              </a:tr>
              <a:tr h="548640">
                <a:tc>
                  <a:txBody>
                    <a:bodyPr/>
                    <a:lstStyle/>
                    <a:p>
                      <a:pPr indent="0" marL="0">
                        <a:buNone/>
                      </a:pPr>
                      <a:r>
                        <a:rPr lang="en-US" sz="1250" b="1" dirty="0">
                          <a:solidFill>
                            <a:srgbClr val="E60012"/>
                          </a:solidFill>
                          <a:latin typeface="Meiryo" pitchFamily="34" charset="0"/>
                          <a:ea typeface="Meiryo" pitchFamily="34" charset="-122"/>
                          <a:cs typeface="Meiryo" pitchFamily="34" charset="-120"/>
                        </a:rPr>
                        <a:t>PLC</a:t>
                      </a:r>
                      <a:endParaRPr lang="en-US" sz="12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50" dirty="0">
                          <a:solidFill>
                            <a:srgbClr val="1E2126"/>
                          </a:solidFill>
                          <a:latin typeface="Meiryo" pitchFamily="34" charset="0"/>
                          <a:ea typeface="Meiryo" pitchFamily="34" charset="-122"/>
                          <a:cs typeface="Meiryo" pitchFamily="34" charset="-120"/>
                        </a:rPr>
                        <a:t>センサから送られてきた信号を受け取り、本数を数える装置。工場の機械を動かす頭脳の役割もする</a:t>
                      </a:r>
                      <a:endParaRPr lang="en-US" sz="11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E60012"/>
                          </a:solidFill>
                          <a:latin typeface="Meiryo" pitchFamily="34" charset="0"/>
                          <a:ea typeface="Meiryo" pitchFamily="34" charset="-122"/>
                          <a:cs typeface="Meiryo" pitchFamily="34" charset="-120"/>
                        </a:rPr>
                        <a:t>センサ出力</a:t>
                      </a:r>
                      <a:endParaRPr lang="en-US" sz="12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50" dirty="0">
                          <a:solidFill>
                            <a:srgbClr val="1E2126"/>
                          </a:solidFill>
                          <a:latin typeface="Meiryo" pitchFamily="34" charset="0"/>
                          <a:ea typeface="Meiryo" pitchFamily="34" charset="-122"/>
                          <a:cs typeface="Meiryo" pitchFamily="34" charset="-120"/>
                        </a:rPr>
                        <a:t>センサが出す「来た！」の合図。ON（来た）とOFF（いない）の2つの状態で表す</a:t>
                      </a:r>
                      <a:endParaRPr lang="en-US" sz="11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AFAFB"/>
                    </a:solidFill>
                  </a:tcPr>
                </a:tc>
              </a:tr>
              <a:tr h="548640">
                <a:tc>
                  <a:txBody>
                    <a:bodyPr/>
                    <a:lstStyle/>
                    <a:p>
                      <a:pPr indent="0" marL="0">
                        <a:buNone/>
                      </a:pPr>
                      <a:r>
                        <a:rPr lang="en-US" sz="1250" b="1" dirty="0">
                          <a:solidFill>
                            <a:srgbClr val="E60012"/>
                          </a:solidFill>
                          <a:latin typeface="Meiryo" pitchFamily="34" charset="0"/>
                          <a:ea typeface="Meiryo" pitchFamily="34" charset="-122"/>
                          <a:cs typeface="Meiryo" pitchFamily="34" charset="-120"/>
                        </a:rPr>
                        <a:t>誤カウント</a:t>
                      </a:r>
                      <a:endParaRPr lang="en-US" sz="12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50" dirty="0">
                          <a:solidFill>
                            <a:srgbClr val="1E2126"/>
                          </a:solidFill>
                          <a:latin typeface="Meiryo" pitchFamily="34" charset="0"/>
                          <a:ea typeface="Meiryo" pitchFamily="34" charset="-122"/>
                          <a:cs typeface="Meiryo" pitchFamily="34" charset="-120"/>
                        </a:rPr>
                        <a:t>実際の本数と、数えた本数がずれること。今回は実際より多く数えている</a:t>
                      </a:r>
                      <a:endParaRPr lang="en-US" sz="11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E60012"/>
                          </a:solidFill>
                          <a:latin typeface="Meiryo" pitchFamily="34" charset="0"/>
                          <a:ea typeface="Meiryo" pitchFamily="34" charset="-122"/>
                          <a:cs typeface="Meiryo" pitchFamily="34" charset="-120"/>
                        </a:rPr>
                        <a:t>実機検証</a:t>
                      </a:r>
                      <a:endParaRPr lang="en-US" sz="12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150" dirty="0">
                          <a:solidFill>
                            <a:srgbClr val="1E2126"/>
                          </a:solidFill>
                          <a:latin typeface="Meiryo" pitchFamily="34" charset="0"/>
                          <a:ea typeface="Meiryo" pitchFamily="34" charset="-122"/>
                          <a:cs typeface="Meiryo" pitchFamily="34" charset="-120"/>
                        </a:rPr>
                        <a:t>実際の製品・ボトル・ラインの条件で、本当に使えるかを確かめること</a:t>
                      </a:r>
                      <a:endParaRPr lang="en-US" sz="115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AFAFB"/>
                    </a:solidFill>
                  </a:tcPr>
                </a:tc>
              </a:tr>
            </a:tbl>
          </a:graphicData>
        </a:graphic>
      </p:graphicFrame>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補足</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なぜ透明なボトルの検出は難しいのか（一般論）</a:t>
            </a:r>
            <a:endParaRPr lang="en-US" sz="2200" dirty="0"/>
          </a:p>
        </p:txBody>
      </p:sp>
      <p:sp>
        <p:nvSpPr>
          <p:cNvPr id="5" name="Shape 3"/>
          <p:cNvSpPr/>
          <p:nvPr/>
        </p:nvSpPr>
        <p:spPr>
          <a:xfrm>
            <a:off x="548640" y="1325880"/>
            <a:ext cx="3566160" cy="329184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6" name="Text 4"/>
          <p:cNvSpPr txBox="1"/>
          <p:nvPr/>
        </p:nvSpPr>
        <p:spPr>
          <a:xfrm>
            <a:off x="777240" y="1463040"/>
            <a:ext cx="548640" cy="548640"/>
          </a:xfrm>
          <a:prstGeom prst="rect">
            <a:avLst/>
          </a:prstGeom>
          <a:noFill/>
          <a:ln/>
        </p:spPr>
        <p:txBody>
          <a:bodyPr wrap="square" lIns="0" tIns="0" rIns="0" bIns="0" rtlCol="0" anchor="t"/>
          <a:lstStyle/>
          <a:p>
            <a:pPr indent="0" marL="0">
              <a:buNone/>
            </a:pPr>
            <a:r>
              <a:rPr lang="en-US" sz="2600" b="1" dirty="0">
                <a:solidFill>
                  <a:srgbClr val="E60012"/>
                </a:solidFill>
                <a:latin typeface="Meiryo" pitchFamily="34" charset="0"/>
                <a:ea typeface="Meiryo" pitchFamily="34" charset="-122"/>
                <a:cs typeface="Meiryo" pitchFamily="34" charset="-120"/>
              </a:rPr>
              <a:t>1</a:t>
            </a:r>
            <a:endParaRPr lang="en-US" sz="2600" dirty="0"/>
          </a:p>
        </p:txBody>
      </p:sp>
      <p:sp>
        <p:nvSpPr>
          <p:cNvPr id="7" name="Text 5"/>
          <p:cNvSpPr txBox="1"/>
          <p:nvPr/>
        </p:nvSpPr>
        <p:spPr>
          <a:xfrm>
            <a:off x="777240" y="2103120"/>
            <a:ext cx="3108960" cy="731520"/>
          </a:xfrm>
          <a:prstGeom prst="rect">
            <a:avLst/>
          </a:prstGeom>
          <a:noFill/>
          <a:ln/>
        </p:spPr>
        <p:txBody>
          <a:bodyPr wrap="square" lIns="0" tIns="0" rIns="0" bIns="0" rtlCol="0" anchor="t"/>
          <a:lstStyle/>
          <a:p>
            <a:pPr indent="0" marL="0">
              <a:buNone/>
            </a:pPr>
            <a:r>
              <a:rPr lang="en-US" sz="1800" b="1" dirty="0">
                <a:solidFill>
                  <a:srgbClr val="1E2126"/>
                </a:solidFill>
                <a:latin typeface="Meiryo" pitchFamily="34" charset="0"/>
                <a:ea typeface="Meiryo" pitchFamily="34" charset="-122"/>
                <a:cs typeface="Meiryo" pitchFamily="34" charset="-120"/>
              </a:rPr>
              <a:t>光の減り方が小さい</a:t>
            </a:r>
            <a:endParaRPr lang="en-US" sz="1800" dirty="0"/>
          </a:p>
        </p:txBody>
      </p:sp>
      <p:sp>
        <p:nvSpPr>
          <p:cNvPr id="8" name="Text 6"/>
          <p:cNvSpPr txBox="1"/>
          <p:nvPr/>
        </p:nvSpPr>
        <p:spPr>
          <a:xfrm>
            <a:off x="777240" y="2880360"/>
            <a:ext cx="3108960" cy="1554480"/>
          </a:xfrm>
          <a:prstGeom prst="rect">
            <a:avLst/>
          </a:prstGeom>
          <a:noFill/>
          <a:ln/>
        </p:spPr>
        <p:txBody>
          <a:bodyPr wrap="square" lIns="0" tIns="0" rIns="0" bIns="0" rtlCol="0" anchor="t"/>
          <a:lstStyle/>
          <a:p>
            <a:pPr indent="0" marL="0">
              <a:buNone/>
            </a:pPr>
            <a:r>
              <a:rPr lang="en-US" sz="1300" dirty="0">
                <a:solidFill>
                  <a:srgbClr val="5A6470"/>
                </a:solidFill>
                <a:latin typeface="Meiryo" pitchFamily="34" charset="0"/>
                <a:ea typeface="Meiryo" pitchFamily="34" charset="-122"/>
                <a:cs typeface="Meiryo" pitchFamily="34" charset="-120"/>
              </a:rPr>
              <a:t>透明な物は光を通しやすく、ボトルがあるときと、ないときの光の差が小さい</a:t>
            </a:r>
            <a:endParaRPr lang="en-US" sz="1300" dirty="0"/>
          </a:p>
        </p:txBody>
      </p:sp>
      <p:sp>
        <p:nvSpPr>
          <p:cNvPr id="9" name="Shape 7"/>
          <p:cNvSpPr/>
          <p:nvPr/>
        </p:nvSpPr>
        <p:spPr>
          <a:xfrm>
            <a:off x="4315968" y="1325880"/>
            <a:ext cx="3566160" cy="329184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0" name="Text 8"/>
          <p:cNvSpPr txBox="1"/>
          <p:nvPr/>
        </p:nvSpPr>
        <p:spPr>
          <a:xfrm>
            <a:off x="4544568" y="1463040"/>
            <a:ext cx="548640" cy="548640"/>
          </a:xfrm>
          <a:prstGeom prst="rect">
            <a:avLst/>
          </a:prstGeom>
          <a:noFill/>
          <a:ln/>
        </p:spPr>
        <p:txBody>
          <a:bodyPr wrap="square" lIns="0" tIns="0" rIns="0" bIns="0" rtlCol="0" anchor="t"/>
          <a:lstStyle/>
          <a:p>
            <a:pPr indent="0" marL="0">
              <a:buNone/>
            </a:pPr>
            <a:r>
              <a:rPr lang="en-US" sz="2600" b="1" dirty="0">
                <a:solidFill>
                  <a:srgbClr val="E60012"/>
                </a:solidFill>
                <a:latin typeface="Meiryo" pitchFamily="34" charset="0"/>
                <a:ea typeface="Meiryo" pitchFamily="34" charset="-122"/>
                <a:cs typeface="Meiryo" pitchFamily="34" charset="-120"/>
              </a:rPr>
              <a:t>2</a:t>
            </a:r>
            <a:endParaRPr lang="en-US" sz="2600" dirty="0"/>
          </a:p>
        </p:txBody>
      </p:sp>
      <p:sp>
        <p:nvSpPr>
          <p:cNvPr id="11" name="Text 9"/>
          <p:cNvSpPr txBox="1"/>
          <p:nvPr/>
        </p:nvSpPr>
        <p:spPr>
          <a:xfrm>
            <a:off x="4544568" y="2103120"/>
            <a:ext cx="3108960" cy="731520"/>
          </a:xfrm>
          <a:prstGeom prst="rect">
            <a:avLst/>
          </a:prstGeom>
          <a:noFill/>
          <a:ln/>
        </p:spPr>
        <p:txBody>
          <a:bodyPr wrap="square" lIns="0" tIns="0" rIns="0" bIns="0" rtlCol="0" anchor="t"/>
          <a:lstStyle/>
          <a:p>
            <a:pPr indent="0" marL="0">
              <a:buNone/>
            </a:pPr>
            <a:r>
              <a:rPr lang="en-US" sz="1800" b="1" dirty="0">
                <a:solidFill>
                  <a:srgbClr val="1E2126"/>
                </a:solidFill>
                <a:latin typeface="Meiryo" pitchFamily="34" charset="0"/>
                <a:ea typeface="Meiryo" pitchFamily="34" charset="-122"/>
                <a:cs typeface="Meiryo" pitchFamily="34" charset="-120"/>
              </a:rPr>
              <a:t>合図が不安定になりやすい</a:t>
            </a:r>
            <a:endParaRPr lang="en-US" sz="1800" dirty="0"/>
          </a:p>
        </p:txBody>
      </p:sp>
      <p:sp>
        <p:nvSpPr>
          <p:cNvPr id="12" name="Text 10"/>
          <p:cNvSpPr txBox="1"/>
          <p:nvPr/>
        </p:nvSpPr>
        <p:spPr>
          <a:xfrm>
            <a:off x="4544568" y="2880360"/>
            <a:ext cx="3108960" cy="1554480"/>
          </a:xfrm>
          <a:prstGeom prst="rect">
            <a:avLst/>
          </a:prstGeom>
          <a:noFill/>
          <a:ln/>
        </p:spPr>
        <p:txBody>
          <a:bodyPr wrap="square" lIns="0" tIns="0" rIns="0" bIns="0" rtlCol="0" anchor="t"/>
          <a:lstStyle/>
          <a:p>
            <a:pPr indent="0" marL="0">
              <a:buNone/>
            </a:pPr>
            <a:r>
              <a:rPr lang="en-US" sz="1300" dirty="0">
                <a:solidFill>
                  <a:srgbClr val="5A6470"/>
                </a:solidFill>
                <a:latin typeface="Meiryo" pitchFamily="34" charset="0"/>
                <a:ea typeface="Meiryo" pitchFamily="34" charset="-122"/>
                <a:cs typeface="Meiryo" pitchFamily="34" charset="-120"/>
              </a:rPr>
              <a:t>差が小さいため、ONとOFFの境目付近で合図がちらつく（チャタリング）ことがある</a:t>
            </a:r>
            <a:endParaRPr lang="en-US" sz="1300" dirty="0"/>
          </a:p>
        </p:txBody>
      </p:sp>
      <p:sp>
        <p:nvSpPr>
          <p:cNvPr id="13" name="Shape 11"/>
          <p:cNvSpPr/>
          <p:nvPr/>
        </p:nvSpPr>
        <p:spPr>
          <a:xfrm>
            <a:off x="8083296" y="1325880"/>
            <a:ext cx="3566160" cy="329184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4" name="Text 12"/>
          <p:cNvSpPr txBox="1"/>
          <p:nvPr/>
        </p:nvSpPr>
        <p:spPr>
          <a:xfrm>
            <a:off x="8311896" y="1463040"/>
            <a:ext cx="548640" cy="548640"/>
          </a:xfrm>
          <a:prstGeom prst="rect">
            <a:avLst/>
          </a:prstGeom>
          <a:noFill/>
          <a:ln/>
        </p:spPr>
        <p:txBody>
          <a:bodyPr wrap="square" lIns="0" tIns="0" rIns="0" bIns="0" rtlCol="0" anchor="t"/>
          <a:lstStyle/>
          <a:p>
            <a:pPr indent="0" marL="0">
              <a:buNone/>
            </a:pPr>
            <a:r>
              <a:rPr lang="en-US" sz="2600" b="1" dirty="0">
                <a:solidFill>
                  <a:srgbClr val="E60012"/>
                </a:solidFill>
                <a:latin typeface="Meiryo" pitchFamily="34" charset="0"/>
                <a:ea typeface="Meiryo" pitchFamily="34" charset="-122"/>
                <a:cs typeface="Meiryo" pitchFamily="34" charset="-120"/>
              </a:rPr>
              <a:t>3</a:t>
            </a:r>
            <a:endParaRPr lang="en-US" sz="2600" dirty="0"/>
          </a:p>
        </p:txBody>
      </p:sp>
      <p:sp>
        <p:nvSpPr>
          <p:cNvPr id="15" name="Text 13"/>
          <p:cNvSpPr txBox="1"/>
          <p:nvPr/>
        </p:nvSpPr>
        <p:spPr>
          <a:xfrm>
            <a:off x="8311896" y="2103120"/>
            <a:ext cx="3108960" cy="731520"/>
          </a:xfrm>
          <a:prstGeom prst="rect">
            <a:avLst/>
          </a:prstGeom>
          <a:noFill/>
          <a:ln/>
        </p:spPr>
        <p:txBody>
          <a:bodyPr wrap="square" lIns="0" tIns="0" rIns="0" bIns="0" rtlCol="0" anchor="t"/>
          <a:lstStyle/>
          <a:p>
            <a:pPr indent="0" marL="0">
              <a:buNone/>
            </a:pPr>
            <a:r>
              <a:rPr lang="en-US" sz="1800" b="1" dirty="0">
                <a:solidFill>
                  <a:srgbClr val="1E2126"/>
                </a:solidFill>
                <a:latin typeface="Meiryo" pitchFamily="34" charset="0"/>
                <a:ea typeface="Meiryo" pitchFamily="34" charset="-122"/>
                <a:cs typeface="Meiryo" pitchFamily="34" charset="-120"/>
              </a:rPr>
              <a:t>汚れの影響を受けやすい</a:t>
            </a:r>
            <a:endParaRPr lang="en-US" sz="1800" dirty="0"/>
          </a:p>
        </p:txBody>
      </p:sp>
      <p:sp>
        <p:nvSpPr>
          <p:cNvPr id="16" name="Text 14"/>
          <p:cNvSpPr txBox="1"/>
          <p:nvPr/>
        </p:nvSpPr>
        <p:spPr>
          <a:xfrm>
            <a:off x="8311896" y="2880360"/>
            <a:ext cx="3108960" cy="1554480"/>
          </a:xfrm>
          <a:prstGeom prst="rect">
            <a:avLst/>
          </a:prstGeom>
          <a:noFill/>
          <a:ln/>
        </p:spPr>
        <p:txBody>
          <a:bodyPr wrap="square" lIns="0" tIns="0" rIns="0" bIns="0" rtlCol="0" anchor="t"/>
          <a:lstStyle/>
          <a:p>
            <a:pPr indent="0" marL="0">
              <a:buNone/>
            </a:pPr>
            <a:r>
              <a:rPr lang="en-US" sz="1300" dirty="0">
                <a:solidFill>
                  <a:srgbClr val="5A6470"/>
                </a:solidFill>
                <a:latin typeface="Meiryo" pitchFamily="34" charset="0"/>
                <a:ea typeface="Meiryo" pitchFamily="34" charset="-122"/>
                <a:cs typeface="Meiryo" pitchFamily="34" charset="-120"/>
              </a:rPr>
              <a:t>レンズや反射板が少し汚れるだけで、光の余裕が減ることがある</a:t>
            </a:r>
            <a:endParaRPr lang="en-US" sz="1300" dirty="0"/>
          </a:p>
        </p:txBody>
      </p:sp>
      <p:sp>
        <p:nvSpPr>
          <p:cNvPr id="17" name="Text 15"/>
          <p:cNvSpPr txBox="1"/>
          <p:nvPr/>
        </p:nvSpPr>
        <p:spPr>
          <a:xfrm>
            <a:off x="548640" y="4892040"/>
            <a:ext cx="11094415" cy="365760"/>
          </a:xfrm>
          <a:prstGeom prst="rect">
            <a:avLst/>
          </a:prstGeom>
          <a:noFill/>
          <a:ln/>
        </p:spPr>
        <p:txBody>
          <a:bodyPr wrap="square" lIns="0" tIns="0" rIns="0" bIns="0" rtlCol="0" anchor="t"/>
          <a:lstStyle/>
          <a:p>
            <a:pPr indent="0" marL="0">
              <a:buNone/>
            </a:pPr>
            <a:r>
              <a:rPr lang="en-US" sz="1400" b="1" dirty="0">
                <a:solidFill>
                  <a:srgbClr val="1E2126"/>
                </a:solidFill>
                <a:latin typeface="Meiryo" pitchFamily="34" charset="0"/>
                <a:ea typeface="Meiryo" pitchFamily="34" charset="-122"/>
                <a:cs typeface="Meiryo" pitchFamily="34" charset="-120"/>
              </a:rPr>
              <a:t>一般的な説明です。このお客様のラインで何が起きているかは、検証で確かめます。</a:t>
            </a:r>
            <a:endParaRPr lang="en-US" sz="1400" dirty="0"/>
          </a:p>
        </p:txBody>
      </p:sp>
      <p:sp>
        <p:nvSpPr>
          <p:cNvPr id="18" name="Text 16"/>
          <p:cNvSpPr txBox="1"/>
          <p:nvPr/>
        </p:nvSpPr>
        <p:spPr>
          <a:xfrm>
            <a:off x="548640" y="5394960"/>
            <a:ext cx="11094415" cy="457200"/>
          </a:xfrm>
          <a:prstGeom prst="rect">
            <a:avLst/>
          </a:prstGeom>
          <a:noFill/>
          <a:ln/>
        </p:spPr>
        <p:txBody>
          <a:bodyPr wrap="square" lIns="0" tIns="0" rIns="0" bIns="0" rtlCol="0" anchor="t"/>
          <a:lstStyle/>
          <a:p>
            <a:pPr indent="0" marL="0">
              <a:buNone/>
            </a:pPr>
            <a:r>
              <a:rPr lang="en-US" sz="950" dirty="0">
                <a:solidFill>
                  <a:srgbClr val="5A6470"/>
                </a:solidFill>
                <a:latin typeface="Meiryo" pitchFamily="34" charset="0"/>
                <a:ea typeface="Meiryo" pitchFamily="34" charset="-122"/>
                <a:cs typeface="Meiryo" pitchFamily="34" charset="-120"/>
              </a:rPr>
              <a:t>出典：OPTEX-FA「センサの基礎知識：透明体検出には？」ほか（検索抜粋による確認。教材に載せる前に公式ページを直接照合すること）</a:t>
            </a:r>
            <a:endParaRPr lang="en-US" sz="95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補足</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検証で変える4つの条件</a:t>
            </a:r>
            <a:endParaRPr lang="en-US" sz="2200" dirty="0"/>
          </a:p>
        </p:txBody>
      </p:sp>
      <p:sp>
        <p:nvSpPr>
          <p:cNvPr id="5" name="Shape 3"/>
          <p:cNvSpPr/>
          <p:nvPr/>
        </p:nvSpPr>
        <p:spPr>
          <a:xfrm>
            <a:off x="548640" y="1325880"/>
            <a:ext cx="2606040" cy="1997964"/>
          </a:xfrm>
          <a:prstGeom prst="rect">
            <a:avLst/>
          </a:prstGeom>
          <a:solidFill>
            <a:srgbClr val="FFFFFF"/>
          </a:solidFill>
          <a:ln/>
        </p:spPr>
      </p:sp>
      <p:pic>
        <p:nvPicPr>
          <p:cNvPr id="6" name="IMAGE_PLACEHOLDER_11_1" descr="IMAGE_PLACEHOLDER_11 通常の搬送（仮画像）">    </p:cNvPr>
          <p:cNvPicPr>
            <a:picLocks noChangeAspect="1"/>
          </p:cNvPicPr>
          <p:nvPr/>
        </p:nvPicPr>
        <p:blipFill>
          <a:blip r:embed="rId1"/>
          <a:stretch>
            <a:fillRect/>
          </a:stretch>
        </p:blipFill>
        <p:spPr>
          <a:xfrm>
            <a:off x="548640" y="1325880"/>
            <a:ext cx="2606040" cy="1997964"/>
          </a:xfrm>
          <a:prstGeom prst="rect">
            <a:avLst/>
          </a:prstGeom>
        </p:spPr>
      </p:pic>
      <p:sp>
        <p:nvSpPr>
          <p:cNvPr id="7" name="Shape 4"/>
          <p:cNvSpPr/>
          <p:nvPr/>
        </p:nvSpPr>
        <p:spPr>
          <a:xfrm>
            <a:off x="621792" y="3012948"/>
            <a:ext cx="274320" cy="237744"/>
          </a:xfrm>
          <a:prstGeom prst="rect">
            <a:avLst/>
          </a:prstGeom>
          <a:solidFill>
            <a:srgbClr val="E60012"/>
          </a:solidFill>
          <a:ln/>
        </p:spPr>
      </p:sp>
      <p:sp>
        <p:nvSpPr>
          <p:cNvPr id="8" name="Text 5"/>
          <p:cNvSpPr txBox="1"/>
          <p:nvPr/>
        </p:nvSpPr>
        <p:spPr>
          <a:xfrm>
            <a:off x="621792" y="3012948"/>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9" name="Text 6"/>
          <p:cNvSpPr txBox="1"/>
          <p:nvPr/>
        </p:nvSpPr>
        <p:spPr>
          <a:xfrm>
            <a:off x="548640" y="3415284"/>
            <a:ext cx="2606040" cy="365760"/>
          </a:xfrm>
          <a:prstGeom prst="rect">
            <a:avLst/>
          </a:prstGeom>
          <a:noFill/>
          <a:ln/>
        </p:spPr>
        <p:txBody>
          <a:bodyPr wrap="square" lIns="0" tIns="0" rIns="0" bIns="0" rtlCol="0" anchor="t"/>
          <a:lstStyle/>
          <a:p>
            <a:pPr algn="ctr" indent="0" marL="0">
              <a:buNone/>
            </a:pPr>
            <a:r>
              <a:rPr lang="en-US" sz="1400" b="1" dirty="0">
                <a:solidFill>
                  <a:srgbClr val="1E2126"/>
                </a:solidFill>
                <a:latin typeface="Meiryo" pitchFamily="34" charset="0"/>
                <a:ea typeface="Meiryo" pitchFamily="34" charset="-122"/>
                <a:cs typeface="Meiryo" pitchFamily="34" charset="-120"/>
              </a:rPr>
              <a:t>通常の搬送</a:t>
            </a:r>
            <a:endParaRPr lang="en-US" sz="1400" dirty="0"/>
          </a:p>
        </p:txBody>
      </p:sp>
      <p:sp>
        <p:nvSpPr>
          <p:cNvPr id="10" name="Shape 7"/>
          <p:cNvSpPr/>
          <p:nvPr/>
        </p:nvSpPr>
        <p:spPr>
          <a:xfrm>
            <a:off x="3337560" y="1325880"/>
            <a:ext cx="2606040" cy="1997964"/>
          </a:xfrm>
          <a:prstGeom prst="rect">
            <a:avLst/>
          </a:prstGeom>
          <a:solidFill>
            <a:srgbClr val="FFFFFF"/>
          </a:solidFill>
          <a:ln/>
        </p:spPr>
      </p:sp>
      <p:pic>
        <p:nvPicPr>
          <p:cNvPr id="11" name="IMAGE_PLACEHOLDER_11_2" descr="IMAGE_PLACEHOLDER_11 ボトルの揺れ（仮画像）">    </p:cNvPr>
          <p:cNvPicPr>
            <a:picLocks noChangeAspect="1"/>
          </p:cNvPicPr>
          <p:nvPr/>
        </p:nvPicPr>
        <p:blipFill>
          <a:blip r:embed="rId2"/>
          <a:stretch>
            <a:fillRect/>
          </a:stretch>
        </p:blipFill>
        <p:spPr>
          <a:xfrm>
            <a:off x="3337560" y="1325880"/>
            <a:ext cx="2606040" cy="1997964"/>
          </a:xfrm>
          <a:prstGeom prst="rect">
            <a:avLst/>
          </a:prstGeom>
        </p:spPr>
      </p:pic>
      <p:sp>
        <p:nvSpPr>
          <p:cNvPr id="12" name="Shape 8"/>
          <p:cNvSpPr/>
          <p:nvPr/>
        </p:nvSpPr>
        <p:spPr>
          <a:xfrm>
            <a:off x="3410712" y="3012948"/>
            <a:ext cx="274320" cy="237744"/>
          </a:xfrm>
          <a:prstGeom prst="rect">
            <a:avLst/>
          </a:prstGeom>
          <a:solidFill>
            <a:srgbClr val="E60012"/>
          </a:solidFill>
          <a:ln/>
        </p:spPr>
      </p:sp>
      <p:sp>
        <p:nvSpPr>
          <p:cNvPr id="13" name="Text 9"/>
          <p:cNvSpPr txBox="1"/>
          <p:nvPr/>
        </p:nvSpPr>
        <p:spPr>
          <a:xfrm>
            <a:off x="3410712" y="3012948"/>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14" name="Text 10"/>
          <p:cNvSpPr txBox="1"/>
          <p:nvPr/>
        </p:nvSpPr>
        <p:spPr>
          <a:xfrm>
            <a:off x="3337560" y="3415284"/>
            <a:ext cx="2606040" cy="365760"/>
          </a:xfrm>
          <a:prstGeom prst="rect">
            <a:avLst/>
          </a:prstGeom>
          <a:noFill/>
          <a:ln/>
        </p:spPr>
        <p:txBody>
          <a:bodyPr wrap="square" lIns="0" tIns="0" rIns="0" bIns="0" rtlCol="0" anchor="t"/>
          <a:lstStyle/>
          <a:p>
            <a:pPr algn="ctr" indent="0" marL="0">
              <a:buNone/>
            </a:pPr>
            <a:r>
              <a:rPr lang="en-US" sz="1400" b="1" dirty="0">
                <a:solidFill>
                  <a:srgbClr val="1E2126"/>
                </a:solidFill>
                <a:latin typeface="Meiryo" pitchFamily="34" charset="0"/>
                <a:ea typeface="Meiryo" pitchFamily="34" charset="-122"/>
                <a:cs typeface="Meiryo" pitchFamily="34" charset="-120"/>
              </a:rPr>
              <a:t>ボトルの揺れ</a:t>
            </a:r>
            <a:endParaRPr lang="en-US" sz="1400" dirty="0"/>
          </a:p>
        </p:txBody>
      </p:sp>
      <p:sp>
        <p:nvSpPr>
          <p:cNvPr id="15" name="Shape 11"/>
          <p:cNvSpPr/>
          <p:nvPr/>
        </p:nvSpPr>
        <p:spPr>
          <a:xfrm>
            <a:off x="6126480" y="1325880"/>
            <a:ext cx="2606040" cy="1997964"/>
          </a:xfrm>
          <a:prstGeom prst="rect">
            <a:avLst/>
          </a:prstGeom>
          <a:solidFill>
            <a:srgbClr val="FFFFFF"/>
          </a:solidFill>
          <a:ln/>
        </p:spPr>
      </p:sp>
      <p:pic>
        <p:nvPicPr>
          <p:cNvPr id="16" name="IMAGE_PLACEHOLDER_11_3" descr="IMAGE_PLACEHOLDER_11 間隔の変化（仮画像）">    </p:cNvPr>
          <p:cNvPicPr>
            <a:picLocks noChangeAspect="1"/>
          </p:cNvPicPr>
          <p:nvPr/>
        </p:nvPicPr>
        <p:blipFill>
          <a:blip r:embed="rId3"/>
          <a:stretch>
            <a:fillRect/>
          </a:stretch>
        </p:blipFill>
        <p:spPr>
          <a:xfrm>
            <a:off x="6126480" y="1325880"/>
            <a:ext cx="2606040" cy="1997964"/>
          </a:xfrm>
          <a:prstGeom prst="rect">
            <a:avLst/>
          </a:prstGeom>
        </p:spPr>
      </p:pic>
      <p:sp>
        <p:nvSpPr>
          <p:cNvPr id="17" name="Shape 12"/>
          <p:cNvSpPr/>
          <p:nvPr/>
        </p:nvSpPr>
        <p:spPr>
          <a:xfrm>
            <a:off x="6199632" y="3012948"/>
            <a:ext cx="274320" cy="237744"/>
          </a:xfrm>
          <a:prstGeom prst="rect">
            <a:avLst/>
          </a:prstGeom>
          <a:solidFill>
            <a:srgbClr val="E60012"/>
          </a:solidFill>
          <a:ln/>
        </p:spPr>
      </p:sp>
      <p:sp>
        <p:nvSpPr>
          <p:cNvPr id="18" name="Text 13"/>
          <p:cNvSpPr txBox="1"/>
          <p:nvPr/>
        </p:nvSpPr>
        <p:spPr>
          <a:xfrm>
            <a:off x="6199632" y="3012948"/>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19" name="Text 14"/>
          <p:cNvSpPr txBox="1"/>
          <p:nvPr/>
        </p:nvSpPr>
        <p:spPr>
          <a:xfrm>
            <a:off x="6126480" y="3415284"/>
            <a:ext cx="2606040" cy="365760"/>
          </a:xfrm>
          <a:prstGeom prst="rect">
            <a:avLst/>
          </a:prstGeom>
          <a:noFill/>
          <a:ln/>
        </p:spPr>
        <p:txBody>
          <a:bodyPr wrap="square" lIns="0" tIns="0" rIns="0" bIns="0" rtlCol="0" anchor="t"/>
          <a:lstStyle/>
          <a:p>
            <a:pPr algn="ctr" indent="0" marL="0">
              <a:buNone/>
            </a:pPr>
            <a:r>
              <a:rPr lang="en-US" sz="1400" b="1" dirty="0">
                <a:solidFill>
                  <a:srgbClr val="E60012"/>
                </a:solidFill>
                <a:latin typeface="Meiryo" pitchFamily="34" charset="0"/>
                <a:ea typeface="Meiryo" pitchFamily="34" charset="-122"/>
                <a:cs typeface="Meiryo" pitchFamily="34" charset="-120"/>
              </a:rPr>
              <a:t>間隔の変化</a:t>
            </a:r>
            <a:endParaRPr lang="en-US" sz="1400" dirty="0"/>
          </a:p>
        </p:txBody>
      </p:sp>
      <p:sp>
        <p:nvSpPr>
          <p:cNvPr id="20" name="Shape 15"/>
          <p:cNvSpPr/>
          <p:nvPr/>
        </p:nvSpPr>
        <p:spPr>
          <a:xfrm>
            <a:off x="8915400" y="1325880"/>
            <a:ext cx="2606040" cy="1997964"/>
          </a:xfrm>
          <a:prstGeom prst="rect">
            <a:avLst/>
          </a:prstGeom>
          <a:solidFill>
            <a:srgbClr val="FFFFFF"/>
          </a:solidFill>
          <a:ln/>
        </p:spPr>
      </p:sp>
      <p:pic>
        <p:nvPicPr>
          <p:cNvPr id="21" name="IMAGE_PLACEHOLDER_11_4" descr="IMAGE_PLACEHOLDER_11 検出の高さ（仮画像）">    </p:cNvPr>
          <p:cNvPicPr>
            <a:picLocks noChangeAspect="1"/>
          </p:cNvPicPr>
          <p:nvPr/>
        </p:nvPicPr>
        <p:blipFill>
          <a:blip r:embed="rId4"/>
          <a:stretch>
            <a:fillRect/>
          </a:stretch>
        </p:blipFill>
        <p:spPr>
          <a:xfrm>
            <a:off x="8915400" y="1325880"/>
            <a:ext cx="2606040" cy="1997964"/>
          </a:xfrm>
          <a:prstGeom prst="rect">
            <a:avLst/>
          </a:prstGeom>
        </p:spPr>
      </p:pic>
      <p:sp>
        <p:nvSpPr>
          <p:cNvPr id="22" name="Shape 16"/>
          <p:cNvSpPr/>
          <p:nvPr/>
        </p:nvSpPr>
        <p:spPr>
          <a:xfrm>
            <a:off x="8988552" y="3012948"/>
            <a:ext cx="274320" cy="237744"/>
          </a:xfrm>
          <a:prstGeom prst="rect">
            <a:avLst/>
          </a:prstGeom>
          <a:solidFill>
            <a:srgbClr val="E60012"/>
          </a:solidFill>
          <a:ln/>
        </p:spPr>
      </p:sp>
      <p:sp>
        <p:nvSpPr>
          <p:cNvPr id="23" name="Text 17"/>
          <p:cNvSpPr txBox="1"/>
          <p:nvPr/>
        </p:nvSpPr>
        <p:spPr>
          <a:xfrm>
            <a:off x="8988552" y="3012948"/>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仮</a:t>
            </a:r>
            <a:endParaRPr lang="en-US" sz="900" dirty="0"/>
          </a:p>
        </p:txBody>
      </p:sp>
      <p:sp>
        <p:nvSpPr>
          <p:cNvPr id="24" name="Text 18"/>
          <p:cNvSpPr txBox="1"/>
          <p:nvPr/>
        </p:nvSpPr>
        <p:spPr>
          <a:xfrm>
            <a:off x="8915400" y="3415284"/>
            <a:ext cx="2606040" cy="365760"/>
          </a:xfrm>
          <a:prstGeom prst="rect">
            <a:avLst/>
          </a:prstGeom>
          <a:noFill/>
          <a:ln/>
        </p:spPr>
        <p:txBody>
          <a:bodyPr wrap="square" lIns="0" tIns="0" rIns="0" bIns="0" rtlCol="0" anchor="t"/>
          <a:lstStyle/>
          <a:p>
            <a:pPr algn="ctr" indent="0" marL="0">
              <a:buNone/>
            </a:pPr>
            <a:r>
              <a:rPr lang="en-US" sz="1400" b="1" dirty="0">
                <a:solidFill>
                  <a:srgbClr val="1E2126"/>
                </a:solidFill>
                <a:latin typeface="Meiryo" pitchFamily="34" charset="0"/>
                <a:ea typeface="Meiryo" pitchFamily="34" charset="-122"/>
                <a:cs typeface="Meiryo" pitchFamily="34" charset="-120"/>
              </a:rPr>
              <a:t>検出の高さ</a:t>
            </a:r>
            <a:endParaRPr lang="en-US" sz="1400" dirty="0"/>
          </a:p>
        </p:txBody>
      </p:sp>
      <p:sp>
        <p:nvSpPr>
          <p:cNvPr id="25" name="Shape 19"/>
          <p:cNvSpPr/>
          <p:nvPr/>
        </p:nvSpPr>
        <p:spPr>
          <a:xfrm>
            <a:off x="548640" y="4160520"/>
            <a:ext cx="11094415" cy="822960"/>
          </a:xfrm>
          <a:prstGeom prst="rect">
            <a:avLst/>
          </a:prstGeom>
          <a:solidFill>
            <a:srgbClr val="FDECEE"/>
          </a:solidFill>
          <a:ln/>
        </p:spPr>
      </p:sp>
      <p:sp>
        <p:nvSpPr>
          <p:cNvPr id="26" name="Text 20"/>
          <p:cNvSpPr txBox="1"/>
          <p:nvPr/>
        </p:nvSpPr>
        <p:spPr>
          <a:xfrm>
            <a:off x="777240" y="4160520"/>
            <a:ext cx="10637215" cy="822960"/>
          </a:xfrm>
          <a:prstGeom prst="rect">
            <a:avLst/>
          </a:prstGeom>
          <a:noFill/>
          <a:ln/>
        </p:spPr>
        <p:txBody>
          <a:bodyPr wrap="square" lIns="0" tIns="0" rIns="0" bIns="0" rtlCol="0" anchor="ctr"/>
          <a:lstStyle/>
          <a:p>
            <a:pPr indent="0" marL="0">
              <a:buNone/>
            </a:pPr>
            <a:r>
              <a:rPr lang="en-US" sz="1200" b="1" dirty="0">
                <a:solidFill>
                  <a:srgbClr val="E60012"/>
                </a:solidFill>
                <a:latin typeface="Meiryo" pitchFamily="34" charset="0"/>
                <a:ea typeface="Meiryo" pitchFamily="34" charset="-122"/>
                <a:cs typeface="Meiryo" pitchFamily="34" charset="-120"/>
              </a:rPr>
              <a:t>要修正　</a:t>
            </a:r>
            <a:pPr indent="0" marL="0">
              <a:buNone/>
            </a:pPr>
            <a:r>
              <a:rPr lang="en-US" sz="1250" dirty="0">
                <a:solidFill>
                  <a:srgbClr val="1E2126"/>
                </a:solidFill>
                <a:latin typeface="Meiryo" pitchFamily="34" charset="0"/>
                <a:ea typeface="Meiryo" pitchFamily="34" charset="-122"/>
                <a:cs typeface="Meiryo" pitchFamily="34" charset="-120"/>
              </a:rPr>
              <a:t>「間隔の変化」の図は、ボトル同士が重なって描かれている（実際には起きない）。差し替え時に「隙間が狭い」状態へ描き直すこと</a:t>
            </a:r>
            <a:endParaRPr lang="en-US" sz="1200" dirty="0"/>
          </a:p>
        </p:txBody>
      </p:sp>
      <p:sp>
        <p:nvSpPr>
          <p:cNvPr id="27" name="Text 21"/>
          <p:cNvSpPr txBox="1"/>
          <p:nvPr/>
        </p:nvSpPr>
        <p:spPr>
          <a:xfrm>
            <a:off x="548640" y="5166360"/>
            <a:ext cx="11094415" cy="320040"/>
          </a:xfrm>
          <a:prstGeom prst="rect">
            <a:avLst/>
          </a:prstGeom>
          <a:noFill/>
          <a:ln/>
        </p:spPr>
        <p:txBody>
          <a:bodyPr wrap="square" lIns="0" tIns="0" rIns="0" bIns="0" rtlCol="0" anchor="t"/>
          <a:lstStyle/>
          <a:p>
            <a:pPr indent="0" marL="0">
              <a:buNone/>
            </a:pPr>
            <a:r>
              <a:rPr lang="en-US" sz="1000" dirty="0">
                <a:solidFill>
                  <a:srgbClr val="5A6470"/>
                </a:solidFill>
                <a:latin typeface="Meiryo" pitchFamily="34" charset="0"/>
                <a:ea typeface="Meiryo" pitchFamily="34" charset="-122"/>
                <a:cs typeface="Meiryo" pitchFamily="34" charset="-120"/>
              </a:rPr>
              <a:t>【IMAGE_PLACEHOLDER_11】比較デモの4条件　後日指定画像に差し替え／図は「見方の説明」で、実測結果ではありません</a:t>
            </a:r>
            <a:endParaRPr lang="en-US" sz="10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補足</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結果が基準に届かなかったとき</a:t>
            </a:r>
            <a:endParaRPr lang="en-US" sz="2200" dirty="0"/>
          </a:p>
        </p:txBody>
      </p:sp>
      <p:sp>
        <p:nvSpPr>
          <p:cNvPr id="5" name="Shape 3"/>
          <p:cNvSpPr/>
          <p:nvPr/>
        </p:nvSpPr>
        <p:spPr>
          <a:xfrm>
            <a:off x="548640" y="1371600"/>
            <a:ext cx="5440680" cy="96012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6" name="Text 4"/>
          <p:cNvSpPr txBox="1"/>
          <p:nvPr/>
        </p:nvSpPr>
        <p:spPr>
          <a:xfrm>
            <a:off x="822960" y="1371600"/>
            <a:ext cx="5029200" cy="960120"/>
          </a:xfrm>
          <a:prstGeom prst="rect">
            <a:avLst/>
          </a:prstGeom>
          <a:noFill/>
          <a:ln/>
        </p:spPr>
        <p:txBody>
          <a:bodyPr wrap="square" lIns="0" tIns="0" rIns="0" bIns="0" rtlCol="0" anchor="ctr"/>
          <a:lstStyle/>
          <a:p>
            <a:pPr indent="0" marL="0">
              <a:buNone/>
            </a:pPr>
            <a:r>
              <a:rPr lang="en-US" sz="1800" b="1" dirty="0">
                <a:solidFill>
                  <a:srgbClr val="1E2126"/>
                </a:solidFill>
                <a:latin typeface="Meiryo" pitchFamily="34" charset="0"/>
                <a:ea typeface="Meiryo" pitchFamily="34" charset="-122"/>
                <a:cs typeface="Meiryo" pitchFamily="34" charset="-120"/>
              </a:rPr>
              <a:t>1　設置の位置・角度を見直す</a:t>
            </a:r>
            <a:endParaRPr lang="en-US" sz="1800" dirty="0"/>
          </a:p>
        </p:txBody>
      </p:sp>
      <p:sp>
        <p:nvSpPr>
          <p:cNvPr id="7" name="Shape 5"/>
          <p:cNvSpPr/>
          <p:nvPr/>
        </p:nvSpPr>
        <p:spPr>
          <a:xfrm>
            <a:off x="6190488" y="1371600"/>
            <a:ext cx="5440680" cy="96012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8" name="Text 6"/>
          <p:cNvSpPr txBox="1"/>
          <p:nvPr/>
        </p:nvSpPr>
        <p:spPr>
          <a:xfrm>
            <a:off x="6464808" y="1371600"/>
            <a:ext cx="5029200" cy="960120"/>
          </a:xfrm>
          <a:prstGeom prst="rect">
            <a:avLst/>
          </a:prstGeom>
          <a:noFill/>
          <a:ln/>
        </p:spPr>
        <p:txBody>
          <a:bodyPr wrap="square" lIns="0" tIns="0" rIns="0" bIns="0" rtlCol="0" anchor="ctr"/>
          <a:lstStyle/>
          <a:p>
            <a:pPr indent="0" marL="0">
              <a:buNone/>
            </a:pPr>
            <a:r>
              <a:rPr lang="en-US" sz="1800" b="1" dirty="0">
                <a:solidFill>
                  <a:srgbClr val="1E2126"/>
                </a:solidFill>
                <a:latin typeface="Meiryo" pitchFamily="34" charset="0"/>
                <a:ea typeface="Meiryo" pitchFamily="34" charset="-122"/>
                <a:cs typeface="Meiryo" pitchFamily="34" charset="-120"/>
              </a:rPr>
              <a:t>2　感度の設定を見直す</a:t>
            </a:r>
            <a:endParaRPr lang="en-US" sz="1800" dirty="0"/>
          </a:p>
        </p:txBody>
      </p:sp>
      <p:sp>
        <p:nvSpPr>
          <p:cNvPr id="9" name="Shape 7"/>
          <p:cNvSpPr/>
          <p:nvPr/>
        </p:nvSpPr>
        <p:spPr>
          <a:xfrm>
            <a:off x="548640" y="2514600"/>
            <a:ext cx="5440680" cy="96012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0" name="Text 8"/>
          <p:cNvSpPr txBox="1"/>
          <p:nvPr/>
        </p:nvSpPr>
        <p:spPr>
          <a:xfrm>
            <a:off x="822960" y="2514600"/>
            <a:ext cx="5029200" cy="960120"/>
          </a:xfrm>
          <a:prstGeom prst="rect">
            <a:avLst/>
          </a:prstGeom>
          <a:noFill/>
          <a:ln/>
        </p:spPr>
        <p:txBody>
          <a:bodyPr wrap="square" lIns="0" tIns="0" rIns="0" bIns="0" rtlCol="0" anchor="ctr"/>
          <a:lstStyle/>
          <a:p>
            <a:pPr indent="0" marL="0">
              <a:buNone/>
            </a:pPr>
            <a:r>
              <a:rPr lang="en-US" sz="1800" b="1" dirty="0">
                <a:solidFill>
                  <a:srgbClr val="1E2126"/>
                </a:solidFill>
                <a:latin typeface="Meiryo" pitchFamily="34" charset="0"/>
                <a:ea typeface="Meiryo" pitchFamily="34" charset="-122"/>
                <a:cs typeface="Meiryo" pitchFamily="34" charset="-120"/>
              </a:rPr>
              <a:t>3　PLC側の処理（カウント条件）を見直す</a:t>
            </a:r>
            <a:endParaRPr lang="en-US" sz="1800" dirty="0"/>
          </a:p>
        </p:txBody>
      </p:sp>
      <p:sp>
        <p:nvSpPr>
          <p:cNvPr id="11" name="Shape 9"/>
          <p:cNvSpPr/>
          <p:nvPr/>
        </p:nvSpPr>
        <p:spPr>
          <a:xfrm>
            <a:off x="6190488" y="2514600"/>
            <a:ext cx="5440680" cy="960120"/>
          </a:xfrm>
          <a:prstGeom prst="rect">
            <a:avLst/>
          </a:prstGeom>
          <a:solidFill>
            <a:srgbClr val="FFFFFF"/>
          </a:solidFill>
          <a:ln/>
          <a:effectLst>
            <a:outerShdw sx="100000" sy="100000" kx="0" ky="0" algn="bl" rotWithShape="0" blurRad="76200" dist="25400" dir="5400000">
              <a:srgbClr val="000000">
                <a:alpha val="12000"/>
              </a:srgbClr>
            </a:outerShdw>
          </a:effectLst>
        </p:spPr>
      </p:sp>
      <p:sp>
        <p:nvSpPr>
          <p:cNvPr id="12" name="Text 10"/>
          <p:cNvSpPr txBox="1"/>
          <p:nvPr/>
        </p:nvSpPr>
        <p:spPr>
          <a:xfrm>
            <a:off x="6464808" y="2514600"/>
            <a:ext cx="5029200" cy="960120"/>
          </a:xfrm>
          <a:prstGeom prst="rect">
            <a:avLst/>
          </a:prstGeom>
          <a:noFill/>
          <a:ln/>
        </p:spPr>
        <p:txBody>
          <a:bodyPr wrap="square" lIns="0" tIns="0" rIns="0" bIns="0" rtlCol="0" anchor="ctr"/>
          <a:lstStyle/>
          <a:p>
            <a:pPr indent="0" marL="0">
              <a:buNone/>
            </a:pPr>
            <a:r>
              <a:rPr lang="en-US" sz="1800" b="1" dirty="0">
                <a:solidFill>
                  <a:srgbClr val="1E2126"/>
                </a:solidFill>
                <a:latin typeface="Meiryo" pitchFamily="34" charset="0"/>
                <a:ea typeface="Meiryo" pitchFamily="34" charset="-122"/>
                <a:cs typeface="Meiryo" pitchFamily="34" charset="-120"/>
              </a:rPr>
              <a:t>4　別の検出方式を検討する</a:t>
            </a:r>
            <a:endParaRPr lang="en-US" sz="1800" dirty="0"/>
          </a:p>
        </p:txBody>
      </p:sp>
      <p:sp>
        <p:nvSpPr>
          <p:cNvPr id="13" name="Shape 11"/>
          <p:cNvSpPr/>
          <p:nvPr/>
        </p:nvSpPr>
        <p:spPr>
          <a:xfrm>
            <a:off x="548640" y="3931920"/>
            <a:ext cx="11094415" cy="1097280"/>
          </a:xfrm>
          <a:prstGeom prst="rect">
            <a:avLst/>
          </a:prstGeom>
          <a:solidFill>
            <a:srgbClr val="141517"/>
          </a:solidFill>
          <a:ln/>
        </p:spPr>
      </p:sp>
      <p:sp>
        <p:nvSpPr>
          <p:cNvPr id="14" name="Text 12"/>
          <p:cNvSpPr txBox="1"/>
          <p:nvPr/>
        </p:nvSpPr>
        <p:spPr>
          <a:xfrm>
            <a:off x="868680" y="3931920"/>
            <a:ext cx="10454335" cy="109728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基準を満たさない結果も、大切な情報。うまくいかなかった理由をお客様と一緒に調べることも、営業の仕事</a:t>
            </a:r>
            <a:endParaRPr lang="en-US" sz="18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48640" y="566928"/>
            <a:ext cx="548640" cy="329184"/>
          </a:xfrm>
          <a:prstGeom prst="rect">
            <a:avLst/>
          </a:prstGeom>
          <a:solidFill>
            <a:srgbClr val="E60012"/>
          </a:solidFill>
          <a:ln/>
        </p:spPr>
      </p:sp>
      <p:sp>
        <p:nvSpPr>
          <p:cNvPr id="3" name="Text 1"/>
          <p:cNvSpPr txBox="1"/>
          <p:nvPr/>
        </p:nvSpPr>
        <p:spPr>
          <a:xfrm>
            <a:off x="548640" y="566928"/>
            <a:ext cx="5486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補足</a:t>
            </a:r>
            <a:endParaRPr lang="en-US" sz="1100" dirty="0"/>
          </a:p>
        </p:txBody>
      </p:sp>
      <p:sp>
        <p:nvSpPr>
          <p:cNvPr id="4" name="Text 2"/>
          <p:cNvSpPr txBox="1"/>
          <p:nvPr/>
        </p:nvSpPr>
        <p:spPr>
          <a:xfrm>
            <a:off x="1261872" y="530352"/>
            <a:ext cx="10362895" cy="420624"/>
          </a:xfrm>
          <a:prstGeom prst="rect">
            <a:avLst/>
          </a:prstGeom>
          <a:noFill/>
          <a:ln/>
        </p:spPr>
        <p:txBody>
          <a:bodyPr wrap="square" lIns="0" tIns="0" rIns="0" bIns="0" rtlCol="0" anchor="ctr"/>
          <a:lstStyle/>
          <a:p>
            <a:pPr indent="0" marL="0">
              <a:buNone/>
            </a:pPr>
            <a:r>
              <a:rPr lang="en-US" sz="2200" b="1" dirty="0">
                <a:solidFill>
                  <a:srgbClr val="1E2126"/>
                </a:solidFill>
                <a:latin typeface="Meiryo" pitchFamily="34" charset="0"/>
                <a:ea typeface="Meiryo" pitchFamily="34" charset="-122"/>
                <a:cs typeface="Meiryo" pitchFamily="34" charset="-120"/>
              </a:rPr>
              <a:t>製品情報の確認状況</a:t>
            </a:r>
            <a:endParaRPr lang="en-US" sz="2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43200"/>
                <a:gridCol w="3840480"/>
                <a:gridCol w="4507992"/>
              </a:tblGrid>
              <a:tr h="566928">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項目</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41517"/>
                    </a:solidFill>
                  </a:tcPr>
                </a:tc>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本資料での扱い</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41517"/>
                    </a:solidFill>
                  </a:tcPr>
                </a:tc>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確認状況</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41517"/>
                    </a:solidFill>
                  </a:tcPr>
                </a:tc>
              </a:tr>
              <a:tr h="566928">
                <a:tc>
                  <a:txBody>
                    <a:bodyPr/>
                    <a:lstStyle/>
                    <a:p>
                      <a:pPr indent="0" marL="0">
                        <a:buNone/>
                      </a:pPr>
                      <a:r>
                        <a:rPr lang="en-US" sz="1200" b="1" dirty="0">
                          <a:solidFill>
                            <a:srgbClr val="1E2126"/>
                          </a:solidFill>
                          <a:latin typeface="Meiryo" pitchFamily="34" charset="0"/>
                          <a:ea typeface="Meiryo" pitchFamily="34" charset="-122"/>
                          <a:cs typeface="Meiryo" pitchFamily="34" charset="-120"/>
                        </a:rPr>
                        <a:t>製品名</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1E2126"/>
                          </a:solidFill>
                          <a:latin typeface="Meiryo" pitchFamily="34" charset="0"/>
                          <a:ea typeface="Meiryo" pitchFamily="34" charset="-122"/>
                          <a:cs typeface="Meiryo" pitchFamily="34" charset="-120"/>
                        </a:rPr>
                        <a:t>透明体検出タイプ - KR-Qシリーズ</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5A6470"/>
                          </a:solidFill>
                          <a:latin typeface="Meiryo" pitchFamily="34" charset="0"/>
                          <a:ea typeface="Meiryo" pitchFamily="34" charset="-122"/>
                          <a:cs typeface="Meiryo" pitchFamily="34" charset="-120"/>
                        </a:rPr>
                        <a:t>公式ページのタイトルで確認</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126"/>
                          </a:solidFill>
                          <a:latin typeface="Meiryo" pitchFamily="34" charset="0"/>
                          <a:ea typeface="Meiryo" pitchFamily="34" charset="-122"/>
                          <a:cs typeface="Meiryo" pitchFamily="34" charset="-120"/>
                        </a:rPr>
                        <a:t>検出方式</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1E2126"/>
                          </a:solidFill>
                          <a:latin typeface="Meiryo" pitchFamily="34" charset="0"/>
                          <a:ea typeface="Meiryo" pitchFamily="34" charset="-122"/>
                          <a:cs typeface="Meiryo" pitchFamily="34" charset="-120"/>
                        </a:rPr>
                        <a:t>回帰反射型（反射ミラー使用）</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5A6470"/>
                          </a:solidFill>
                          <a:latin typeface="Meiryo" pitchFamily="34" charset="0"/>
                          <a:ea typeface="Meiryo" pitchFamily="34" charset="-122"/>
                          <a:cs typeface="Meiryo" pitchFamily="34" charset="-120"/>
                        </a:rPr>
                        <a:t>公式ページの抜粋で確認（本文は未照合）</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126"/>
                          </a:solidFill>
                          <a:latin typeface="Meiryo" pitchFamily="34" charset="0"/>
                          <a:ea typeface="Meiryo" pitchFamily="34" charset="-122"/>
                          <a:cs typeface="Meiryo" pitchFamily="34" charset="-120"/>
                        </a:rPr>
                        <a:t>用途例</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1E2126"/>
                          </a:solidFill>
                          <a:latin typeface="Meiryo" pitchFamily="34" charset="0"/>
                          <a:ea typeface="Meiryo" pitchFamily="34" charset="-122"/>
                          <a:cs typeface="Meiryo" pitchFamily="34" charset="-120"/>
                        </a:rPr>
                        <a:t>ペットボトルの通過検知 など</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5A6470"/>
                          </a:solidFill>
                          <a:latin typeface="Meiryo" pitchFamily="34" charset="0"/>
                          <a:ea typeface="Meiryo" pitchFamily="34" charset="-122"/>
                          <a:cs typeface="Meiryo" pitchFamily="34" charset="-120"/>
                        </a:rPr>
                        <a:t>公式ページの抜粋で確認（本文は未照合）</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126"/>
                          </a:solidFill>
                          <a:latin typeface="Meiryo" pitchFamily="34" charset="0"/>
                          <a:ea typeface="Meiryo" pitchFamily="34" charset="-122"/>
                          <a:cs typeface="Meiryo" pitchFamily="34" charset="-120"/>
                        </a:rPr>
                        <a:t>検出距離・応答時間などの数値</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1E2126"/>
                          </a:solidFill>
                          <a:latin typeface="Meiryo" pitchFamily="34" charset="0"/>
                          <a:ea typeface="Meiryo" pitchFamily="34" charset="-122"/>
                          <a:cs typeface="Meiryo" pitchFamily="34" charset="-120"/>
                        </a:rPr>
                        <a:t>本資料には載せていない</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5A6470"/>
                          </a:solidFill>
                          <a:latin typeface="Meiryo" pitchFamily="34" charset="0"/>
                          <a:ea typeface="Meiryo" pitchFamily="34" charset="-122"/>
                          <a:cs typeface="Meiryo" pitchFamily="34" charset="-120"/>
                        </a:rPr>
                        <a:t>公式の仕様ページで照合してから記載</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126"/>
                          </a:solidFill>
                          <a:latin typeface="Meiryo" pitchFamily="34" charset="0"/>
                          <a:ea typeface="Meiryo" pitchFamily="34" charset="-122"/>
                          <a:cs typeface="Meiryo" pitchFamily="34" charset="-120"/>
                        </a:rPr>
                        <a:t>光源</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1E2126"/>
                          </a:solidFill>
                          <a:latin typeface="Meiryo" pitchFamily="34" charset="0"/>
                          <a:ea typeface="Meiryo" pitchFamily="34" charset="-122"/>
                          <a:cs typeface="Meiryo" pitchFamily="34" charset="-120"/>
                        </a:rPr>
                        <a:t>本資料には載せていない</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5A6470"/>
                          </a:solidFill>
                          <a:latin typeface="Meiryo" pitchFamily="34" charset="0"/>
                          <a:ea typeface="Meiryo" pitchFamily="34" charset="-122"/>
                          <a:cs typeface="Meiryo" pitchFamily="34" charset="-120"/>
                        </a:rPr>
                        <a:t>公式抜粋（赤色LED）と販売店（赤外LED）で表記が食い違う</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126"/>
                          </a:solidFill>
                          <a:latin typeface="Meiryo" pitchFamily="34" charset="0"/>
                          <a:ea typeface="Meiryo" pitchFamily="34" charset="-122"/>
                          <a:cs typeface="Meiryo" pitchFamily="34" charset="-120"/>
                        </a:rPr>
                        <a:t>製品画像</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1E2126"/>
                          </a:solidFill>
                          <a:latin typeface="Meiryo" pitchFamily="34" charset="0"/>
                          <a:ea typeface="Meiryo" pitchFamily="34" charset="-122"/>
                          <a:cs typeface="Meiryo" pitchFamily="34" charset="-120"/>
                        </a:rPr>
                        <a:t>本資料には載せていない</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c>
                  <a:txBody>
                    <a:bodyPr/>
                    <a:lstStyle/>
                    <a:p>
                      <a:pPr indent="0" marL="0">
                        <a:buNone/>
                      </a:pPr>
                      <a:r>
                        <a:rPr lang="en-US" sz="1200" dirty="0">
                          <a:solidFill>
                            <a:srgbClr val="5A6470"/>
                          </a:solidFill>
                          <a:latin typeface="Meiryo" pitchFamily="34" charset="0"/>
                          <a:ea typeface="Meiryo" pitchFamily="34" charset="-122"/>
                          <a:cs typeface="Meiryo" pitchFamily="34" charset="-120"/>
                        </a:rPr>
                        <a:t>メーカーの利用許諾が必要</a:t>
                      </a:r>
                      <a:endParaRPr lang="en-US" sz="1200" dirty="0">
                        <a:latin typeface="Meiryo" charset="0"/>
                        <a:ea typeface="Meiryo" charset="0"/>
                        <a:cs typeface="Meiryo" charset="0"/>
                      </a:endParaRPr>
                    </a:p>
                  </a:txBody>
                  <a:tcPr marL="91440" marR="91440" marT="91440" marB="91440"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532120"/>
            <a:ext cx="11094415" cy="274320"/>
          </a:xfrm>
          <a:prstGeom prst="rect">
            <a:avLst/>
          </a:prstGeom>
          <a:noFill/>
          <a:ln/>
        </p:spPr>
        <p:txBody>
          <a:bodyPr wrap="square" lIns="0" tIns="0" rIns="0" bIns="0" rtlCol="0" anchor="t"/>
          <a:lstStyle/>
          <a:p>
            <a:pPr indent="0" marL="0">
              <a:buNone/>
            </a:pPr>
            <a:r>
              <a:rPr lang="en-US" sz="1000" dirty="0">
                <a:solidFill>
                  <a:srgbClr val="5A6470"/>
                </a:solidFill>
                <a:latin typeface="Meiryo" pitchFamily="34" charset="0"/>
                <a:ea typeface="Meiryo" pitchFamily="34" charset="-122"/>
                <a:cs typeface="Meiryo" pitchFamily="34" charset="-120"/>
              </a:rPr>
              <a:t>公式ページ：https://www.optex-fa.jp/products/photo_sensor/transparency/kr_q/</a:t>
            </a:r>
            <a:endParaRPr lang="en-US" sz="1000" dirty="0"/>
          </a:p>
        </p:txBody>
      </p:sp>
      <p:sp>
        <p:nvSpPr>
          <p:cNvPr id="25" name="Slide Number Placeholder 0"/>
          <p:cNvSpPr>
            <a:spLocks noGrp="1"/>
          </p:cNvSpPr>
          <p:nvPr>
            <p:ph type="sldNum" sz="quarter" idx="4294967295"/>
          </p:nvPr>
        </p:nvSpPr>
        <p:spPr>
          <a:xfrm>
            <a:off x="11323015" y="647395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470"/>
                </a:solidFill>
              </a:defRPr>
            </a:lvl1pPr>
          </a:lstStyle>
          <a:p>
            <a:pPr algn="r"/>
            <a:fld id="{F7021451-1387-4CA6-816F-3879F97B5CBC}" type="slidenum">
              <a:rPr b="0"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コンサルティング営業体験（60分版）</dc:title>
  <dc:subject>PptxGenJS Presentation</dc:subject>
  <dc:creator>OPTEX-FA 営業企画</dc:creator>
  <cp:lastModifiedBy>OPTEX-FA 営業企画</cp:lastModifiedBy>
  <cp:revision>1</cp:revision>
  <dcterms:created xsi:type="dcterms:W3CDTF">2026-10-15T03:30:53Z</dcterms:created>
  <dcterms:modified xsi:type="dcterms:W3CDTF">2026-10-15T03:30:53Z</dcterms:modified>
</cp:coreProperties>
</file>