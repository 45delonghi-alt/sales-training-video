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オープニング" id="{a75770ff-f504-b520-46b4-13a2418e1ee2}">
          <p14:sldIdLst>
            <p14:sldId id="256"/>
            <p14:sldId id="257"/>
            <p14:sldId id="258"/>
          </p14:sldIdLst>
        </p14:section>
        <p14:section name="営業とは" id="{e9888374-336c-29d1-fd97-97da13f4fc05}">
          <p14:sldIdLst>
            <p14:sldId id="259"/>
          </p14:sldIdLst>
        </p14:section>
        <p14:section name="MISSION" id="{4d013c93-1549-82d1-e121-45a3787d7c08}">
          <p14:sldIdLst>
            <p14:sldId id="260"/>
            <p14:sldId id="261"/>
            <p14:sldId id="262"/>
          </p14:sldIdLst>
        </p14:section>
        <p14:section name="何を確認する？" id="{f38b4ec6-c680-a2c6-7b42-fdc6f34ebde6}">
          <p14:sldIdLst>
            <p14:sldId id="263"/>
            <p14:sldId id="264"/>
          </p14:sldIdLst>
        </p14:section>
        <p14:section name="お客様が実現したいこと" id="{7bde03d1-309c-e2a0-ce8a-6d8f26ca1c98}">
          <p14:sldIdLst>
            <p14:sldId id="265"/>
            <p14:sldId id="266"/>
          </p14:sldIdLst>
        </p14:section>
        <p14:section name="放っておくと何が起きる？" id="{090845c5-b23e-d15a-9b33-5d0e53065aa2}">
          <p14:sldIdLst>
            <p14:sldId id="267"/>
          </p14:sldIdLst>
        </p14:section>
        <p14:section name="光電センサの基本" id="{9ff9ec7f-e465-b403-777d-ac05d2e8bc0a}">
          <p14:sldIdLst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まとめ" id="{4d356ba1-e9ac-60f4-2112-192130a5d309}">
          <p14:sldIdLst>
            <p14:sldId id="275"/>
            <p14:sldId id="276"/>
          </p14:sldIdLst>
        </p14:section>
        <p14:section name="YOUR MISSION" id="{2e834801-52c3-2592-5c6a-992c0d9743a3}">
          <p14:sldIdLst>
            <p14:sldId id="277"/>
          </p14:sldIdLst>
        </p14:section>
        <p14:section name="エンディング" id="{f2046558-205e-06b1-c9ed-e82d5ceef061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■ セリフ
ナレーション：「営業」と聞いて、皆さんはどんな仕事を想像するでしょうか。
―――――― 以下、制作用の情報
導入動画｜オープニング｜動画の位置：0:00〜0:05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■ セリフ
ナレーション：商品を紹介する。価格を伝える。もちろん、それも営業の仕事です。
―――――― 以下、制作用の情報
導入動画｜オープニング｜動画の位置：0:05〜0:10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■ セリフ
ナレーション：でも、オプテックス・エフエーの営業は、それだけではありません。
―――――― 以下、制作用の情報
導入動画｜オープニング｜動画の位置：0:10〜0:15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■ セリフ
ナレーション：お客様の話を聞き、現場で何が起きているのかを整理し、本当の課題を考え、最適な解決策を提案する。これが今回体験してもらう、コンサルティング営業です。
―――――― 以下、制作用の情報
導入動画｜営業とは｜動画の位置：0:15〜0:27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■ セリフ
ナレーション：今回のお客様は、飲料工場です。
―――――― 以下、制作用の情報
導入動画｜MISSION｜動画の位置：0:27〜0:30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■ セリフ
ナレーション：コンベア上を、中身の入ったペットボトルが次々と流れています。工場では光電センサを使って、ペットボトルの本数をカウントしています。ところが最近、センサが時々誤動作し、実際よりも多くカウントしてしまうという問題が起きています。
―――――― 以下、制作用の情報
導入動画｜MISSION｜動画の位置：0:30〜0:48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■ セリフ
（セリフなし。動画が 0:54.9 で止まり、考える時間）
■ 問いかけ
営業である皆さんは、お客様に何を確認しますか？
■ 進め方
15秒で、ワークシートに1つ書こう。答えは言わせっぱなしでよい（正解は言わない）。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■ セリフ
ナレーション：この課題を解決するために、営業である皆さんは、お客様に何を確認しますか？　センサの種類でしょうか。ペットボトルの形でしょうか。設置位置でしょうか。
―――――― 以下、制作用の情報
導入動画｜何を確認する？｜動画の位置：0:48〜1:01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■ セリフ
ナレーション：実は、ここからが営業の仕事です。
―――――― 以下、制作用の情報
導入動画｜何を確認する？｜動画の位置：1:01〜1:05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■ セリフ
ナレーション：大切なのは、いきなり「このセンサを使いましょう」と提案することではありません。まず確認するのは、「お客様は本当は、何を実現したいのか」ということです。
―――――― 以下、制作用の情報
導入動画｜お客様が実現したいこと｜動画の位置：1:05〜1:19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■ セリフ
（セリフなし。動画が 1:23.8 で止まり、考える時間）
■ 問いかけ
誤カウントを放っておくと、現場では何が起きると思う？
■ 進め方
15秒、となりの人と話してみよう。答えは言わせっぱなしでよい（正解は言わない）。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■ セリフ
ナレーション：さらに重要なのは、その問題を放っておくと、何が起きるのか。カウントがずれる。数量確認が必要になる。人が確認する。作業時間が増える。センサの問題に見えていたものが、生産性や作業負担の問題につながっているかもしれません。
―――――― 以下、制作用の情報
導入動画｜放っておくと何が起きる？｜動画の位置：1:19〜1:38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■ セリフ
ナレーション：提案の前に、光電センサの基本を押さえておきましょう。光電センサは、光を出し、その光の変化で、モノを検出するセンサです。光を出す側を「投光器」、受ける側を「受光器」と呼びます。
―――――― 以下、制作用の情報
導入動画｜光電センサの基本｜動画の位置：1:38〜1:52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■ セリフ
ナレーション：光の当て方の違いで、大きく3種類の方式に分かれます。
―――――― 以下、制作用の情報
導入動画｜光電センサの基本｜動画の位置：1:52〜1:56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■ セリフ
ナレーション：1つめは「透過型」。投光器と受光器が、別々の筐体です。モノが光を遮ったら検出します。色や形に左右されにくく、長い距離でも安定して検出できます。ただし、両側に配線が必要です。
―――――― 以下、制作用の情報
導入動画｜光電センサの基本：透過型｜動画の位置：1:56〜2:12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■ セリフ
ナレーション：2つめは「回帰反射型」。投光と受光が1つの筐体です。反射板で折り返した光が、遮られたら検出します。配線は片側だけ。透過型に近い安定性で、設置がラクです。
―――――― 以下、制作用の情報
導入動画｜光電センサの基本：回帰反射型｜動画の位置：2:12〜2:27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■ セリフ
ナレーション：回帰反射型には「透明体専用」タイプもあります。ペットボトルやガラスは光をほとんど通すので、見逃しがちです。透明体専用は、光がわずかに減る変化をとらえて検出します。
―――――― 以下、制作用の情報
導入動画｜光電センサの基本：透明体専用｜動画の位置：2:31〜2:44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■ セリフ
ナレーション：3つめは「反射型」。モノに当たって返ってきた光で検出します。反射板が要らず、センサ1台で済むのが強みです。ただ、黒いモノは光が返りにくく、不安定になりがちです。
―――――― 以下、制作用の情報
導入動画｜光電センサの基本：反射型｜動画の位置：2:44〜2:56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■ セリフ
ナレーション：そこで「距離設定型（BGS）」です。普通の反射型は、光の「量」で判断します。BGSは三角測距で、光が受光素子の「どの位置」に戻ったかから距離を判別します。手前だけを検出するので、黒いモノや背景に強くなります。
―――――― 以下、制作用の情報
導入動画｜光電センサの基本：距離設定型（BGS）｜動画の位置：2:56〜3:13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■ セリフ
ナレーション：確実さなら透過型、配線をラクにするなら回帰反射型。透明なモノは透明体専用、色や背景が気になるなら距離設定型。しかし、どれが高性能か、ではありません。今回のお客様には、どれが最適なのか。それを考えるのが営業です。
―――――― 以下、制作用の情報
導入動画｜まとめ：どれを選ぶ？｜動画の位置：3:13〜3:33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■ セリフ
（セリフなし。動画が 3:32.8 で止まり、考える時間）
■ 問いかけ
今回のお客様のボトルは「透明」。どの方式が合いそう？
■ 進め方
15秒で、理由を1つ考えよう。答えは言わせっぱなしでよい（正解は言わない）。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■ セリフ
ナレーション：皆さんにお願いするのは、センサを当てることではありません。お客様に質問し、情報を集め、本当の課題を考え、解決策を提案してください。まずはお客様に現状を確認します。
―――――― 以下、制作用の情報
導入動画｜YOUR MISSION｜動画の位置：3:33〜3:49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■ セリフ
ナレーション：それでは、オプテックス・エフエーの営業になったつもりで、お客様の課題を解決してみましょう。
―――――― 以下、制作用の情報
導入動画｜エンディング｜動画の位置：3:49〜3:58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_01" descr="導入動画 0:00〜0:05　オープニン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_02" descr="導入動画 0:05〜0:10　オープニン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_03" descr="導入動画 0:10〜0:15　オープニン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_04" descr="導入動画 0:15〜0:27　営業と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_05" descr="導入動画 0:27〜0:30　MIS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_06" descr="導入動画 0:30〜0:48　MIS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6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THINK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698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営業である皆さんは、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お客様に何を確認しますか？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343400"/>
            <a:ext cx="1097280" cy="1097280"/>
          </a:xfrm>
          <a:prstGeom prst="ellipse">
            <a:avLst/>
          </a:prstGeom>
          <a:solidFill>
            <a:srgbClr val="E6001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44348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3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秒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4343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E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15秒で、ワークシートに1つ書こう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_07" descr="導入動画 0:48〜1:01　何を確認する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_08" descr="導入動画 1:01〜1:05　何を確認する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_09" descr="導入動画 1:05〜1:19　お客様が実現したいこ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6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THINK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698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誤カウントを放っておくと、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現場では何が起きると思う？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343400"/>
            <a:ext cx="1097280" cy="1097280"/>
          </a:xfrm>
          <a:prstGeom prst="ellipse">
            <a:avLst/>
          </a:prstGeom>
          <a:solidFill>
            <a:srgbClr val="E6001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44348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3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秒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4343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E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15秒、となりの人と話してみよう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_10" descr="導入動画 1:19〜1:38　放っておくと何が起きる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_11" descr="導入動画 1:38〜1:52　光電センサの基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_12" descr="導入動画 1:52〜1:56　光電センサの基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_13" descr="導入動画 1:56〜2:12　光電センサの基本：透過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_14" descr="導入動画 2:12〜2:27　光電センサの基本：回帰反射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_16" descr="導入動画 2:31〜2:44　光電センサの基本：透明体専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_17" descr="導入動画 2:44〜2:56　光電センサの基本：反射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_18" descr="導入動画 2:56〜3:13　光電センサの基本：距離設定型（BGS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_19" descr="導入動画 3:13〜3:33　まとめ：どれを選ぶ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6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THINK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698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今回のお客様のボトルは「透明」。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どの方式が合いそう？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343400"/>
            <a:ext cx="1097280" cy="1097280"/>
          </a:xfrm>
          <a:prstGeom prst="ellipse">
            <a:avLst/>
          </a:prstGeom>
          <a:solidFill>
            <a:srgbClr val="E6001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44348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3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秒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4343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E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15秒で、理由を1つ考えよう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_20" descr="導入動画 3:33〜3:49　YOUR MIS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_21" descr="導入動画 3:49〜3:58　エンディン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コンサルティング営業体験　導入（動画のスライド版）</dc:title>
  <dc:subject>PptxGenJS Presentation</dc:subject>
  <dc:creator>OPTEX-FA 営業企画</dc:creator>
  <cp:lastModifiedBy>OPTEX-FA 営業企画</cp:lastModifiedBy>
  <cp:revision>1</cp:revision>
  <dcterms:created xsi:type="dcterms:W3CDTF">2026-10-16T02:49:36Z</dcterms:created>
  <dcterms:modified xsi:type="dcterms:W3CDTF">2026-10-16T02:49:36Z</dcterms:modified>
</cp:coreProperties>
</file>